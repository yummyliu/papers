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jpg" ContentType="image/jpeg"/>
  <Default Extension="rels" ContentType="application/vnd.openxmlformats-package.relationships+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tags/tag2.xml" ContentType="application/vnd.openxmlformats-officedocument.presentationml.tag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60" r:id="rId3"/>
    <p:sldId id="258" r:id="rId4"/>
    <p:sldId id="298" r:id="rId5"/>
    <p:sldId id="297" r:id="rId6"/>
    <p:sldId id="268" r:id="rId7"/>
    <p:sldId id="269" r:id="rId8"/>
    <p:sldId id="271" r:id="rId9"/>
    <p:sldId id="270" r:id="rId10"/>
    <p:sldId id="292" r:id="rId11"/>
    <p:sldId id="299" r:id="rId12"/>
    <p:sldId id="304" r:id="rId13"/>
    <p:sldId id="273" r:id="rId14"/>
    <p:sldId id="296" r:id="rId15"/>
    <p:sldId id="275" r:id="rId16"/>
    <p:sldId id="309" r:id="rId17"/>
    <p:sldId id="293" r:id="rId18"/>
    <p:sldId id="300" r:id="rId19"/>
    <p:sldId id="303" r:id="rId20"/>
    <p:sldId id="277" r:id="rId21"/>
    <p:sldId id="278" r:id="rId22"/>
    <p:sldId id="279" r:id="rId23"/>
    <p:sldId id="280" r:id="rId24"/>
    <p:sldId id="281" r:id="rId25"/>
    <p:sldId id="282" r:id="rId26"/>
    <p:sldId id="294" r:id="rId27"/>
    <p:sldId id="301" r:id="rId28"/>
    <p:sldId id="302" r:id="rId29"/>
    <p:sldId id="284" r:id="rId30"/>
    <p:sldId id="285" r:id="rId31"/>
    <p:sldId id="286" r:id="rId32"/>
    <p:sldId id="305" r:id="rId33"/>
    <p:sldId id="295" r:id="rId34"/>
    <p:sldId id="310" r:id="rId35"/>
    <p:sldId id="306" r:id="rId36"/>
    <p:sldId id="307" r:id="rId37"/>
    <p:sldId id="308" r:id="rId38"/>
    <p:sldId id="287" r:id="rId39"/>
    <p:sldId id="288" r:id="rId40"/>
    <p:sldId id="289" r:id="rId41"/>
    <p:sldId id="290" r:id="rId4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38"/>
    <p:restoredTop sz="74769"/>
  </p:normalViewPr>
  <p:slideViewPr>
    <p:cSldViewPr snapToGrid="0" snapToObjects="1">
      <p:cViewPr>
        <p:scale>
          <a:sx n="80" d="100"/>
          <a:sy n="80" d="100"/>
        </p:scale>
        <p:origin x="144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AAA7A4-7746-7E44-A430-6287DC082298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69C31-E77D-D241-AE7E-8C6BD67A4C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8618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stgresql.org/docs/current/static/runtime-config-wal.html#GUC-WAL-WRITER-DELAY" TargetMode="External"/><Relationship Id="rId4" Type="http://schemas.openxmlformats.org/officeDocument/2006/relationships/hyperlink" Target="https://www.postgresql.org/docs/current/static/runtime-config-replication.html#GUC-SYNCHRONOUS-STANDBY-NAMES" TargetMode="External"/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的存储模块简单介绍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的机制与使用的一些小建议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7344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9790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804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首先，我们都知道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中的数据是堆表的方式存储，那么堆表中某一元组可以通过 块号和块内偏移 两个信息来定位，这是</a:t>
            </a:r>
            <a:r>
              <a:rPr kumimoji="1" lang="zh-CN" altLang="en-US" b="1" dirty="0" smtClean="0"/>
              <a:t>物理</a:t>
            </a:r>
            <a:r>
              <a:rPr kumimoji="1" lang="zh-CN" altLang="en-US" dirty="0" smtClean="0"/>
              <a:t>唯一标识一个元组的方法，称为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；另外还有</a:t>
            </a:r>
            <a:r>
              <a:rPr kumimoji="1" lang="en-US" altLang="zh-CN" dirty="0" err="1" smtClean="0"/>
              <a:t>oid</a:t>
            </a:r>
            <a:r>
              <a:rPr kumimoji="1" lang="zh-CN" altLang="en-US" dirty="0" smtClean="0"/>
              <a:t>或者表中自己定义个唯一索引列，可作为逻辑唯一标识；通过</a:t>
            </a:r>
            <a:r>
              <a:rPr kumimoji="1" lang="en-US" altLang="zh-CN" dirty="0" err="1" smtClean="0"/>
              <a:t>pageinspact</a:t>
            </a:r>
            <a:r>
              <a:rPr kumimoji="1" lang="zh-CN" altLang="en-US" dirty="0" smtClean="0"/>
              <a:t>插件，我们可以看到，索引中的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下图是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某一页中的内容，首先是一个</a:t>
            </a:r>
            <a:r>
              <a:rPr kumimoji="1" lang="en-US" altLang="zh-CN" dirty="0" smtClean="0"/>
              <a:t>header</a:t>
            </a:r>
            <a:r>
              <a:rPr kumimoji="1" lang="zh-CN" altLang="en-US" dirty="0" smtClean="0"/>
              <a:t>，后面从前向后是各个元组的元信息，从后向前是各个元组数据；中间就是</a:t>
            </a:r>
            <a:r>
              <a:rPr kumimoji="1" lang="en-US" altLang="zh-CN" dirty="0" err="1" smtClean="0"/>
              <a:t>freespace</a:t>
            </a:r>
            <a:r>
              <a:rPr kumimoji="1" lang="zh-CN" altLang="en-US" dirty="0" smtClean="0"/>
              <a:t>；当我们找到某一块后，通过块内偏移就可以找到具体的元组；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172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另外，在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中有多种访问方法，访问方法其实就是索引；通过系统表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pg_am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可以看到，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自带有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种访问方法；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这是我对这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中自带访问方法的总结：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Btree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是一个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对应多个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Gin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是对多值类型倒排，多个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可能出现在多个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中；</a:t>
            </a:r>
            <a:endParaRPr kumimoji="1"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zh-CN" altLang="en-US" dirty="0" smtClean="0"/>
              <a:t>多值离散组合类型的多对多查找（</a:t>
            </a:r>
            <a:r>
              <a:rPr kumimoji="1" lang="en-US" altLang="zh-CN" dirty="0" err="1" smtClean="0"/>
              <a:t>jsonb</a:t>
            </a:r>
            <a:r>
              <a:rPr kumimoji="1" lang="zh-CN" altLang="en-US" dirty="0" smtClean="0"/>
              <a:t>，</a:t>
            </a:r>
            <a:r>
              <a:rPr kumimoji="1" lang="en-US" altLang="zh-CN" dirty="0" err="1" smtClean="0"/>
              <a:t>hstore</a:t>
            </a:r>
            <a:r>
              <a:rPr kumimoji="1" lang="zh-CN" altLang="en-US" dirty="0" smtClean="0"/>
              <a:t>等）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会有交集的连续范围类型：多边形（</a:t>
            </a:r>
            <a:r>
              <a:rPr kumimoji="1" lang="en-US" altLang="zh-CN" dirty="0" smtClean="0"/>
              <a:t>polygon</a:t>
            </a:r>
            <a:r>
              <a:rPr kumimoji="1" lang="zh-CN" altLang="en-US" dirty="0" smtClean="0"/>
              <a:t>），</a:t>
            </a:r>
            <a:r>
              <a:rPr kumimoji="1" lang="en-US" altLang="zh-CN" dirty="0" smtClean="0"/>
              <a:t>text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range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：用的较少，</a:t>
            </a:r>
            <a:r>
              <a:rPr kumimoji="1" lang="en-US" altLang="zh-CN" dirty="0" smtClean="0"/>
              <a:t>10</a:t>
            </a:r>
            <a:r>
              <a:rPr kumimoji="1" lang="zh-CN" altLang="en-US" dirty="0" smtClean="0"/>
              <a:t>之后才能够持久化（</a:t>
            </a:r>
            <a:r>
              <a:rPr kumimoji="1" lang="en-US" altLang="zh-CN" dirty="0" smtClean="0"/>
              <a:t>crash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safe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replication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自然分区的数据（可能不平衡），比如手机号，网址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9992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最后，在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中可以将多个索引进行组合访问；这需要打开</a:t>
            </a:r>
            <a:r>
              <a:rPr kumimoji="1" lang="zh-CN" altLang="en-US" baseline="0" dirty="0" smtClean="0"/>
              <a:t> （）参数；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当打开这个参数时，如果一个查询。。。。。。。</a:t>
            </a:r>
            <a:r>
              <a:rPr kumimoji="1" lang="en-US" altLang="zh-CN" baseline="0" dirty="0" smtClean="0"/>
              <a:t>&amp;&amp;</a:t>
            </a:r>
            <a:r>
              <a:rPr kumimoji="1" lang="zh-CN" altLang="en-US" baseline="0" dirty="0" smtClean="0"/>
              <a:t> 。。。。。，就会采用</a:t>
            </a:r>
            <a:r>
              <a:rPr kumimoji="1" lang="en-US" altLang="zh-CN" baseline="0" dirty="0" smtClean="0"/>
              <a:t>bitmap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index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scan</a:t>
            </a:r>
            <a:r>
              <a:rPr kumimoji="1" lang="zh-CN" altLang="en-US" baseline="0" dirty="0" smtClean="0"/>
              <a:t>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比如，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 ；索引的谓词是 且；那么合并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和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的块，最后大大减少磁盘</a:t>
            </a:r>
            <a:r>
              <a:rPr kumimoji="1" lang="en-US" altLang="zh-CN" baseline="0" dirty="0" smtClean="0"/>
              <a:t>IO</a:t>
            </a: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988016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中不仅有丰富的访问方法，并且访问方式很灵活：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当字段上的访问，常常不是直接访问字段的时候，采用表达式索引；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表达式一定要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IMMUTABLE 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当我们只关心某一字段等于特定值的元组时，采用条件索引；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Smaller index on disk and in memory </a:t>
            </a: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 shallow index </a:t>
            </a:r>
            <a:endParaRPr lang="en-US" altLang="zh-CN" dirty="0" smtClean="0">
              <a:effectLst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 INSERT/UPDATE index overhead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 smtClean="0">
              <a:effectLst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302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smtClean="0"/>
              <a:t>fuzzy</a:t>
            </a:r>
            <a:r>
              <a:rPr kumimoji="1" lang="zh-CN" altLang="en-US" dirty="0" smtClean="0"/>
              <a:t>将一次刷盘分成多个小批次；</a:t>
            </a:r>
            <a:endParaRPr kumimoji="1" lang="en-US" altLang="zh-CN" dirty="0" smtClean="0"/>
          </a:p>
          <a:p>
            <a:r>
              <a:rPr kumimoji="1" lang="en-US" altLang="zh-CN" dirty="0" smtClean="0"/>
              <a:t>spread</a:t>
            </a:r>
            <a:r>
              <a:rPr kumimoji="1" lang="zh-CN" altLang="en-US" dirty="0" smtClean="0"/>
              <a:t>将一个刷盘分成多个阶段，在最后将没有完成</a:t>
            </a:r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的部分集中进行。</a:t>
            </a:r>
            <a:endParaRPr kumimoji="1" lang="en-US" altLang="zh-CN" dirty="0" smtClean="0"/>
          </a:p>
          <a:p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：</a:t>
            </a:r>
            <a:endParaRPr kumimoji="1" lang="en-US" altLang="zh-CN" dirty="0" smtClean="0"/>
          </a:p>
          <a:p>
            <a:pPr marL="228600" indent="-228600">
              <a:buAutoNum type="arabicPeriod"/>
            </a:pPr>
            <a:r>
              <a:rPr kumimoji="1" lang="zh-CN" altLang="en-US" dirty="0" smtClean="0"/>
              <a:t>找到脏页</a:t>
            </a:r>
            <a:endParaRPr kumimoji="1" lang="en-US" altLang="zh-CN" dirty="0" smtClean="0"/>
          </a:p>
          <a:p>
            <a:pPr marL="228600" indent="-228600">
              <a:buAutoNum type="arabicPeriod"/>
            </a:pPr>
            <a:r>
              <a:rPr kumimoji="1" lang="en-US" altLang="zh-CN" dirty="0" smtClean="0"/>
              <a:t>Write</a:t>
            </a:r>
          </a:p>
          <a:p>
            <a:pPr marL="228600" indent="-228600">
              <a:buAutoNum type="arabicPeriod"/>
            </a:pPr>
            <a:r>
              <a:rPr kumimoji="1" lang="en-US" altLang="zh-CN" dirty="0" err="1" smtClean="0"/>
              <a:t>Fsync</a:t>
            </a:r>
            <a:endParaRPr kumimoji="1" lang="en-US" altLang="zh-CN" dirty="0" smtClean="0"/>
          </a:p>
          <a:p>
            <a:pPr marL="228600" indent="-228600">
              <a:buAutoNum type="arabicPeriod"/>
            </a:pPr>
            <a:endParaRPr kumimoji="1" lang="en-US" altLang="zh-CN" dirty="0" smtClean="0"/>
          </a:p>
          <a:p>
            <a:endParaRPr kumimoji="1" lang="en-US" altLang="zh-CN" dirty="0" smtClean="0"/>
          </a:p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Flush_list</a:t>
            </a:r>
            <a:r>
              <a:rPr kumimoji="1" lang="en-US" altLang="zh-CN" dirty="0" smtClean="0"/>
              <a:t>: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将最老最不被访问的数据驱逐出去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en-US" altLang="zh-CN" dirty="0" smtClean="0"/>
              <a:t>Shadow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No-steal/Force</a:t>
            </a:r>
          </a:p>
          <a:p>
            <a:r>
              <a:rPr kumimoji="1" lang="en-US" altLang="zh-CN" dirty="0" err="1" smtClean="0"/>
              <a:t>Wal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： </a:t>
            </a:r>
            <a:r>
              <a:rPr kumimoji="1" lang="en-US" altLang="zh-CN" dirty="0" smtClean="0"/>
              <a:t>steal/No-force</a:t>
            </a:r>
          </a:p>
          <a:p>
            <a:endParaRPr kumimoji="1" lang="zh-CN" altLang="en-US" dirty="0" smtClean="0"/>
          </a:p>
          <a:p>
            <a:pPr marL="228600" indent="-228600">
              <a:buAutoNum type="arabicPeriod"/>
            </a:pP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557053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分为三层：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Table;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描述符；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池；第一层是一个</a:t>
            </a: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表，基于链数组的方式处理冲突；第二层是一个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块描述符的数组，各个描述符中维护了一个</a:t>
            </a:r>
            <a:r>
              <a:rPr kumimoji="1" lang="en-US" altLang="zh-CN" dirty="0" err="1" smtClean="0"/>
              <a:t>freelist</a:t>
            </a:r>
            <a:r>
              <a:rPr kumimoji="1" lang="zh-CN" altLang="en-US" dirty="0" smtClean="0"/>
              <a:t>的链表，方便快速找到第一个可用空间，另外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描述符中维护了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中数据块的标志位，比如是否是脏页，是否正在使用，使用了多少次等；最后就是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，其中就是缓存的数据。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9217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我们都知道在数据库中有一个概念叫做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的存在是保证事务在这一事件点磁盘数据是一致的，此时会将所有的脏页进行刷盘；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刷盘有两步，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中和刷盘相关的有两个进程：</a:t>
            </a:r>
            <a:r>
              <a:rPr kumimoji="1" lang="en-US" altLang="zh-CN" dirty="0" smtClean="0"/>
              <a:t>background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writer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checkpointer</a:t>
            </a:r>
            <a:r>
              <a:rPr kumimoji="1" lang="zh-CN" altLang="en-US" dirty="0" smtClean="0"/>
              <a:t>；</a:t>
            </a:r>
            <a:r>
              <a:rPr kumimoji="1" lang="en-US" altLang="zh-CN" dirty="0" err="1" smtClean="0"/>
              <a:t>bgw</a:t>
            </a:r>
            <a:r>
              <a:rPr kumimoji="1" lang="zh-CN" altLang="en-US" dirty="0" smtClean="0"/>
              <a:t>间隔一段时间扫描</a:t>
            </a:r>
            <a:r>
              <a:rPr kumimoji="1" lang="en-US" altLang="zh-CN" dirty="0" err="1" smtClean="0"/>
              <a:t>shared_buffer</a:t>
            </a:r>
            <a:r>
              <a:rPr kumimoji="1" lang="zh-CN" altLang="en-US" dirty="0" smtClean="0"/>
              <a:t>，对脏页调用一批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而到了开始执行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时，为了减少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对系统的影响，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是一种渐进的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由</a:t>
            </a:r>
            <a:r>
              <a:rPr lang="en-US" altLang="zh-CN" dirty="0" err="1" smtClean="0"/>
              <a:t>checkpoint_completion_target</a:t>
            </a:r>
            <a:r>
              <a:rPr lang="zh-CN" altLang="en-US" dirty="0" smtClean="0"/>
              <a:t>参数，决定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进行到什么时候，进行最后的</a:t>
            </a:r>
            <a:r>
              <a:rPr lang="en-US" altLang="zh-CN" dirty="0" smtClean="0"/>
              <a:t>sync</a:t>
            </a:r>
            <a:r>
              <a:rPr lang="zh-CN" altLang="en-US" dirty="0" smtClean="0"/>
              <a:t>；</a:t>
            </a:r>
            <a:endParaRPr lang="en-US" altLang="zh-CN" dirty="0" smtClean="0"/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checkpoint_timeout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max/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min_wal_size</a:t>
            </a:r>
            <a:endParaRPr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046870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smtClean="0"/>
              <a:t>Waiting processes busy-loop until they </a:t>
            </a:r>
            <a:r>
              <a:rPr kumimoji="1" lang="en-US" altLang="zh-CN" dirty="0" err="1" smtClean="0"/>
              <a:t>canget</a:t>
            </a:r>
            <a:r>
              <a:rPr kumimoji="1" lang="en-US" altLang="zh-CN" dirty="0" smtClean="0"/>
              <a:t> the lock.</a:t>
            </a:r>
          </a:p>
          <a:p>
            <a:r>
              <a:rPr kumimoji="1" lang="en-US" altLang="zh-CN" dirty="0" smtClean="0"/>
              <a:t>Spinlocks are primarily used as infrastructure for </a:t>
            </a:r>
            <a:r>
              <a:rPr kumimoji="1" lang="en-US" altLang="zh-CN" dirty="0" err="1" smtClean="0"/>
              <a:t>lightweightlocks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842961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系统并发太高，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竞争可能会拖慢系统吞吐；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这时在前面加一个连接池，限制一下链接数，可能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锁竞争少了，</a:t>
            </a:r>
            <a:r>
              <a:rPr lang="en-US" altLang="zh-CN" dirty="0" smtClean="0"/>
              <a:t>50</a:t>
            </a:r>
            <a:r>
              <a:rPr lang="zh-CN" altLang="en-US" dirty="0" smtClean="0"/>
              <a:t>个链接的效率，比</a:t>
            </a:r>
            <a:r>
              <a:rPr lang="en-US" altLang="zh-CN" dirty="0" smtClean="0"/>
              <a:t>100</a:t>
            </a:r>
            <a:r>
              <a:rPr lang="zh-CN" altLang="en-US" dirty="0" smtClean="0"/>
              <a:t>个链接更快了。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比如</a:t>
            </a:r>
            <a:r>
              <a:rPr lang="en-US" altLang="zh-CN" dirty="0" err="1" smtClean="0"/>
              <a:t>wal_buffers</a:t>
            </a:r>
            <a:r>
              <a:rPr lang="zh-CN" altLang="en-US" dirty="0" smtClean="0"/>
              <a:t>太小导致</a:t>
            </a:r>
            <a:r>
              <a:rPr lang="en-US" altLang="zh-CN" dirty="0" err="1" smtClean="0"/>
              <a:t>WALWriteLock</a:t>
            </a:r>
            <a:r>
              <a:rPr lang="zh-CN" altLang="en-US" dirty="0" smtClean="0"/>
              <a:t>的竞争，从而系统吞吐下降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677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线上锁表故障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700385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前面都是力度和粒度区分的；这种基于锁的方式，读写冲突大的时候，系统效率不高；在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中，提供了基于多版本的快照隔离的方式实现并发控制；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RC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Rr</a:t>
            </a:r>
            <a:r>
              <a:rPr kumimoji="1" lang="zh-CN" altLang="en-US" dirty="0" smtClean="0"/>
              <a:t>级别比起基于锁的方式都有很高的效率，但是在</a:t>
            </a:r>
            <a:r>
              <a:rPr kumimoji="1" lang="en-US" altLang="zh-CN" dirty="0" smtClean="0"/>
              <a:t>9.1</a:t>
            </a:r>
            <a:r>
              <a:rPr kumimoji="1" lang="zh-CN" altLang="en-US" dirty="0" smtClean="0"/>
              <a:t>之前没有提供真正的</a:t>
            </a:r>
            <a:r>
              <a:rPr kumimoji="1" lang="en-US" altLang="zh-CN" dirty="0" smtClean="0"/>
              <a:t>serialize</a:t>
            </a:r>
            <a:r>
              <a:rPr kumimoji="1" lang="zh-CN" altLang="en-US" dirty="0" smtClean="0"/>
              <a:t>级别；最高的只是快照隔离，而快照隔离会有类似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skew</a:t>
            </a:r>
            <a:r>
              <a:rPr kumimoji="1" lang="zh-CN" altLang="en-US" dirty="0" smtClean="0"/>
              <a:t>的序列号异常；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A!=B</a:t>
            </a:r>
          </a:p>
          <a:p>
            <a:pPr lvl="1"/>
            <a:r>
              <a:rPr kumimoji="1" lang="zh-CN" altLang="en-US" dirty="0" smtClean="0"/>
              <a:t>串行化正确，结果是</a:t>
            </a:r>
            <a:r>
              <a:rPr kumimoji="1" lang="en-US" altLang="zh-CN" dirty="0" smtClean="0"/>
              <a:t>A=B;</a:t>
            </a:r>
          </a:p>
          <a:p>
            <a:pPr lvl="1"/>
            <a:r>
              <a:rPr kumimoji="1" lang="zh-CN" altLang="en-US" dirty="0" smtClean="0"/>
              <a:t>否则，还是</a:t>
            </a:r>
            <a:r>
              <a:rPr kumimoji="1" lang="en-US" altLang="zh-CN" dirty="0" smtClean="0"/>
              <a:t>A!=B;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严格两阶段锁协议，一开始加所有的锁，在</a:t>
            </a:r>
            <a:r>
              <a:rPr kumimoji="1" lang="en-US" altLang="zh-CN" dirty="0" smtClean="0"/>
              <a:t>commit</a:t>
            </a:r>
            <a:r>
              <a:rPr kumimoji="1" lang="zh-CN" altLang="en-US" dirty="0" smtClean="0"/>
              <a:t>的时候才释放；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这样事务</a:t>
            </a:r>
            <a:r>
              <a:rPr kumimoji="1" lang="en-US" altLang="zh-CN" dirty="0" smtClean="0"/>
              <a:t>1</a:t>
            </a:r>
            <a:r>
              <a:rPr kumimoji="1" lang="zh-CN" altLang="en-US" dirty="0" smtClean="0"/>
              <a:t>开始的时候对需要的资源请求</a:t>
            </a:r>
            <a:r>
              <a:rPr lang="en-US" altLang="zh-CN" dirty="0" smtClean="0"/>
              <a:t>predicate locks</a:t>
            </a:r>
            <a:r>
              <a:rPr lang="zh-CN" altLang="en-US" dirty="0" smtClean="0"/>
              <a:t>，</a:t>
            </a:r>
            <a:r>
              <a:rPr kumimoji="1" lang="zh-CN" altLang="en-US" dirty="0" smtClean="0"/>
              <a:t>事务</a:t>
            </a:r>
            <a:r>
              <a:rPr kumimoji="1" lang="en-US" altLang="zh-CN" dirty="0" smtClean="0"/>
              <a:t>2</a:t>
            </a:r>
            <a:r>
              <a:rPr kumimoji="1" lang="zh-CN" altLang="en-US" dirty="0" smtClean="0"/>
              <a:t>一开始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</a:t>
            </a:r>
            <a:r>
              <a:rPr kumimoji="1" lang="zh-CN" altLang="en-US" dirty="0" smtClean="0"/>
              <a:t>的时候，就得等待；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传统基于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实现的串行化是基于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中的意向锁，进行检测的；在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中，没有使用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，而是基于多版本的方式，构建一个进行扩展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 as MySQL. As a result, they were able to take advantage of existing predicate locking mechanisms to detect conflicting transactions for SSI. Lacking this infrastructure, we were required to build a new lock manager. Our lock manager is specifically optimized for tracking SSI read dependencies, making it simpler in some respects than a classic lock manager but also introducing some unusual challenges. </a:t>
            </a:r>
            <a:endParaRPr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86747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</a:t>
            </a:r>
            <a:r>
              <a:rPr kumimoji="1" lang="en-US" altLang="zh-CN" dirty="0" smtClean="0"/>
              <a:t>T3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，就是前面的两个事务的简单情况。</a:t>
            </a:r>
            <a:endParaRPr kumimoji="1" lang="en-US" altLang="zh-CN" dirty="0" smtClean="0"/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实现总结：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记录所有访问的资源：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Record all objects (tuples, pages, relations) accessed by transactions as SIREAD locks.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当对资源进行写操作时：检测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-conflicts:</a:t>
            </a:r>
            <a:r>
              <a:rPr lang="zh-CN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Detect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 using SIREAD locks whenever any heap or index tuple is written.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终止可能产生依赖的事务：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Abort the transaction if a serialization anomaly is detected by checking detected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-conflicts.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42674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考虑到</a:t>
            </a:r>
            <a:r>
              <a:rPr lang="en-US" altLang="zh-CN" b="1" dirty="0" smtClean="0"/>
              <a:t>S2PL</a:t>
            </a:r>
            <a:r>
              <a:rPr lang="zh-CN" altLang="en-US" b="1" dirty="0" smtClean="0"/>
              <a:t>的性能不佳</a:t>
            </a:r>
            <a:r>
              <a:rPr lang="zh-CN" altLang="en-US" dirty="0" smtClean="0"/>
              <a:t>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没有采用</a:t>
            </a:r>
            <a:r>
              <a:rPr lang="en-US" altLang="zh-CN" dirty="0" smtClean="0"/>
              <a:t>S2PL</a:t>
            </a:r>
            <a:r>
              <a:rPr lang="zh-CN" altLang="en-US" dirty="0" smtClean="0"/>
              <a:t>的方式实现串行化</a:t>
            </a:r>
            <a:endParaRPr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并且考虑检查存在环太过复杂，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中只检查其中一个条件</a:t>
            </a:r>
            <a:endParaRPr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019298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由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参数决定，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时，此时就是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Async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，返回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成功后，最多等待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3*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wal_writer_delay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的时间，强制刷盘；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不是空的话，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默认是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的确认</a:t>
            </a:r>
            <a:r>
              <a:rPr lang="zh-CN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收到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 record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后，返回成功，此时数据不会丢失；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另外还有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remote_apply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，确认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也完成了这个事务，此时修改在备库也是可见的。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同理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remote_write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就是确保备库上也刷盘了。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就只确保本地刷盘即可，不管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replication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是空的话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了。</a:t>
            </a:r>
          </a:p>
          <a:p>
            <a:r>
              <a:rPr lang="zh-CN" altLang="en-US" dirty="0" smtClean="0">
                <a:effectLst/>
              </a:rPr>
              <a:t>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，不会导致数据不一致性，顶多会丢掉几个</a:t>
            </a:r>
            <a:r>
              <a:rPr lang="en-US" altLang="zh-CN" dirty="0" smtClean="0">
                <a:effectLst/>
              </a:rPr>
              <a:t>commit</a:t>
            </a:r>
            <a:r>
              <a:rPr lang="zh-CN" altLang="en-US" dirty="0" smtClean="0">
                <a:effectLst/>
              </a:rPr>
              <a:t>的事务，但是数据库中的数据是一致的。而关闭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，数据的落盘就没有保证了，如果你关了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，那么连</a:t>
            </a:r>
            <a:r>
              <a:rPr lang="en-US" altLang="zh-CN" dirty="0" err="1" smtClean="0">
                <a:effectLst/>
              </a:rPr>
              <a:t>full_page_write</a:t>
            </a:r>
            <a:r>
              <a:rPr lang="zh-CN" altLang="en-US" dirty="0" smtClean="0">
                <a:effectLst/>
              </a:rPr>
              <a:t>也一起关了得了。</a:t>
            </a:r>
          </a:p>
          <a:p>
            <a:r>
              <a:rPr lang="zh-CN" altLang="en-US" dirty="0" smtClean="0">
                <a:effectLst/>
              </a:rPr>
              <a:t>所以想提高性能，可以考虑关闭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（最好还是别关）。</a:t>
            </a:r>
          </a:p>
          <a:p>
            <a:r>
              <a:rPr lang="zh-CN" altLang="en-US" dirty="0" smtClean="0">
                <a:effectLst/>
              </a:rPr>
              <a:t>值得注意的是，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可以在任何地方设置，甚至可以同一个应用控制不同事务的提交级别。</a:t>
            </a:r>
            <a:endParaRPr lang="en-US" altLang="zh-CN" dirty="0" smtClean="0">
              <a:effectLst/>
            </a:endParaRPr>
          </a:p>
          <a:p>
            <a:endParaRPr lang="en-US" altLang="zh-CN" dirty="0" smtClean="0">
              <a:effectLst/>
            </a:endParaRPr>
          </a:p>
          <a:p>
            <a:r>
              <a:rPr kumimoji="1" lang="zh-CN" altLang="en-US" dirty="0" smtClean="0"/>
              <a:t>区分</a:t>
            </a:r>
            <a:r>
              <a:rPr kumimoji="1" lang="en-US" altLang="zh-CN" dirty="0" smtClean="0"/>
              <a:t>:</a:t>
            </a:r>
          </a:p>
          <a:p>
            <a:pPr lvl="1"/>
            <a:r>
              <a:rPr lang="en-US" altLang="zh-CN" dirty="0" err="1" smtClean="0"/>
              <a:t>full_page_write</a:t>
            </a:r>
            <a:r>
              <a:rPr lang="zh-CN" altLang="en-US" dirty="0" smtClean="0"/>
              <a:t>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后，第一次修改，整页写入</a:t>
            </a:r>
            <a:r>
              <a:rPr lang="en-US" altLang="zh-CN" dirty="0" smtClean="0"/>
              <a:t>WAL</a:t>
            </a:r>
          </a:p>
          <a:p>
            <a:pPr lvl="1"/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try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to</a:t>
            </a:r>
            <a:r>
              <a:rPr kumimoji="1" lang="zh-CN" altLang="en-US" dirty="0" smtClean="0"/>
              <a:t> </a:t>
            </a:r>
            <a:r>
              <a:rPr lang="en-US" altLang="zh-CN" dirty="0" smtClean="0"/>
              <a:t>physically written to disk</a:t>
            </a:r>
            <a:endParaRPr kumimoji="1" lang="en-US" altLang="zh-CN" dirty="0" smtClean="0"/>
          </a:p>
          <a:p>
            <a:endParaRPr lang="zh-CN" altLang="en-US" dirty="0" smtClean="0">
              <a:effectLst/>
            </a:endParaRP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498217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RMID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full-page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image</a:t>
            </a: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30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985011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kumimoji="1" lang="zh-CN" altLang="en-US" dirty="0" smtClean="0"/>
              <a:t>普通恢复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PITR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31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066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35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29730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对于索引与数据之间的不一致，通过</a:t>
            </a:r>
            <a:r>
              <a:rPr kumimoji="1" lang="en-US" altLang="zh-CN" dirty="0" err="1" smtClean="0"/>
              <a:t>changebuffer</a:t>
            </a:r>
            <a:r>
              <a:rPr kumimoji="1" lang="zh-CN" altLang="en-US" dirty="0" smtClean="0"/>
              <a:t>来减少写放大的代价；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目前米有</a:t>
            </a:r>
            <a:r>
              <a:rPr kumimoji="1" lang="en-US" altLang="zh-CN" dirty="0" err="1" smtClean="0"/>
              <a:t>changebuffer</a:t>
            </a:r>
            <a:r>
              <a:rPr kumimoji="1" lang="zh-CN" altLang="en-US" dirty="0" smtClean="0"/>
              <a:t>，可能也是由于其数据的写入不存在调整结构的代价，但是索引多了，同样存在多个索引的写放大问题；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38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37078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在系统中是向上透明的一层；主要就是为了提高性能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39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516350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40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65703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124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43522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75890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6567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3584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296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500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3380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6326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815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0585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642EA-EC7D-3F4D-8A4D-F3609E125A2B}" type="datetimeFigureOut">
              <a:rPr kumimoji="1" lang="zh-CN" altLang="en-US" smtClean="0"/>
              <a:t>2019/5/24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36185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cs.purdue.edu/spgist/papers/W87R36P214137510.pdf" TargetMode="External"/><Relationship Id="rId5" Type="http://schemas.openxmlformats.org/officeDocument/2006/relationships/image" Target="../media/image7.png"/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4" Type="http://schemas.openxmlformats.org/officeDocument/2006/relationships/hyperlink" Target="https://www.postgresql.org/docs/current/static/runtime-config-wal.html#GUC-WAL-WRITER-DELAY" TargetMode="External"/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tiff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 smtClean="0"/>
              <a:t>工作分享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 smtClean="0"/>
              <a:t>——PostgreSQL</a:t>
            </a:r>
            <a:r>
              <a:rPr kumimoji="1" lang="zh-CN" altLang="en-US" dirty="0" smtClean="0"/>
              <a:t>的存储模块简述</a:t>
            </a:r>
            <a:endParaRPr kumimoji="1" lang="en-US" altLang="zh-CN" dirty="0" smtClean="0"/>
          </a:p>
          <a:p>
            <a:r>
              <a:rPr kumimoji="1" lang="zh-CN" altLang="en-US" dirty="0" smtClean="0"/>
              <a:t>刘阳明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9625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b="1" smtClean="0"/>
              <a:t>过去与近期工作</a:t>
            </a:r>
            <a:endParaRPr kumimoji="1" lang="zh-CN" altLang="en-US" b="1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围绕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的周边工作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源码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运维管理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周边工具调研与修改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用处不大的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插件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文献与书籍翻译</a:t>
            </a:r>
            <a:endParaRPr kumimoji="1"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6080" y="3765944"/>
            <a:ext cx="1860273" cy="2869114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080" y="115494"/>
            <a:ext cx="1860273" cy="32853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149" y="0"/>
            <a:ext cx="25807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287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461084" cy="1460500"/>
          </a:xfrm>
        </p:spPr>
        <p:txBody>
          <a:bodyPr>
            <a:normAutofit/>
          </a:bodyPr>
          <a:lstStyle/>
          <a:p>
            <a:r>
              <a:rPr kumimoji="1" lang="zh-CN" altLang="en-US" sz="3200" dirty="0" smtClean="0"/>
              <a:t>事务型存储引擎</a:t>
            </a:r>
            <a:endParaRPr kumimoji="1" lang="zh-CN" altLang="en-US" sz="320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3461084" cy="3930648"/>
          </a:xfrm>
        </p:spPr>
        <p:txBody>
          <a:bodyPr>
            <a:normAutofit/>
          </a:bodyPr>
          <a:lstStyle/>
          <a:p>
            <a:r>
              <a:rPr lang="en-US" altLang="zh-CN" dirty="0" smtClean="0"/>
              <a:t>Access</a:t>
            </a:r>
            <a:r>
              <a:rPr lang="zh-CN" altLang="en-US" dirty="0" smtClean="0"/>
              <a:t> </a:t>
            </a:r>
            <a:r>
              <a:rPr lang="en-US" altLang="zh-CN" dirty="0" smtClean="0"/>
              <a:t>Method</a:t>
            </a:r>
          </a:p>
          <a:p>
            <a:pPr lvl="1"/>
            <a:r>
              <a:rPr lang="zh-CN" altLang="en-US" b="1" i="1" dirty="0" smtClean="0"/>
              <a:t>组织数据</a:t>
            </a:r>
            <a:endParaRPr lang="en-US" altLang="zh-CN" b="1" i="1" dirty="0" smtClean="0"/>
          </a:p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/>
              <a:t>Manager</a:t>
            </a:r>
            <a:r>
              <a:rPr kumimoji="1" lang="zh-CN" altLang="en-US" dirty="0"/>
              <a:t> </a:t>
            </a:r>
            <a:endParaRPr kumimoji="1" lang="en-US" altLang="zh-CN" dirty="0"/>
          </a:p>
          <a:p>
            <a:pPr lvl="1"/>
            <a:r>
              <a:rPr lang="zh-CN" altLang="en-US" b="1" i="1" dirty="0" smtClean="0"/>
              <a:t>透明的</a:t>
            </a:r>
            <a:r>
              <a:rPr lang="en-US" altLang="zh-CN" b="1" i="1" dirty="0" smtClean="0"/>
              <a:t>IO</a:t>
            </a:r>
            <a:r>
              <a:rPr lang="zh-CN" altLang="en-US" b="1" i="1" dirty="0" smtClean="0"/>
              <a:t>中间层</a:t>
            </a:r>
            <a:endParaRPr lang="en-US" altLang="zh-CN" b="1" i="1" dirty="0" smtClean="0"/>
          </a:p>
          <a:p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r>
              <a:rPr kumimoji="1" lang="zh-CN" altLang="en-US" dirty="0" smtClean="0"/>
              <a:t>  </a:t>
            </a:r>
            <a:endParaRPr kumimoji="1" lang="en-US" altLang="zh-CN" dirty="0"/>
          </a:p>
          <a:p>
            <a:pPr lvl="1"/>
            <a:r>
              <a:rPr lang="zh-CN" altLang="en-US" b="1" i="1" dirty="0" smtClean="0"/>
              <a:t>并发控制</a:t>
            </a:r>
            <a:endParaRPr lang="en-US" altLang="zh-CN" b="1" i="1" dirty="0"/>
          </a:p>
          <a:p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</a:p>
          <a:p>
            <a:pPr lvl="1"/>
            <a:r>
              <a:rPr kumimoji="1" lang="zh-CN" altLang="en-US" b="1" i="1" dirty="0" smtClean="0"/>
              <a:t>恢复数据</a:t>
            </a:r>
            <a:endParaRPr kumimoji="1" lang="en-US" altLang="zh-CN" b="1" i="1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789" y="1"/>
            <a:ext cx="7700210" cy="569494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594438" y="5756273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smtClean="0"/>
              <a:t>Architecture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Of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Database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System</a:t>
            </a:r>
            <a:endParaRPr kumimoji="1" lang="en-US" altLang="zh-CN" dirty="0"/>
          </a:p>
          <a:p>
            <a:r>
              <a:rPr kumimoji="1" lang="en-US" altLang="zh-CN" dirty="0" smtClean="0"/>
              <a:t>		——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Stonebraker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26160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6119"/>
    </mc:Choice>
    <mc:Fallback xmlns="">
      <p:transition spd="slow" advTm="136119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r>
              <a:rPr kumimoji="1" lang="zh-CN" altLang="en-US" dirty="0" smtClean="0"/>
              <a:t>模块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的访问标识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的索引类型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的部分索引、表达式索引与覆盖索引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Bitmap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Scan</a:t>
            </a:r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r>
              <a:rPr kumimoji="1" lang="zh-CN" altLang="en-US" dirty="0" smtClean="0"/>
              <a:t>小结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26806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r>
              <a:rPr kumimoji="1" lang="zh-CN" altLang="en-US" dirty="0" smtClean="0"/>
              <a:t>模块</a:t>
            </a:r>
            <a:endParaRPr kumimoji="1" lang="en-US" altLang="zh-CN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2872522"/>
              </p:ext>
            </p:extLst>
          </p:nvPr>
        </p:nvGraphicFramePr>
        <p:xfrm>
          <a:off x="838200" y="1825625"/>
          <a:ext cx="10375233" cy="4158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411"/>
                <a:gridCol w="3458411"/>
                <a:gridCol w="3458411"/>
              </a:tblGrid>
              <a:tr h="618207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 smtClean="0"/>
                        <a:t>InnoDB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PostgreSQL</a:t>
                      </a:r>
                      <a:endParaRPr lang="zh-CN" altLang="en-US" dirty="0"/>
                    </a:p>
                  </a:txBody>
                  <a:tcPr/>
                </a:tc>
              </a:tr>
              <a:tr h="618207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数据表类型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索引组织表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堆表</a:t>
                      </a:r>
                      <a:endParaRPr lang="zh-CN" altLang="en-US" dirty="0"/>
                    </a:p>
                  </a:txBody>
                  <a:tcPr/>
                </a:tc>
              </a:tr>
              <a:tr h="1067043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索引类型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B+</a:t>
                      </a:r>
                      <a:r>
                        <a:rPr lang="zh-CN" altLang="en-US" dirty="0" smtClean="0"/>
                        <a:t>树、</a:t>
                      </a:r>
                      <a:r>
                        <a:rPr lang="en-US" altLang="zh-CN" dirty="0" smtClean="0"/>
                        <a:t>R</a:t>
                      </a:r>
                      <a:r>
                        <a:rPr lang="zh-CN" altLang="en-US" dirty="0" smtClean="0"/>
                        <a:t>树（空间索引）、倒排等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B+</a:t>
                      </a:r>
                      <a:r>
                        <a:rPr lang="zh-CN" altLang="en-US" dirty="0" smtClean="0"/>
                        <a:t>树、</a:t>
                      </a:r>
                      <a:r>
                        <a:rPr lang="en-US" altLang="zh-CN" dirty="0" smtClean="0"/>
                        <a:t>Gist</a:t>
                      </a:r>
                      <a:r>
                        <a:rPr lang="zh-CN" altLang="en-US" dirty="0" smtClean="0"/>
                        <a:t>（</a:t>
                      </a:r>
                      <a:r>
                        <a:rPr lang="en-US" altLang="zh-CN" dirty="0" smtClean="0"/>
                        <a:t>R</a:t>
                      </a:r>
                      <a:r>
                        <a:rPr lang="zh-CN" altLang="en-US" dirty="0" smtClean="0"/>
                        <a:t>树）、倒排、</a:t>
                      </a:r>
                      <a:r>
                        <a:rPr lang="en-US" altLang="zh-CN" dirty="0" smtClean="0"/>
                        <a:t>Hash</a:t>
                      </a:r>
                      <a:r>
                        <a:rPr lang="zh-CN" altLang="en-US" dirty="0" smtClean="0"/>
                        <a:t>、</a:t>
                      </a:r>
                      <a:r>
                        <a:rPr lang="en-US" altLang="zh-CN" dirty="0" smtClean="0"/>
                        <a:t>Block-range</a:t>
                      </a:r>
                      <a:r>
                        <a:rPr lang="zh-CN" altLang="en-US" dirty="0" smtClean="0"/>
                        <a:t>，分区</a:t>
                      </a:r>
                      <a:r>
                        <a:rPr lang="en-US" altLang="zh-CN" dirty="0" smtClean="0"/>
                        <a:t>Gist</a:t>
                      </a:r>
                      <a:r>
                        <a:rPr lang="zh-CN" altLang="en-US" dirty="0" smtClean="0"/>
                        <a:t>。</a:t>
                      </a:r>
                      <a:endParaRPr lang="zh-CN" altLang="en-US" dirty="0"/>
                    </a:p>
                  </a:txBody>
                  <a:tcPr/>
                </a:tc>
              </a:tr>
              <a:tr h="618207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在线创建索引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CREATE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en-US" altLang="zh-CN" dirty="0" smtClean="0"/>
                        <a:t>INDEX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en-US" altLang="zh-CN" dirty="0" smtClean="0"/>
                        <a:t>CONCURRENTLY</a:t>
                      </a:r>
                      <a:endParaRPr lang="zh-CN" altLang="en-US" dirty="0"/>
                    </a:p>
                  </a:txBody>
                  <a:tcPr/>
                </a:tc>
              </a:tr>
              <a:tr h="618207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叶子节点的值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一级索引是数据，二级是记录</a:t>
                      </a:r>
                      <a:r>
                        <a:rPr lang="en-US" altLang="zh-CN" dirty="0" smtClean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记录</a:t>
                      </a:r>
                      <a:r>
                        <a:rPr lang="en-US" altLang="zh-CN" dirty="0" smtClean="0"/>
                        <a:t>ID</a:t>
                      </a:r>
                      <a:endParaRPr lang="zh-CN" altLang="en-US" dirty="0"/>
                    </a:p>
                  </a:txBody>
                  <a:tcPr/>
                </a:tc>
              </a:tr>
              <a:tr h="618207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索引数据更新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Change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en-US" altLang="zh-CN" dirty="0" smtClean="0"/>
                        <a:t>buffer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同时写</a:t>
                      </a:r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9308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的访问标识</a:t>
            </a:r>
            <a:endParaRPr kumimoji="1" lang="en-US" altLang="zh-CN" dirty="0"/>
          </a:p>
        </p:txBody>
      </p:sp>
      <p:pic>
        <p:nvPicPr>
          <p:cNvPr id="7" name="内容占位符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803" y="2518611"/>
            <a:ext cx="5394394" cy="3786187"/>
          </a:xfrm>
        </p:spPr>
      </p:pic>
      <p:pic>
        <p:nvPicPr>
          <p:cNvPr id="10" name="图片 9"/>
          <p:cNvPicPr>
            <a:picLocks noChangeAspect="1"/>
          </p:cNvPicPr>
          <p:nvPr/>
        </p:nvPicPr>
        <p:blipFill rotWithShape="1">
          <a:blip r:embed="rId4"/>
          <a:srcRect b="34847"/>
          <a:stretch/>
        </p:blipFill>
        <p:spPr>
          <a:xfrm>
            <a:off x="1520825" y="1484313"/>
            <a:ext cx="8636000" cy="103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80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024"/>
    </mc:Choice>
    <mc:Fallback xmlns="">
      <p:transition spd="slow" advTm="58024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AccessMethod</a:t>
            </a:r>
            <a:r>
              <a:rPr kumimoji="1" lang="zh-CN" altLang="en-US" dirty="0"/>
              <a:t>类型</a:t>
            </a:r>
            <a:endParaRPr kumimoji="1"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Brin</a:t>
            </a:r>
            <a:r>
              <a:rPr kumimoji="1" lang="zh-CN" altLang="en-US" dirty="0" smtClean="0"/>
              <a:t>：块元信息统计，超大数据集</a:t>
            </a:r>
            <a:r>
              <a:rPr kumimoji="1" lang="en-US" altLang="zh-CN" dirty="0" smtClean="0"/>
              <a:t>&amp;</a:t>
            </a:r>
            <a:r>
              <a:rPr kumimoji="1" lang="zh-CN" altLang="en-US" dirty="0" smtClean="0"/>
              <a:t>存储与物理位置相关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Btree</a:t>
            </a:r>
            <a:r>
              <a:rPr kumimoji="1" lang="zh-CN" altLang="en-US" dirty="0" smtClean="0"/>
              <a:t>：多路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（树矮，</a:t>
            </a:r>
            <a:r>
              <a:rPr kumimoji="1" lang="zh-CN" altLang="en-US" dirty="0">
                <a:solidFill>
                  <a:schemeClr val="accent3"/>
                </a:solidFill>
              </a:rPr>
              <a:t>外部</a:t>
            </a:r>
            <a:r>
              <a:rPr kumimoji="1" lang="en-US" altLang="zh-CN" dirty="0">
                <a:solidFill>
                  <a:schemeClr val="accent3"/>
                </a:solidFill>
              </a:rPr>
              <a:t>IO</a:t>
            </a:r>
            <a:r>
              <a:rPr kumimoji="1" lang="zh-CN" altLang="en-US" dirty="0">
                <a:solidFill>
                  <a:schemeClr val="accent3"/>
                </a:solidFill>
              </a:rPr>
              <a:t>次数少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）</a:t>
            </a:r>
            <a:r>
              <a:rPr kumimoji="1" lang="zh-CN" altLang="en-US" dirty="0" smtClean="0"/>
              <a:t>平衡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（性能均衡）</a:t>
            </a:r>
            <a:r>
              <a:rPr kumimoji="1" lang="zh-CN" altLang="en-US" dirty="0" smtClean="0"/>
              <a:t>搜索树</a:t>
            </a:r>
            <a:endParaRPr kumimoji="1" lang="en-US" altLang="zh-CN" dirty="0" smtClean="0"/>
          </a:p>
          <a:p>
            <a:r>
              <a:rPr kumimoji="1" lang="en-US" altLang="zh-CN" dirty="0" smtClean="0"/>
              <a:t>Gin</a:t>
            </a:r>
            <a:r>
              <a:rPr kumimoji="1" lang="zh-CN" altLang="en-US" dirty="0" smtClean="0"/>
              <a:t>：倒排索引，</a:t>
            </a:r>
            <a:r>
              <a:rPr kumimoji="1" lang="zh-CN" altLang="en-US" b="1" dirty="0" smtClean="0"/>
              <a:t>多值离散组合类型</a:t>
            </a:r>
            <a:r>
              <a:rPr kumimoji="1" lang="zh-CN" altLang="en-US" dirty="0" smtClean="0"/>
              <a:t>的多对多查找</a:t>
            </a:r>
            <a:endParaRPr kumimoji="1" lang="en-US" altLang="zh-CN" dirty="0" smtClean="0"/>
          </a:p>
          <a:p>
            <a:r>
              <a:rPr kumimoji="1" lang="en-US" altLang="zh-CN" dirty="0" smtClean="0"/>
              <a:t>Gist</a:t>
            </a:r>
            <a:r>
              <a:rPr kumimoji="1" lang="zh-CN" altLang="en-US" dirty="0" smtClean="0"/>
              <a:t>：</a:t>
            </a:r>
            <a:r>
              <a:rPr kumimoji="1" lang="en-US" altLang="zh-CN" dirty="0" err="1" smtClean="0"/>
              <a:t>Rtree</a:t>
            </a:r>
            <a:r>
              <a:rPr kumimoji="1" lang="zh-CN" altLang="en-US" dirty="0" smtClean="0"/>
              <a:t>，</a:t>
            </a:r>
            <a:r>
              <a:rPr kumimoji="1" lang="zh-CN" altLang="en-US" b="1" dirty="0" smtClean="0"/>
              <a:t>有交集的连续范围</a:t>
            </a:r>
            <a:r>
              <a:rPr kumimoji="1" lang="zh-CN" altLang="en-US" dirty="0" smtClean="0"/>
              <a:t>类型</a:t>
            </a:r>
            <a:endParaRPr kumimoji="1" lang="en-US" altLang="zh-CN" dirty="0" smtClean="0"/>
          </a:p>
          <a:p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：等值搜索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Spgist</a:t>
            </a:r>
            <a:r>
              <a:rPr kumimoji="1" lang="zh-CN" altLang="en-US" dirty="0" smtClean="0"/>
              <a:t>：</a:t>
            </a:r>
            <a:r>
              <a:rPr kumimoji="1" lang="zh-CN" altLang="en-US" b="1" dirty="0" smtClean="0"/>
              <a:t>自然分区</a:t>
            </a:r>
            <a:r>
              <a:rPr kumimoji="1" lang="zh-CN" altLang="en-US" dirty="0" smtClean="0"/>
              <a:t>的数据（可能不平衡）</a:t>
            </a:r>
            <a:endParaRPr kumimoji="1" lang="en-US" altLang="zh-CN" dirty="0" smtClean="0"/>
          </a:p>
          <a:p>
            <a:pPr lvl="1"/>
            <a:r>
              <a:rPr lang="en-US" altLang="zh-CN" u="sng" dirty="0">
                <a:hlinkClick r:id="rId4"/>
              </a:rPr>
              <a:t>https://</a:t>
            </a:r>
            <a:r>
              <a:rPr lang="en-US" altLang="zh-CN" u="sng" dirty="0" smtClean="0">
                <a:hlinkClick r:id="rId4"/>
              </a:rPr>
              <a:t>www.cs.purdue.edu/spgist/papers/W87R36P214137510.pdf</a:t>
            </a:r>
            <a:endParaRPr lang="en-US" altLang="zh-CN" u="sng" dirty="0" smtClean="0"/>
          </a:p>
        </p:txBody>
      </p:sp>
      <p:pic>
        <p:nvPicPr>
          <p:cNvPr id="5" name="内容占位符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549" y="1841667"/>
            <a:ext cx="9898901" cy="33607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6776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4209"/>
    </mc:Choice>
    <mc:Fallback xmlns="">
      <p:transition spd="slow" advTm="26420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bitmapIndexScan</a:t>
            </a:r>
            <a:endParaRPr kumimoji="1" lang="en-US" altLang="zh-CN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1">
              <a:spcBef>
                <a:spcPts val="1000"/>
              </a:spcBef>
            </a:pPr>
            <a:r>
              <a:rPr lang="en-US" altLang="zh-CN" dirty="0" err="1" smtClean="0"/>
              <a:t>enable_bitmapscan</a:t>
            </a:r>
            <a:r>
              <a:rPr lang="en-US" altLang="zh-CN" dirty="0" smtClean="0"/>
              <a:t>=on</a:t>
            </a:r>
            <a:r>
              <a:rPr lang="zh-CN" altLang="en-US" dirty="0" smtClean="0"/>
              <a:t>：</a:t>
            </a:r>
            <a:r>
              <a:rPr kumimoji="1" lang="zh-CN" altLang="en-US" dirty="0" smtClean="0"/>
              <a:t>一次查询</a:t>
            </a:r>
            <a:r>
              <a:rPr kumimoji="1" lang="zh-CN" altLang="en-US" b="1" dirty="0" smtClean="0"/>
              <a:t>涉及多条索引</a:t>
            </a:r>
            <a:r>
              <a:rPr kumimoji="1" lang="en-US" altLang="zh-CN" dirty="0" smtClean="0"/>
              <a:t>&amp;</a:t>
            </a:r>
            <a:r>
              <a:rPr kumimoji="1" lang="zh-CN" altLang="en-US" b="1" dirty="0" smtClean="0"/>
              <a:t>索引目标块重叠</a:t>
            </a:r>
            <a:r>
              <a:rPr kumimoji="1" lang="zh-CN" altLang="en-US" dirty="0" smtClean="0"/>
              <a:t>会采用；</a:t>
            </a:r>
            <a:endParaRPr kumimoji="1"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191058"/>
            <a:ext cx="10058400" cy="4120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8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085"/>
    </mc:Choice>
    <mc:Fallback xmlns="">
      <p:transition spd="slow" advTm="65085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的部分索引、表达式索引与覆盖索引</a:t>
            </a:r>
            <a:endParaRPr kumimoji="1"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2000" dirty="0"/>
              <a:t>CREATE [ UNIQUE ] INDEX [ CONCURRENTLY ] [ [ IF NOT EXISTS ] </a:t>
            </a:r>
            <a:r>
              <a:rPr lang="en-US" altLang="zh-CN" sz="2000" i="1" dirty="0"/>
              <a:t>name</a:t>
            </a:r>
            <a:r>
              <a:rPr lang="en-US" altLang="zh-CN" sz="2000" dirty="0"/>
              <a:t> ] ON [ ONLY ] </a:t>
            </a:r>
            <a:r>
              <a:rPr lang="en-US" altLang="zh-CN" sz="2000" i="1" dirty="0" err="1"/>
              <a:t>table_name</a:t>
            </a:r>
            <a:r>
              <a:rPr lang="en-US" altLang="zh-CN" sz="2000" dirty="0"/>
              <a:t> [ USING </a:t>
            </a:r>
            <a:r>
              <a:rPr lang="en-US" altLang="zh-CN" sz="2000" i="1" dirty="0"/>
              <a:t>method</a:t>
            </a:r>
            <a:r>
              <a:rPr lang="en-US" altLang="zh-CN" sz="2000" dirty="0"/>
              <a:t> ] </a:t>
            </a:r>
            <a:r>
              <a:rPr lang="en-US" altLang="zh-CN" sz="2000" dirty="0">
                <a:solidFill>
                  <a:srgbClr val="C00000"/>
                </a:solidFill>
              </a:rPr>
              <a:t>( { </a:t>
            </a:r>
            <a:r>
              <a:rPr lang="en-US" altLang="zh-CN" sz="2000" i="1" dirty="0" err="1">
                <a:solidFill>
                  <a:srgbClr val="C00000"/>
                </a:solidFill>
              </a:rPr>
              <a:t>column_name</a:t>
            </a:r>
            <a:r>
              <a:rPr lang="en-US" altLang="zh-CN" sz="2000" dirty="0">
                <a:solidFill>
                  <a:srgbClr val="C00000"/>
                </a:solidFill>
              </a:rPr>
              <a:t> | ( </a:t>
            </a:r>
            <a:r>
              <a:rPr lang="en-US" altLang="zh-CN" sz="2000" b="1" i="1" dirty="0">
                <a:solidFill>
                  <a:srgbClr val="C00000"/>
                </a:solidFill>
              </a:rPr>
              <a:t>expression</a:t>
            </a:r>
            <a:r>
              <a:rPr lang="en-US" altLang="zh-CN" sz="2000" dirty="0">
                <a:solidFill>
                  <a:srgbClr val="C00000"/>
                </a:solidFill>
              </a:rPr>
              <a:t> ) } </a:t>
            </a:r>
            <a:r>
              <a:rPr lang="en-US" altLang="zh-CN" sz="2000" dirty="0"/>
              <a:t>[ COLLATE </a:t>
            </a:r>
            <a:r>
              <a:rPr lang="en-US" altLang="zh-CN" sz="2000" i="1" dirty="0"/>
              <a:t>collation</a:t>
            </a:r>
            <a:r>
              <a:rPr lang="en-US" altLang="zh-CN" sz="2000" dirty="0"/>
              <a:t> ] [ </a:t>
            </a:r>
            <a:r>
              <a:rPr lang="en-US" altLang="zh-CN" sz="2000" i="1" dirty="0" err="1"/>
              <a:t>opclass</a:t>
            </a:r>
            <a:r>
              <a:rPr lang="en-US" altLang="zh-CN" sz="2000" dirty="0"/>
              <a:t> ] [ ASC | DESC ] [ NULLS { FIRST | LAST } ] [, ...] ) </a:t>
            </a:r>
            <a:r>
              <a:rPr lang="en-US" altLang="zh-CN" sz="2000" dirty="0">
                <a:solidFill>
                  <a:srgbClr val="C00000"/>
                </a:solidFill>
              </a:rPr>
              <a:t>[ </a:t>
            </a:r>
            <a:r>
              <a:rPr lang="en-US" altLang="zh-CN" sz="2000" b="1" dirty="0">
                <a:solidFill>
                  <a:srgbClr val="C00000"/>
                </a:solidFill>
              </a:rPr>
              <a:t>INCLUDE</a:t>
            </a:r>
            <a:r>
              <a:rPr lang="en-US" altLang="zh-CN" sz="2000" dirty="0">
                <a:solidFill>
                  <a:srgbClr val="C00000"/>
                </a:solidFill>
              </a:rPr>
              <a:t> ( </a:t>
            </a:r>
            <a:r>
              <a:rPr lang="en-US" altLang="zh-CN" sz="2000" i="1" dirty="0" err="1">
                <a:solidFill>
                  <a:srgbClr val="C00000"/>
                </a:solidFill>
              </a:rPr>
              <a:t>column_name</a:t>
            </a:r>
            <a:r>
              <a:rPr lang="en-US" altLang="zh-CN" sz="2000" dirty="0">
                <a:solidFill>
                  <a:srgbClr val="C00000"/>
                </a:solidFill>
              </a:rPr>
              <a:t> [, ...] ) ] </a:t>
            </a:r>
            <a:r>
              <a:rPr lang="en-US" altLang="zh-CN" sz="2000" dirty="0"/>
              <a:t>[ WITH ( </a:t>
            </a:r>
            <a:r>
              <a:rPr lang="en-US" altLang="zh-CN" sz="2000" i="1" dirty="0" err="1"/>
              <a:t>storage_parameter</a:t>
            </a:r>
            <a:r>
              <a:rPr lang="en-US" altLang="zh-CN" sz="2000" dirty="0"/>
              <a:t> = </a:t>
            </a:r>
            <a:r>
              <a:rPr lang="en-US" altLang="zh-CN" sz="2000" i="1" dirty="0"/>
              <a:t>value</a:t>
            </a:r>
            <a:r>
              <a:rPr lang="en-US" altLang="zh-CN" sz="2000" dirty="0"/>
              <a:t> [, ... ] ) ] [ TABLESPACE </a:t>
            </a:r>
            <a:r>
              <a:rPr lang="en-US" altLang="zh-CN" sz="2000" i="1" dirty="0" err="1"/>
              <a:t>tablespace_name</a:t>
            </a:r>
            <a:r>
              <a:rPr lang="en-US" altLang="zh-CN" sz="2000" dirty="0"/>
              <a:t> ] </a:t>
            </a:r>
            <a:r>
              <a:rPr lang="en-US" altLang="zh-CN" sz="2000" dirty="0">
                <a:solidFill>
                  <a:srgbClr val="C00000"/>
                </a:solidFill>
              </a:rPr>
              <a:t>[ </a:t>
            </a:r>
            <a:r>
              <a:rPr lang="en-US" altLang="zh-CN" sz="2000" b="1" dirty="0">
                <a:solidFill>
                  <a:srgbClr val="C00000"/>
                </a:solidFill>
              </a:rPr>
              <a:t>WHERE</a:t>
            </a:r>
            <a:r>
              <a:rPr lang="en-US" altLang="zh-CN" sz="2000" dirty="0">
                <a:solidFill>
                  <a:srgbClr val="C00000"/>
                </a:solidFill>
              </a:rPr>
              <a:t> </a:t>
            </a:r>
            <a:r>
              <a:rPr lang="en-US" altLang="zh-CN" sz="2000" i="1" dirty="0">
                <a:solidFill>
                  <a:srgbClr val="C00000"/>
                </a:solidFill>
              </a:rPr>
              <a:t>predicate</a:t>
            </a:r>
            <a:r>
              <a:rPr lang="en-US" altLang="zh-CN" sz="2000" dirty="0">
                <a:solidFill>
                  <a:srgbClr val="C00000"/>
                </a:solidFill>
              </a:rPr>
              <a:t> </a:t>
            </a:r>
            <a:r>
              <a:rPr lang="en-US" altLang="zh-CN" sz="2000" dirty="0" smtClean="0">
                <a:solidFill>
                  <a:srgbClr val="C00000"/>
                </a:solidFill>
              </a:rPr>
              <a:t>]</a:t>
            </a:r>
          </a:p>
          <a:p>
            <a:r>
              <a:rPr lang="en-US" altLang="zh-CN" dirty="0"/>
              <a:t>{ </a:t>
            </a:r>
            <a:r>
              <a:rPr lang="en-US" altLang="zh-CN" i="1" dirty="0" err="1"/>
              <a:t>column_name</a:t>
            </a:r>
            <a:r>
              <a:rPr lang="en-US" altLang="zh-CN" dirty="0"/>
              <a:t> | ( </a:t>
            </a:r>
            <a:r>
              <a:rPr lang="en-US" altLang="zh-CN" i="1" dirty="0"/>
              <a:t>expression</a:t>
            </a:r>
            <a:r>
              <a:rPr lang="en-US" altLang="zh-CN" dirty="0"/>
              <a:t> ) } </a:t>
            </a:r>
            <a:r>
              <a:rPr lang="zh-CN" altLang="en-US" i="1" dirty="0" smtClean="0"/>
              <a:t>：</a:t>
            </a:r>
            <a:r>
              <a:rPr lang="zh-CN" altLang="en-US" u="sng" dirty="0" smtClean="0"/>
              <a:t>表达式</a:t>
            </a:r>
            <a:r>
              <a:rPr lang="en-US" altLang="zh-CN" u="sng" dirty="0" smtClean="0"/>
              <a:t>(</a:t>
            </a:r>
            <a:r>
              <a:rPr lang="zh-CN" altLang="en-US" u="sng" dirty="0" smtClean="0"/>
              <a:t>函数</a:t>
            </a:r>
            <a:r>
              <a:rPr lang="en-US" altLang="zh-CN" u="sng" dirty="0" smtClean="0"/>
              <a:t>)</a:t>
            </a:r>
            <a:r>
              <a:rPr lang="zh-CN" altLang="en-US" u="sng" dirty="0" smtClean="0"/>
              <a:t>索引</a:t>
            </a:r>
            <a:endParaRPr lang="en-US" altLang="zh-CN" u="sng" dirty="0" smtClean="0"/>
          </a:p>
          <a:p>
            <a:pPr lvl="1"/>
            <a:r>
              <a:rPr lang="zh-CN" altLang="en-US" dirty="0" smtClean="0"/>
              <a:t>表达式要求是</a:t>
            </a:r>
            <a:r>
              <a:rPr lang="en-US" altLang="zh-CN" dirty="0" smtClean="0"/>
              <a:t>IMMUTABLE </a:t>
            </a:r>
            <a:r>
              <a:rPr lang="zh-CN" altLang="en-US" dirty="0" smtClean="0"/>
              <a:t>的</a:t>
            </a:r>
            <a:endParaRPr lang="en-US" altLang="zh-CN" u="sng" dirty="0" smtClean="0"/>
          </a:p>
          <a:p>
            <a:r>
              <a:rPr lang="en-US" altLang="zh-CN" dirty="0"/>
              <a:t>WHERE </a:t>
            </a:r>
            <a:r>
              <a:rPr lang="en-US" altLang="zh-CN" i="1" dirty="0" smtClean="0"/>
              <a:t>predicate</a:t>
            </a:r>
            <a:r>
              <a:rPr lang="zh-CN" altLang="en-US" i="1" dirty="0" smtClean="0"/>
              <a:t>：</a:t>
            </a:r>
            <a:r>
              <a:rPr lang="zh-CN" altLang="en-US" u="sng" dirty="0" smtClean="0"/>
              <a:t>条件索引</a:t>
            </a:r>
            <a:endParaRPr lang="en-US" altLang="zh-CN" u="sng" dirty="0" smtClean="0"/>
          </a:p>
          <a:p>
            <a:pPr lvl="1"/>
            <a:r>
              <a:rPr lang="zh-CN" altLang="en-US" u="sng" dirty="0" smtClean="0"/>
              <a:t>短小精悍</a:t>
            </a:r>
            <a:endParaRPr lang="en-US" altLang="zh-CN" u="sng" dirty="0" smtClean="0"/>
          </a:p>
          <a:p>
            <a:r>
              <a:rPr lang="en-US" altLang="zh-CN" dirty="0"/>
              <a:t>[ INCLUDE ( </a:t>
            </a:r>
            <a:r>
              <a:rPr lang="en-US" altLang="zh-CN" i="1" dirty="0" err="1"/>
              <a:t>column_name</a:t>
            </a:r>
            <a:r>
              <a:rPr lang="en-US" altLang="zh-CN" dirty="0"/>
              <a:t> [, ...] ) </a:t>
            </a:r>
            <a:r>
              <a:rPr lang="en-US" altLang="zh-CN" dirty="0" smtClean="0"/>
              <a:t>]</a:t>
            </a:r>
            <a:r>
              <a:rPr lang="zh-CN" altLang="en-US" dirty="0" smtClean="0"/>
              <a:t>：</a:t>
            </a:r>
            <a:r>
              <a:rPr lang="zh-CN" altLang="en-US" u="sng" dirty="0" smtClean="0"/>
              <a:t>覆盖索引</a:t>
            </a:r>
            <a:endParaRPr lang="en-US" altLang="zh-CN" u="sng" dirty="0" smtClean="0"/>
          </a:p>
          <a:p>
            <a:pPr lvl="1"/>
            <a:r>
              <a:rPr lang="zh-CN" altLang="en-US" u="sng" dirty="0" smtClean="0"/>
              <a:t>减少二次查表</a:t>
            </a:r>
            <a:endParaRPr lang="en-US" altLang="zh-CN" u="sng" dirty="0" smtClean="0"/>
          </a:p>
          <a:p>
            <a:pPr lvl="1"/>
            <a:endParaRPr lang="en-US" altLang="zh-CN" u="sng" dirty="0" smtClean="0"/>
          </a:p>
        </p:txBody>
      </p:sp>
    </p:spTree>
    <p:extLst>
      <p:ext uri="{BB962C8B-B14F-4D97-AF65-F5344CB8AC3E}">
        <p14:creationId xmlns:p14="http://schemas.microsoft.com/office/powerpoint/2010/main" val="1979084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7138"/>
    </mc:Choice>
    <mc:Fallback xmlns="">
      <p:transition spd="slow" advTm="77138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r>
              <a:rPr kumimoji="1" lang="zh-CN" altLang="en-US" dirty="0"/>
              <a:t>小结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>
                <a:solidFill>
                  <a:srgbClr val="C00000"/>
                </a:solidFill>
              </a:rPr>
              <a:t>random_page_cost</a:t>
            </a:r>
            <a:r>
              <a:rPr lang="zh-CN" altLang="en-US" dirty="0" smtClean="0"/>
              <a:t>与</a:t>
            </a:r>
            <a:r>
              <a:rPr lang="en-US" altLang="zh-CN" dirty="0" err="1" smtClean="0"/>
              <a:t>seq_page_cost</a:t>
            </a:r>
            <a:endParaRPr lang="en-US" altLang="zh-CN" dirty="0" smtClean="0"/>
          </a:p>
          <a:p>
            <a:r>
              <a:rPr kumimoji="1" lang="zh-CN" altLang="en-US" dirty="0" smtClean="0"/>
              <a:t>原生</a:t>
            </a:r>
            <a:r>
              <a:rPr kumimoji="1" lang="zh-CN" altLang="en-US" dirty="0" smtClean="0">
                <a:solidFill>
                  <a:srgbClr val="C00000"/>
                </a:solidFill>
              </a:rPr>
              <a:t>不支持</a:t>
            </a:r>
            <a:r>
              <a:rPr kumimoji="1" lang="en-US" altLang="zh-CN" dirty="0" smtClean="0">
                <a:solidFill>
                  <a:srgbClr val="C00000"/>
                </a:solidFill>
              </a:rPr>
              <a:t>hint</a:t>
            </a:r>
            <a:r>
              <a:rPr kumimoji="1" lang="zh-CN" altLang="en-US" dirty="0" smtClean="0"/>
              <a:t>，通过插件可以，但是不推荐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maintain_work_mem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>
                <a:solidFill>
                  <a:srgbClr val="C00000"/>
                </a:solidFill>
              </a:rPr>
              <a:t>Create</a:t>
            </a:r>
            <a:r>
              <a:rPr kumimoji="1" lang="zh-CN" altLang="en-US" dirty="0" smtClean="0">
                <a:solidFill>
                  <a:srgbClr val="C00000"/>
                </a:solidFill>
              </a:rPr>
              <a:t> </a:t>
            </a:r>
            <a:r>
              <a:rPr kumimoji="1" lang="en-US" altLang="zh-CN" dirty="0" smtClean="0">
                <a:solidFill>
                  <a:srgbClr val="C00000"/>
                </a:solidFill>
              </a:rPr>
              <a:t>Index</a:t>
            </a:r>
            <a:r>
              <a:rPr kumimoji="1" lang="zh-CN" altLang="en-US" dirty="0" smtClean="0">
                <a:solidFill>
                  <a:srgbClr val="C00000"/>
                </a:solidFill>
              </a:rPr>
              <a:t> </a:t>
            </a:r>
            <a:r>
              <a:rPr kumimoji="1" lang="en-US" altLang="zh-CN" dirty="0" smtClean="0">
                <a:solidFill>
                  <a:srgbClr val="C00000"/>
                </a:solidFill>
              </a:rPr>
              <a:t>Concurrently</a:t>
            </a:r>
            <a:r>
              <a:rPr kumimoji="1" lang="zh-CN" altLang="en-US" dirty="0" smtClean="0"/>
              <a:t>。。。</a:t>
            </a:r>
            <a:endParaRPr kumimoji="1" lang="en-US" altLang="zh-CN" dirty="0" smtClean="0"/>
          </a:p>
          <a:p>
            <a:r>
              <a:rPr kumimoji="1" lang="zh-CN" altLang="en-US" dirty="0" smtClean="0"/>
              <a:t>监控</a:t>
            </a:r>
            <a:r>
              <a:rPr kumimoji="1" lang="zh-CN" altLang="en-US" dirty="0" smtClean="0">
                <a:solidFill>
                  <a:srgbClr val="C00000"/>
                </a:solidFill>
              </a:rPr>
              <a:t>索引膨胀率</a:t>
            </a:r>
            <a:r>
              <a:rPr kumimoji="1" lang="zh-CN" altLang="en-US" dirty="0" smtClean="0"/>
              <a:t>与使用情况，并重建或删除；</a:t>
            </a:r>
            <a:endParaRPr kumimoji="1" lang="en-US" altLang="zh-CN" dirty="0" smtClean="0"/>
          </a:p>
          <a:p>
            <a:r>
              <a:rPr kumimoji="1" lang="en-US" altLang="zh-CN" dirty="0" smtClean="0"/>
              <a:t>Drop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要在整个复制流上确认无访问。</a:t>
            </a:r>
            <a:endParaRPr kumimoji="1" lang="en-US" altLang="zh-CN" dirty="0" smtClean="0"/>
          </a:p>
          <a:p>
            <a:r>
              <a:rPr kumimoji="1" lang="zh-CN" altLang="en-US" dirty="0" smtClean="0">
                <a:solidFill>
                  <a:srgbClr val="C00000"/>
                </a:solidFill>
              </a:rPr>
              <a:t>灵活使用</a:t>
            </a:r>
            <a:r>
              <a:rPr kumimoji="1" lang="zh-CN" altLang="en-US" dirty="0" smtClean="0"/>
              <a:t>条件索引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覆盖索引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表达式索引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12</a:t>
            </a:r>
            <a:r>
              <a:rPr kumimoji="1" lang="zh-CN" altLang="en-US" dirty="0" smtClean="0"/>
              <a:t>新增</a:t>
            </a:r>
            <a:r>
              <a:rPr lang="en-US" altLang="zh-CN" b="1" dirty="0"/>
              <a:t>CREATE ACCESS </a:t>
            </a:r>
            <a:r>
              <a:rPr lang="en-US" altLang="zh-CN" b="1" dirty="0" smtClean="0"/>
              <a:t>METHOD</a:t>
            </a:r>
            <a:r>
              <a:rPr lang="zh-CN" altLang="en-US" dirty="0" smtClean="0"/>
              <a:t>语句与接口，用户可自己设计添加新的访问方法，即，</a:t>
            </a:r>
            <a:r>
              <a:rPr lang="zh-CN" altLang="en-US" dirty="0" smtClean="0">
                <a:solidFill>
                  <a:srgbClr val="C00000"/>
                </a:solidFill>
              </a:rPr>
              <a:t>可拔插存储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842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BufferManager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7150768" cy="3676817"/>
          </a:xfrm>
        </p:spPr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模块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结构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页面置换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CHECKPOINT</a:t>
            </a:r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RingBuffer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BufferManager</a:t>
            </a:r>
            <a:r>
              <a:rPr kumimoji="1" lang="zh-CN" altLang="en-US" dirty="0" smtClean="0"/>
              <a:t>小结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2691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与</a:t>
            </a:r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BufferManager</a:t>
            </a:r>
            <a:r>
              <a:rPr kumimoji="1" lang="zh-CN" altLang="en-US" dirty="0"/>
              <a:t>模块</a:t>
            </a:r>
            <a:endParaRPr kumimoji="1" lang="en-US" altLang="zh-CN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0562533"/>
              </p:ext>
            </p:extLst>
          </p:nvPr>
        </p:nvGraphicFramePr>
        <p:xfrm>
          <a:off x="838200" y="1825620"/>
          <a:ext cx="10515600" cy="3305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49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mtClean="0"/>
                        <a:t>InnoDB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mtClean="0"/>
                        <a:t>PostgreSQL</a:t>
                      </a:r>
                      <a:endParaRPr lang="zh-CN" altLang="en-US" dirty="0"/>
                    </a:p>
                  </a:txBody>
                  <a:tcPr/>
                </a:tc>
              </a:tr>
              <a:tr h="549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默认最小单元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16KB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mtClean="0"/>
                        <a:t>8KB</a:t>
                      </a:r>
                      <a:endParaRPr lang="zh-CN" altLang="en-US" dirty="0"/>
                    </a:p>
                  </a:txBody>
                  <a:tcPr/>
                </a:tc>
              </a:tr>
              <a:tr h="56031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CHECKPOINT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Fuzzy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en-US" altLang="zh-CN" dirty="0" smtClean="0"/>
                        <a:t>CHECKPOINT</a:t>
                      </a:r>
                      <a:r>
                        <a:rPr lang="zh-CN" altLang="en-US" dirty="0" smtClean="0"/>
                        <a:t>；小批多次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Spread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en-US" altLang="zh-CN" dirty="0" smtClean="0"/>
                        <a:t>checkpoint</a:t>
                      </a:r>
                      <a:r>
                        <a:rPr lang="zh-CN" altLang="en-US" dirty="0" smtClean="0"/>
                        <a:t>；分阶段进行</a:t>
                      </a:r>
                      <a:endParaRPr lang="zh-CN" altLang="en-US" dirty="0"/>
                    </a:p>
                  </a:txBody>
                  <a:tcPr/>
                </a:tc>
              </a:tr>
              <a:tr h="549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页面置换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LRU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Clock-Sweep</a:t>
                      </a:r>
                      <a:endParaRPr lang="zh-CN" altLang="en-US" dirty="0"/>
                    </a:p>
                  </a:txBody>
                  <a:tcPr/>
                </a:tc>
              </a:tr>
              <a:tr h="549104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Multiple Buffer Pools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 smtClean="0"/>
                        <a:t>innodb_buffer_pool_instances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只有一个</a:t>
                      </a:r>
                      <a:endParaRPr lang="zh-CN" altLang="en-US" dirty="0"/>
                    </a:p>
                  </a:txBody>
                  <a:tcPr/>
                </a:tc>
              </a:tr>
              <a:tr h="549104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Steal/Force</a:t>
                      </a:r>
                      <a:r>
                        <a:rPr lang="zh-CN" altLang="en-US" dirty="0" smtClean="0"/>
                        <a:t>策略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 smtClean="0"/>
                        <a:t>Steal</a:t>
                      </a:r>
                      <a:r>
                        <a:rPr lang="zh-CN" altLang="en-US" dirty="0" smtClean="0"/>
                        <a:t>、</a:t>
                      </a:r>
                      <a:r>
                        <a:rPr lang="en-US" altLang="zh-CN" dirty="0" smtClean="0"/>
                        <a:t>No-force</a:t>
                      </a:r>
                      <a:endParaRPr lang="zh-CN" altLang="en-US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 smtClean="0"/>
                        <a:t>Steal</a:t>
                      </a:r>
                      <a:r>
                        <a:rPr lang="zh-CN" altLang="en-US" dirty="0" smtClean="0"/>
                        <a:t>、</a:t>
                      </a:r>
                      <a:r>
                        <a:rPr lang="en-US" altLang="zh-CN" dirty="0" smtClean="0"/>
                        <a:t>No-force</a:t>
                      </a:r>
                      <a:endParaRPr lang="zh-CN" altLang="en-US" dirty="0" smtClean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838200" y="5131458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 smtClean="0">
                <a:solidFill>
                  <a:schemeClr val="tx2"/>
                </a:solidFill>
              </a:rPr>
              <a:t>Steal</a:t>
            </a:r>
            <a:r>
              <a:rPr kumimoji="1" lang="zh-CN" altLang="en-US" sz="2400" b="1" dirty="0" smtClean="0">
                <a:solidFill>
                  <a:schemeClr val="tx2"/>
                </a:solidFill>
              </a:rPr>
              <a:t>：未提交的事务的修改是否允许覆盖磁盘中已提交事务的值。</a:t>
            </a:r>
            <a:endParaRPr kumimoji="1" lang="en-US" altLang="zh-CN" sz="2400" b="1" dirty="0" smtClean="0">
              <a:solidFill>
                <a:schemeClr val="tx2"/>
              </a:solidFill>
            </a:endParaRPr>
          </a:p>
          <a:p>
            <a:r>
              <a:rPr kumimoji="1" lang="en-US" altLang="zh-CN" sz="2400" b="1" dirty="0" smtClean="0">
                <a:solidFill>
                  <a:schemeClr val="tx2"/>
                </a:solidFill>
              </a:rPr>
              <a:t>Force</a:t>
            </a:r>
            <a:r>
              <a:rPr kumimoji="1" lang="zh-CN" altLang="en-US" sz="2400" b="1" dirty="0" smtClean="0">
                <a:solidFill>
                  <a:schemeClr val="tx2"/>
                </a:solidFill>
              </a:rPr>
              <a:t>：在事务提交之前，</a:t>
            </a:r>
            <a:r>
              <a:rPr kumimoji="1" lang="en-US" altLang="zh-CN" sz="2400" b="1" dirty="0" smtClean="0">
                <a:solidFill>
                  <a:schemeClr val="tx2"/>
                </a:solidFill>
              </a:rPr>
              <a:t>buffer</a:t>
            </a:r>
            <a:r>
              <a:rPr kumimoji="1" lang="zh-CN" altLang="en-US" sz="2400" b="1" dirty="0" smtClean="0">
                <a:solidFill>
                  <a:schemeClr val="tx2"/>
                </a:solidFill>
              </a:rPr>
              <a:t>中相关事务的修改是否强制刷盘。</a:t>
            </a:r>
            <a:endParaRPr kumimoji="1" lang="en-US" altLang="zh-CN" sz="2400" b="1" dirty="0" smtClean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1816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BufferManager</a:t>
            </a:r>
            <a:r>
              <a:rPr kumimoji="1" lang="zh-CN" altLang="en-US" dirty="0"/>
              <a:t>结构</a:t>
            </a:r>
            <a:endParaRPr kumimoji="1" lang="en-US" altLang="zh-CN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779" y="1860884"/>
            <a:ext cx="8304442" cy="3666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51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105"/>
    </mc:Choice>
    <mc:Fallback xmlns="">
      <p:transition spd="slow" advTm="50105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Buffer</a:t>
            </a:r>
            <a:r>
              <a:rPr kumimoji="1" lang="zh-CN" altLang="en-US" dirty="0"/>
              <a:t>页面置换</a:t>
            </a:r>
            <a:endParaRPr kumimoji="1"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Clock-Sweep</a:t>
            </a:r>
          </a:p>
          <a:p>
            <a:r>
              <a:rPr kumimoji="1" lang="zh-CN" altLang="en-US" dirty="0"/>
              <a:t>找到第一个访问次数是</a:t>
            </a:r>
            <a:r>
              <a:rPr kumimoji="1" lang="en-US" altLang="zh-CN" dirty="0"/>
              <a:t>0</a:t>
            </a:r>
            <a:r>
              <a:rPr kumimoji="1" lang="zh-CN" altLang="en-US" dirty="0"/>
              <a:t>的块</a:t>
            </a:r>
          </a:p>
          <a:p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4337" y="2775132"/>
            <a:ext cx="5129463" cy="3401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48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CHECKPOINT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checkpoint_completion_target</a:t>
            </a:r>
            <a:endParaRPr lang="en-US" altLang="zh-CN" dirty="0" smtClean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6850" y="2430463"/>
            <a:ext cx="67183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74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4966"/>
    </mc:Choice>
    <mc:Fallback xmlns="">
      <p:transition spd="slow" advTm="84966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 smtClean="0"/>
              <a:t>RingBuffer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不属于</a:t>
            </a:r>
            <a:r>
              <a:rPr kumimoji="1" lang="en-US" altLang="zh-CN" dirty="0" err="1" smtClean="0"/>
              <a:t>bufferpool</a:t>
            </a:r>
            <a:r>
              <a:rPr kumimoji="1" lang="zh-CN" altLang="en-US" dirty="0" smtClean="0"/>
              <a:t>的</a:t>
            </a:r>
            <a:r>
              <a:rPr kumimoji="1" lang="zh-CN" altLang="en-US" b="1" dirty="0" smtClean="0">
                <a:solidFill>
                  <a:srgbClr val="C00000"/>
                </a:solidFill>
              </a:rPr>
              <a:t>临时</a:t>
            </a:r>
            <a:r>
              <a:rPr kumimoji="1" lang="zh-CN" altLang="en-US" dirty="0" smtClean="0"/>
              <a:t>小</a:t>
            </a:r>
            <a:r>
              <a:rPr kumimoji="1" lang="en-US" altLang="zh-CN" dirty="0" smtClean="0"/>
              <a:t>buffer</a:t>
            </a:r>
          </a:p>
          <a:p>
            <a:r>
              <a:rPr kumimoji="1" lang="zh-CN" altLang="en-US" dirty="0" smtClean="0"/>
              <a:t>用于临时数据加载等场景，避免大量数据读写冲刷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大块的读取（</a:t>
            </a:r>
            <a:r>
              <a:rPr kumimoji="1" lang="en-US" altLang="zh-CN" dirty="0" smtClean="0"/>
              <a:t>256KB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L2cache</a:t>
            </a:r>
            <a:r>
              <a:rPr kumimoji="1" lang="zh-CN" altLang="en-US" dirty="0" smtClean="0"/>
              <a:t>大小）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超过</a:t>
            </a:r>
            <a:r>
              <a:rPr kumimoji="1" lang="en-US" altLang="zh-CN" dirty="0" err="1" smtClean="0"/>
              <a:t>bufferpool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1/4</a:t>
            </a:r>
            <a:r>
              <a:rPr kumimoji="1" lang="zh-CN" altLang="en-US" dirty="0" smtClean="0"/>
              <a:t>的大块数据的读取（</a:t>
            </a:r>
            <a:r>
              <a:rPr kumimoji="1" lang="en-US" altLang="zh-CN" dirty="0" smtClean="0"/>
              <a:t>256KB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大块的写（</a:t>
            </a:r>
            <a:r>
              <a:rPr kumimoji="1" lang="en-US" altLang="zh-CN" dirty="0" smtClean="0"/>
              <a:t>16MB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COPY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FROM</a:t>
            </a:r>
          </a:p>
          <a:p>
            <a:pPr lvl="2"/>
            <a:r>
              <a:rPr kumimoji="1" lang="en-US" altLang="zh-CN" dirty="0" smtClean="0"/>
              <a:t>CREATE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TABLE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AS</a:t>
            </a:r>
          </a:p>
          <a:p>
            <a:pPr lvl="2"/>
            <a:r>
              <a:rPr kumimoji="1" lang="en-US" altLang="zh-CN" dirty="0" smtClean="0"/>
              <a:t>CREATE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MATERIALIZED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VIEW/REFRESH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MATERIALIZED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VIEW</a:t>
            </a:r>
          </a:p>
          <a:p>
            <a:pPr lvl="2"/>
            <a:r>
              <a:rPr kumimoji="1" lang="en-US" altLang="zh-CN" dirty="0" smtClean="0"/>
              <a:t>ALTER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TABLE</a:t>
            </a:r>
          </a:p>
          <a:p>
            <a:pPr lvl="1"/>
            <a:r>
              <a:rPr kumimoji="1" lang="en-US" altLang="zh-CN" dirty="0" smtClean="0"/>
              <a:t>Vacuum</a:t>
            </a:r>
            <a:r>
              <a:rPr kumimoji="1" lang="zh-CN" altLang="en-US" dirty="0" smtClean="0"/>
              <a:t>进程（</a:t>
            </a:r>
            <a:r>
              <a:rPr kumimoji="1" lang="en-US" altLang="zh-CN" dirty="0" smtClean="0"/>
              <a:t>256KB</a:t>
            </a:r>
            <a:r>
              <a:rPr kumimoji="1" lang="zh-CN" altLang="en-US" dirty="0" smtClean="0"/>
              <a:t> </a:t>
            </a:r>
            <a:r>
              <a:rPr kumimoji="1" lang="en-US" altLang="zh-CN" dirty="0"/>
              <a:t>L2cache</a:t>
            </a:r>
            <a:r>
              <a:rPr kumimoji="1" lang="zh-CN" altLang="en-US" dirty="0"/>
              <a:t>大小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lvl="2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9576721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BufferManager</a:t>
            </a:r>
            <a:r>
              <a:rPr kumimoji="1" lang="zh-CN" altLang="en-US" dirty="0"/>
              <a:t>小结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推荐配置为系统内存的</a:t>
            </a:r>
            <a:r>
              <a:rPr kumimoji="1" lang="en-US" altLang="zh-CN" dirty="0" smtClean="0">
                <a:solidFill>
                  <a:srgbClr val="C00000"/>
                </a:solidFill>
              </a:rPr>
              <a:t>10%-25%</a:t>
            </a:r>
            <a:r>
              <a:rPr kumimoji="1" lang="zh-CN" altLang="en-US" dirty="0" smtClean="0"/>
              <a:t>，剩下给</a:t>
            </a:r>
            <a:r>
              <a:rPr kumimoji="1" lang="en-US" altLang="zh-CN" dirty="0" err="1" smtClean="0"/>
              <a:t>pagecache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zh-CN" altLang="en-US" dirty="0" smtClean="0"/>
              <a:t>切流量注意</a:t>
            </a:r>
            <a:r>
              <a:rPr kumimoji="1" lang="zh-CN" altLang="en-US" dirty="0" smtClean="0">
                <a:solidFill>
                  <a:srgbClr val="C00000"/>
                </a:solidFill>
              </a:rPr>
              <a:t>灰度预热</a:t>
            </a:r>
            <a:r>
              <a:rPr kumimoji="1" lang="zh-CN" altLang="en-US" dirty="0" smtClean="0"/>
              <a:t>，或者用</a:t>
            </a:r>
            <a:r>
              <a:rPr kumimoji="1" lang="en-US" altLang="zh-CN" dirty="0" err="1" smtClean="0"/>
              <a:t>pg_rewarm</a:t>
            </a:r>
            <a:endParaRPr kumimoji="1" lang="en-US" altLang="zh-CN" dirty="0" smtClean="0"/>
          </a:p>
          <a:p>
            <a:r>
              <a:rPr kumimoji="1" lang="zh-CN" altLang="en-US" dirty="0" smtClean="0"/>
              <a:t>监控</a:t>
            </a:r>
            <a:r>
              <a:rPr kumimoji="1" lang="zh-CN" altLang="en-US" dirty="0" smtClean="0"/>
              <a:t>命中率</a:t>
            </a:r>
            <a:r>
              <a:rPr kumimoji="1" lang="en-US" altLang="zh-CN" dirty="0"/>
              <a:t>&amp;</a:t>
            </a:r>
            <a:r>
              <a:rPr kumimoji="1" lang="zh-CN" altLang="en-US" dirty="0" smtClean="0"/>
              <a:t>监控</a:t>
            </a:r>
            <a:r>
              <a:rPr kumimoji="1" lang="en-US" altLang="zh-CN" dirty="0" err="1" smtClean="0"/>
              <a:t>pagecache</a:t>
            </a:r>
            <a:r>
              <a:rPr kumimoji="1" lang="zh-CN" altLang="en-US" dirty="0" smtClean="0"/>
              <a:t>的大小</a:t>
            </a:r>
            <a:endParaRPr kumimoji="1" lang="en-US" altLang="zh-CN" dirty="0" smtClean="0"/>
          </a:p>
          <a:p>
            <a:r>
              <a:rPr lang="zh-CN" altLang="en-US" dirty="0" smtClean="0">
                <a:solidFill>
                  <a:srgbClr val="C00000"/>
                </a:solidFill>
              </a:rPr>
              <a:t>使用连接池</a:t>
            </a:r>
            <a:r>
              <a:rPr lang="zh-CN" altLang="en-US" dirty="0" smtClean="0"/>
              <a:t>：</a:t>
            </a:r>
            <a:r>
              <a:rPr lang="en-US" altLang="zh-CN" dirty="0" err="1" smtClean="0"/>
              <a:t>work_mem</a:t>
            </a:r>
            <a:r>
              <a:rPr lang="zh-CN" altLang="en-US" dirty="0" smtClean="0"/>
              <a:t>不属于</a:t>
            </a:r>
            <a:r>
              <a:rPr lang="en-US" altLang="zh-CN" dirty="0" smtClean="0"/>
              <a:t>buffer</a:t>
            </a:r>
            <a:r>
              <a:rPr lang="zh-CN" altLang="en-US" dirty="0" smtClean="0"/>
              <a:t>，每个进程独占。</a:t>
            </a:r>
            <a:endParaRPr lang="en-US" altLang="zh-CN" dirty="0" smtClean="0"/>
          </a:p>
          <a:p>
            <a:r>
              <a:rPr lang="zh-CN" altLang="en-US" dirty="0" smtClean="0"/>
              <a:t>到达</a:t>
            </a:r>
            <a:r>
              <a:rPr lang="en-US" altLang="zh-CN" i="1" dirty="0" err="1" smtClean="0"/>
              <a:t>max_wal_size</a:t>
            </a:r>
            <a:r>
              <a:rPr lang="zh-CN" altLang="en-US" dirty="0" smtClean="0"/>
              <a:t>，</a:t>
            </a:r>
            <a:r>
              <a:rPr lang="en-US" altLang="zh-CN" dirty="0" err="1" smtClean="0"/>
              <a:t>sharedbuffer</a:t>
            </a:r>
            <a:r>
              <a:rPr lang="zh-CN" altLang="en-US" dirty="0" smtClean="0"/>
              <a:t>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；但是</a:t>
            </a:r>
            <a:r>
              <a:rPr lang="en-US" altLang="zh-CN" dirty="0" err="1" smtClean="0">
                <a:solidFill>
                  <a:srgbClr val="C00000"/>
                </a:solidFill>
              </a:rPr>
              <a:t>max_wal_size</a:t>
            </a:r>
            <a:r>
              <a:rPr lang="zh-CN" altLang="en-US" dirty="0" smtClean="0">
                <a:solidFill>
                  <a:srgbClr val="C00000"/>
                </a:solidFill>
              </a:rPr>
              <a:t>有可能还是会超限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kumimoji="1" lang="en-US" altLang="zh-CN" dirty="0" err="1" smtClean="0"/>
              <a:t>Pg_stat_activity</a:t>
            </a:r>
            <a:r>
              <a:rPr kumimoji="1" lang="zh-CN" altLang="en-US" dirty="0" smtClean="0"/>
              <a:t>中的</a:t>
            </a:r>
            <a:r>
              <a:rPr kumimoji="1" lang="en-US" altLang="zh-CN" dirty="0" err="1" smtClean="0">
                <a:solidFill>
                  <a:srgbClr val="C00000"/>
                </a:solidFill>
              </a:rPr>
              <a:t>wait_type</a:t>
            </a:r>
            <a:r>
              <a:rPr kumimoji="1" lang="zh-CN" altLang="en-US" dirty="0" smtClean="0">
                <a:solidFill>
                  <a:srgbClr val="C00000"/>
                </a:solidFill>
              </a:rPr>
              <a:t> </a:t>
            </a:r>
            <a:r>
              <a:rPr kumimoji="1" lang="en-US" altLang="zh-CN" dirty="0" smtClean="0">
                <a:solidFill>
                  <a:srgbClr val="C00000"/>
                </a:solidFill>
              </a:rPr>
              <a:t>=</a:t>
            </a:r>
            <a:r>
              <a:rPr kumimoji="1" lang="zh-CN" altLang="en-US" dirty="0" smtClean="0">
                <a:solidFill>
                  <a:srgbClr val="C00000"/>
                </a:solidFill>
              </a:rPr>
              <a:t> </a:t>
            </a:r>
            <a:r>
              <a:rPr kumimoji="1" lang="en-US" altLang="zh-CN" dirty="0" smtClean="0">
                <a:solidFill>
                  <a:srgbClr val="C00000"/>
                </a:solidFill>
              </a:rPr>
              <a:t>IO</a:t>
            </a:r>
            <a:r>
              <a:rPr kumimoji="1" lang="zh-CN" altLang="en-US" dirty="0" smtClean="0"/>
              <a:t>，可能说明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过小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2961547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LockManager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LockManager</a:t>
            </a:r>
            <a:r>
              <a:rPr kumimoji="1" lang="zh-CN" altLang="en-US" dirty="0" smtClean="0"/>
              <a:t>模块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spinlock</a:t>
            </a:r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regular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heavyweight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SiRead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</a:p>
          <a:p>
            <a:r>
              <a:rPr kumimoji="1" lang="zh-CN" altLang="en-US" dirty="0" smtClean="0"/>
              <a:t>基于</a:t>
            </a:r>
            <a:r>
              <a:rPr kumimoji="1" lang="en-US" altLang="zh-CN" dirty="0" err="1" smtClean="0"/>
              <a:t>SIReadLock</a:t>
            </a:r>
            <a:r>
              <a:rPr kumimoji="1" lang="zh-CN" altLang="en-US" dirty="0" smtClean="0"/>
              <a:t>检测</a:t>
            </a:r>
            <a:r>
              <a:rPr kumimoji="1" lang="zh-CN" altLang="en-US" dirty="0"/>
              <a:t>序列化异常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LockManager</a:t>
            </a:r>
            <a:r>
              <a:rPr kumimoji="1" lang="zh-CN" altLang="en-US" dirty="0" smtClean="0"/>
              <a:t>小结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802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与</a:t>
            </a:r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LockManager</a:t>
            </a:r>
            <a:r>
              <a:rPr kumimoji="1" lang="zh-CN" altLang="en-US" dirty="0"/>
              <a:t>模块</a:t>
            </a:r>
            <a:endParaRPr kumimoji="1" lang="en-US" altLang="zh-CN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7393639"/>
              </p:ext>
            </p:extLst>
          </p:nvPr>
        </p:nvGraphicFramePr>
        <p:xfrm>
          <a:off x="838200" y="1825625"/>
          <a:ext cx="10792326" cy="4125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7442"/>
                <a:gridCol w="3597442"/>
                <a:gridCol w="3597442"/>
              </a:tblGrid>
              <a:tr h="687666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 smtClean="0"/>
                        <a:t>InnoDB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PostgreSQL</a:t>
                      </a:r>
                      <a:endParaRPr lang="zh-CN" altLang="en-US" dirty="0"/>
                    </a:p>
                  </a:txBody>
                  <a:tcPr/>
                </a:tc>
              </a:tr>
              <a:tr h="687666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MVCC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UNDO</a:t>
                      </a:r>
                      <a:r>
                        <a:rPr lang="zh-CN" altLang="en-US" dirty="0" smtClean="0"/>
                        <a:t>空间支持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数据带版本号，放在原表中支持</a:t>
                      </a:r>
                      <a:endParaRPr lang="zh-CN" altLang="en-US" dirty="0"/>
                    </a:p>
                  </a:txBody>
                  <a:tcPr/>
                </a:tc>
              </a:tr>
              <a:tr h="687666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默认隔离级别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RR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RC</a:t>
                      </a:r>
                    </a:p>
                  </a:txBody>
                  <a:tcPr/>
                </a:tc>
              </a:tr>
              <a:tr h="687666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幻读避免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间隙锁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事务级别快照</a:t>
                      </a:r>
                      <a:endParaRPr lang="en-US" altLang="zh-CN" dirty="0" smtClean="0"/>
                    </a:p>
                  </a:txBody>
                  <a:tcPr/>
                </a:tc>
              </a:tr>
              <a:tr h="687666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死锁处理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死锁检测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死锁检测</a:t>
                      </a:r>
                    </a:p>
                  </a:txBody>
                  <a:tcPr/>
                </a:tc>
              </a:tr>
              <a:tr h="687666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锁粒度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有行级别，有表级别，有意向锁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有行级别，有表级别，无意向锁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18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spinlock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spinlock</a:t>
            </a:r>
          </a:p>
          <a:p>
            <a:pPr lvl="1"/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/>
              <a:t>的基础</a:t>
            </a:r>
            <a:r>
              <a:rPr kumimoji="1" lang="zh-CN" altLang="en-US" dirty="0" smtClean="0"/>
              <a:t>设施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忙等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一种模式（获得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没获得）</a:t>
            </a:r>
            <a:endParaRPr kumimoji="1" lang="en-US" altLang="zh-CN" dirty="0" smtClean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r>
              <a:rPr kumimoji="1" lang="en-US" altLang="zh-CN" dirty="0" err="1" smtClean="0">
                <a:solidFill>
                  <a:schemeClr val="accent3"/>
                </a:solidFill>
              </a:rPr>
              <a:t>s_lock.h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557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792"/>
    </mc:Choice>
    <mc:Fallback xmlns="">
      <p:transition spd="slow" advTm="21792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lightweight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Lightweight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</a:p>
          <a:p>
            <a:pPr lvl="1"/>
            <a:r>
              <a:rPr kumimoji="1" lang="zh-CN" altLang="en-US" dirty="0" smtClean="0"/>
              <a:t>用处：</a:t>
            </a:r>
            <a:endParaRPr kumimoji="1" lang="en-US" altLang="zh-CN" dirty="0" smtClean="0"/>
          </a:p>
          <a:p>
            <a:pPr lvl="2"/>
            <a:r>
              <a:rPr kumimoji="1" lang="en-US" altLang="zh-CN" b="1" dirty="0" smtClean="0"/>
              <a:t>Shared</a:t>
            </a:r>
            <a:r>
              <a:rPr kumimoji="1" lang="zh-CN" altLang="en-US" b="1" dirty="0" smtClean="0"/>
              <a:t> </a:t>
            </a:r>
            <a:r>
              <a:rPr kumimoji="1" lang="en-US" altLang="zh-CN" b="1" dirty="0" smtClean="0"/>
              <a:t>buffer</a:t>
            </a:r>
            <a:r>
              <a:rPr kumimoji="1" lang="zh-CN" altLang="en-US" dirty="0" smtClean="0"/>
              <a:t>中数据对象访问的锁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有共享和排他</a:t>
            </a:r>
            <a:r>
              <a:rPr kumimoji="1" lang="zh-CN" altLang="en-US" b="1" dirty="0" smtClean="0"/>
              <a:t>两种模式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获取和释放都很快，没有死锁检测</a:t>
            </a:r>
            <a:endParaRPr kumimoji="1" lang="en-US" altLang="zh-CN" dirty="0" smtClean="0"/>
          </a:p>
          <a:p>
            <a:pPr lvl="2"/>
            <a:r>
              <a:rPr kumimoji="1" lang="zh-CN" altLang="en-US" dirty="0"/>
              <a:t>只能</a:t>
            </a:r>
            <a:r>
              <a:rPr kumimoji="1" lang="zh-CN" altLang="en-US" dirty="0" smtClean="0"/>
              <a:t>从</a:t>
            </a:r>
            <a:r>
              <a:rPr kumimoji="1" lang="en-US" altLang="zh-CN" dirty="0" err="1" smtClean="0"/>
              <a:t>pg_stat_activity</a:t>
            </a:r>
            <a:r>
              <a:rPr kumimoji="1" lang="zh-CN" altLang="en-US" dirty="0"/>
              <a:t>查看</a:t>
            </a:r>
            <a:r>
              <a:rPr lang="en-US" altLang="zh-CN" dirty="0" err="1"/>
              <a:t>wait_event_type</a:t>
            </a:r>
            <a:r>
              <a:rPr lang="zh-CN" altLang="en-US" dirty="0" smtClean="0"/>
              <a:t>，看到等待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。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代码中控制</a:t>
            </a:r>
            <a:endParaRPr kumimoji="1" lang="en-US" altLang="zh-CN" dirty="0" smtClean="0"/>
          </a:p>
          <a:p>
            <a:pPr lvl="3"/>
            <a:r>
              <a:rPr kumimoji="1" lang="en-US" altLang="zh-CN" dirty="0" smtClean="0"/>
              <a:t>(</a:t>
            </a:r>
            <a:r>
              <a:rPr kumimoji="1" lang="zh-CN" altLang="en-US" dirty="0" smtClean="0"/>
              <a:t>立马返回</a:t>
            </a:r>
            <a:r>
              <a:rPr kumimoji="1" lang="en-US" altLang="zh-CN" dirty="0" smtClean="0"/>
              <a:t>)Bool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LWLockConditionalAcquire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pPr lvl="3"/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FIFO</a:t>
            </a:r>
            <a:r>
              <a:rPr kumimoji="1" lang="zh-CN" altLang="en-US" dirty="0" smtClean="0"/>
              <a:t>）</a:t>
            </a:r>
            <a:r>
              <a:rPr kumimoji="1" lang="en-US" altLang="zh-CN" dirty="0" smtClean="0"/>
              <a:t>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92018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660"/>
    </mc:Choice>
    <mc:Fallback xmlns="">
      <p:transition spd="slow" advTm="66660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regular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  <a:r>
              <a:rPr kumimoji="1" lang="zh-CN" altLang="en-US" dirty="0"/>
              <a:t>（</a:t>
            </a:r>
            <a:r>
              <a:rPr kumimoji="1" lang="en-US" altLang="zh-CN" dirty="0"/>
              <a:t>heavyweight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  <a:r>
              <a:rPr kumimoji="1" lang="zh-CN" altLang="en-US" dirty="0"/>
              <a:t>）</a:t>
            </a:r>
            <a:endParaRPr kumimoji="1"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Regular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lock/heavyweight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en-US" altLang="zh-CN" dirty="0"/>
          </a:p>
          <a:p>
            <a:pPr lvl="1"/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用户</a:t>
            </a:r>
            <a:r>
              <a:rPr kumimoji="1" lang="en-US" altLang="zh-CN" dirty="0" smtClean="0"/>
              <a:t>SQL</a:t>
            </a:r>
            <a:r>
              <a:rPr kumimoji="1" lang="zh-CN" altLang="en-US" dirty="0" smtClean="0"/>
              <a:t>语句主动或间接请求的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在</a:t>
            </a:r>
            <a:r>
              <a:rPr kumimoji="1" lang="en-US" altLang="zh-CN" dirty="0" err="1" smtClean="0"/>
              <a:t>pg_locks</a:t>
            </a:r>
            <a:r>
              <a:rPr kumimoji="1" lang="zh-CN" altLang="en-US" dirty="0" smtClean="0"/>
              <a:t>中可见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8</a:t>
            </a:r>
            <a:r>
              <a:rPr kumimoji="1" lang="zh-CN" altLang="en-US" dirty="0" smtClean="0"/>
              <a:t>种不同的模式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有死锁检测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s2pl</a:t>
            </a:r>
            <a:r>
              <a:rPr kumimoji="1" lang="zh-CN" altLang="en-US" dirty="0" smtClean="0"/>
              <a:t>，事务结束自动释放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26633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471"/>
    </mc:Choice>
    <mc:Fallback xmlns="">
      <p:transition spd="slow" advTm="58471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SiRead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err="1"/>
              <a:t>SIRead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</a:p>
          <a:p>
            <a:pPr lvl="1"/>
            <a:r>
              <a:rPr kumimoji="1" lang="zh-CN" altLang="en-US" dirty="0" smtClean="0"/>
              <a:t>快照隔离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RC——</a:t>
            </a:r>
            <a:r>
              <a:rPr kumimoji="1" lang="zh-CN" altLang="en-US" dirty="0" smtClean="0"/>
              <a:t>语句快照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RR——</a:t>
            </a:r>
            <a:r>
              <a:rPr kumimoji="1" lang="zh-CN" altLang="en-US" dirty="0" smtClean="0"/>
              <a:t>事务快照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SI——9.1</a:t>
            </a:r>
            <a:r>
              <a:rPr kumimoji="1" lang="zh-CN" altLang="en-US" dirty="0" smtClean="0"/>
              <a:t>之后才有基于</a:t>
            </a:r>
            <a:r>
              <a:rPr kumimoji="1" lang="en-US" altLang="zh-CN" dirty="0" err="1" smtClean="0"/>
              <a:t>SIRead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的</a:t>
            </a:r>
            <a:r>
              <a:rPr lang="zh-CN" altLang="en-US" dirty="0" smtClean="0"/>
              <a:t>序列化快照隔离（</a:t>
            </a:r>
            <a:r>
              <a:rPr lang="en-US" altLang="zh-CN" dirty="0" smtClean="0"/>
              <a:t>SSI</a:t>
            </a:r>
            <a:r>
              <a:rPr lang="zh-CN" altLang="en-US" dirty="0" smtClean="0"/>
              <a:t>）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快</a:t>
            </a:r>
            <a:r>
              <a:rPr kumimoji="1" lang="zh-CN" altLang="en-US" dirty="0"/>
              <a:t>照隔离</a:t>
            </a:r>
            <a:r>
              <a:rPr kumimoji="1" lang="zh-CN" altLang="en-US" dirty="0" smtClean="0"/>
              <a:t>序列化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事务</a:t>
            </a:r>
            <a:r>
              <a:rPr kumimoji="1" lang="zh-CN" altLang="en-US" dirty="0"/>
              <a:t>依赖图中，如果</a:t>
            </a:r>
            <a:r>
              <a:rPr kumimoji="1" lang="zh-CN" altLang="en-US" b="1" dirty="0"/>
              <a:t>有环</a:t>
            </a:r>
            <a:r>
              <a:rPr kumimoji="1" lang="zh-CN" altLang="en-US" dirty="0"/>
              <a:t>且环中</a:t>
            </a:r>
            <a:r>
              <a:rPr kumimoji="1" lang="zh-CN" altLang="en-US" b="1" dirty="0"/>
              <a:t>有</a:t>
            </a:r>
            <a:r>
              <a:rPr kumimoji="1" lang="en-US" altLang="zh-CN" b="1" dirty="0"/>
              <a:t>T1-(</a:t>
            </a:r>
            <a:r>
              <a:rPr kumimoji="1" lang="en-US" altLang="zh-CN" b="1" dirty="0" err="1"/>
              <a:t>rw</a:t>
            </a:r>
            <a:r>
              <a:rPr kumimoji="1" lang="en-US" altLang="zh-CN" b="1" dirty="0"/>
              <a:t>)-&gt;T2-(</a:t>
            </a:r>
            <a:r>
              <a:rPr kumimoji="1" lang="en-US" altLang="zh-CN" b="1" dirty="0" err="1"/>
              <a:t>rw</a:t>
            </a:r>
            <a:r>
              <a:rPr kumimoji="1" lang="en-US" altLang="zh-CN" b="1" dirty="0"/>
              <a:t>)-&gt;T3</a:t>
            </a:r>
            <a:r>
              <a:rPr kumimoji="1" lang="zh-CN" altLang="en-US" dirty="0" smtClean="0"/>
              <a:t>，就</a:t>
            </a:r>
            <a:r>
              <a:rPr kumimoji="1" lang="zh-CN" altLang="en-US" dirty="0"/>
              <a:t>可能出现序列化异常。</a:t>
            </a:r>
            <a:endParaRPr kumimoji="1" lang="en-US" altLang="zh-CN" dirty="0"/>
          </a:p>
          <a:p>
            <a:pPr lvl="2"/>
            <a:r>
              <a:rPr kumimoji="1" lang="en-US" altLang="zh-CN" dirty="0" smtClean="0"/>
              <a:t>PostgreSQL</a:t>
            </a:r>
            <a:r>
              <a:rPr lang="zh-CN" altLang="en-US" dirty="0" smtClean="0"/>
              <a:t>通过</a:t>
            </a:r>
            <a:r>
              <a:rPr lang="zh-CN" altLang="en-US" b="1" dirty="0"/>
              <a:t>检测事务之间的读写依赖</a:t>
            </a:r>
            <a:r>
              <a:rPr lang="zh-CN" altLang="en-US" dirty="0"/>
              <a:t>实现序列化，且出于性能考虑</a:t>
            </a:r>
            <a:r>
              <a:rPr kumimoji="1" lang="zh-CN" altLang="en-US" dirty="0"/>
              <a:t>只检测一个</a:t>
            </a:r>
            <a:r>
              <a:rPr kumimoji="1" lang="zh-CN" altLang="en-US" dirty="0" smtClean="0"/>
              <a:t>条件</a:t>
            </a:r>
            <a:endParaRPr kumimoji="1" lang="en-US" altLang="zh-CN" dirty="0" smtClean="0"/>
          </a:p>
        </p:txBody>
      </p:sp>
      <p:pic>
        <p:nvPicPr>
          <p:cNvPr id="5" name="内容占位符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0" y="5275263"/>
            <a:ext cx="4953000" cy="90170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448573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143"/>
    </mc:Choice>
    <mc:Fallback xmlns="">
      <p:transition spd="slow" advTm="78143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SiRead</a:t>
            </a:r>
            <a:r>
              <a:rPr kumimoji="1" lang="zh-CN" altLang="en-US" dirty="0"/>
              <a:t> </a:t>
            </a:r>
            <a:r>
              <a:rPr kumimoji="1" lang="en-US" altLang="zh-CN" dirty="0"/>
              <a:t>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事务之间的依赖，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ww</a:t>
            </a:r>
            <a:r>
              <a:rPr kumimoji="1" lang="en-US" altLang="zh-CN" dirty="0" smtClean="0"/>
              <a:t>)-&gt;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wr</a:t>
            </a:r>
            <a:r>
              <a:rPr kumimoji="1" lang="en-US" altLang="zh-CN" dirty="0"/>
              <a:t>)</a:t>
            </a:r>
            <a:r>
              <a:rPr kumimoji="1" lang="en-US" altLang="zh-CN" dirty="0" smtClean="0"/>
              <a:t>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 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 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rw</a:t>
            </a:r>
            <a:r>
              <a:rPr kumimoji="1" lang="en-US" altLang="zh-CN" dirty="0" smtClean="0"/>
              <a:t>)-&gt;T2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 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717516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55"/>
    </mc:Choice>
    <mc:Fallback xmlns="">
      <p:transition spd="slow" advTm="54755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SIReadLock</a:t>
            </a:r>
            <a:r>
              <a:rPr kumimoji="1" lang="en-US" altLang="zh-CN" dirty="0" smtClean="0"/>
              <a:t>-PG</a:t>
            </a:r>
            <a:r>
              <a:rPr kumimoji="1" lang="zh-CN" altLang="en-US" dirty="0" smtClean="0"/>
              <a:t>中如何检测序列化异常</a:t>
            </a:r>
            <a:endParaRPr kumimoji="1"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CN" altLang="en-US" dirty="0" smtClean="0"/>
              <a:t>创建</a:t>
            </a:r>
            <a:r>
              <a:rPr lang="en-US" altLang="zh-CN" dirty="0"/>
              <a:t>SIREAD lock </a:t>
            </a:r>
            <a:r>
              <a:rPr lang="zh-CN" altLang="en-US" dirty="0" smtClean="0"/>
              <a:t>（类似于意向锁）</a:t>
            </a:r>
            <a:endParaRPr lang="en-US" altLang="zh-CN" dirty="0"/>
          </a:p>
          <a:p>
            <a:pPr lvl="1"/>
            <a:r>
              <a:rPr lang="zh-CN" altLang="en-US" dirty="0" smtClean="0"/>
              <a:t>就是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中的</a:t>
            </a:r>
            <a:r>
              <a:rPr lang="en-US" altLang="zh-CN" dirty="0"/>
              <a:t>predicate </a:t>
            </a:r>
            <a:r>
              <a:rPr lang="en-US" altLang="zh-CN" dirty="0" smtClean="0"/>
              <a:t>lock</a:t>
            </a:r>
            <a:r>
              <a:rPr lang="zh-CN" altLang="en-US" dirty="0" smtClean="0"/>
              <a:t>，包含两个信息（</a:t>
            </a:r>
            <a:r>
              <a:rPr lang="en-US" altLang="zh-CN" dirty="0" smtClean="0"/>
              <a:t>object</a:t>
            </a:r>
            <a:r>
              <a:rPr lang="zh-CN" altLang="en-US" dirty="0" smtClean="0"/>
              <a:t>，</a:t>
            </a:r>
            <a:r>
              <a:rPr lang="en-US" altLang="zh-CN" dirty="0" err="1" smtClean="0"/>
              <a:t>tid</a:t>
            </a:r>
            <a:r>
              <a:rPr lang="zh-CN" altLang="en-US" dirty="0" smtClean="0"/>
              <a:t>）；</a:t>
            </a:r>
            <a:endParaRPr lang="en-US" altLang="zh-CN" dirty="0" smtClean="0"/>
          </a:p>
          <a:p>
            <a:pPr lvl="2"/>
            <a:r>
              <a:rPr lang="en-US" altLang="zh-CN" dirty="0" err="1" smtClean="0"/>
              <a:t>tidx</a:t>
            </a:r>
            <a:r>
              <a:rPr lang="zh-CN" altLang="en-US" dirty="0" smtClean="0"/>
              <a:t>创建一个</a:t>
            </a:r>
            <a:r>
              <a:rPr lang="en-US" altLang="zh-CN" dirty="0" smtClean="0"/>
              <a:t>SIREAD lock {A, {</a:t>
            </a:r>
            <a:r>
              <a:rPr lang="en-US" altLang="zh-CN" dirty="0" err="1" smtClean="0"/>
              <a:t>tidx</a:t>
            </a:r>
            <a:r>
              <a:rPr lang="en-US" altLang="zh-CN" dirty="0" smtClean="0"/>
              <a:t>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pPr lvl="2"/>
            <a:r>
              <a:rPr lang="en-US" altLang="zh-CN" dirty="0" smtClean="0"/>
              <a:t>tidy</a:t>
            </a:r>
            <a:r>
              <a:rPr lang="zh-CN" altLang="en-US" dirty="0" smtClean="0"/>
              <a:t>创建</a:t>
            </a:r>
            <a:r>
              <a:rPr lang="zh-CN" altLang="en-US" dirty="0"/>
              <a:t>一个</a:t>
            </a:r>
            <a:r>
              <a:rPr lang="en-US" altLang="zh-CN" dirty="0"/>
              <a:t>SIREAD lock </a:t>
            </a:r>
            <a:r>
              <a:rPr lang="en-US" altLang="zh-CN" dirty="0" smtClean="0"/>
              <a:t>{B, </a:t>
            </a:r>
            <a:r>
              <a:rPr lang="en-US" altLang="zh-CN" dirty="0"/>
              <a:t>{</a:t>
            </a:r>
            <a:r>
              <a:rPr lang="en-US" altLang="zh-CN" dirty="0" smtClean="0"/>
              <a:t>tidy}}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合并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有三个级别：</a:t>
            </a:r>
            <a:r>
              <a:rPr lang="en-US" altLang="zh-CN" dirty="0" smtClean="0"/>
              <a:t>tuple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page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relation</a:t>
            </a:r>
            <a:r>
              <a:rPr lang="zh-CN" altLang="en-US" dirty="0" smtClean="0"/>
              <a:t>；小的会合并为大的</a:t>
            </a:r>
            <a:endParaRPr lang="en-US" altLang="zh-CN" dirty="0" smtClean="0"/>
          </a:p>
          <a:p>
            <a:r>
              <a:rPr lang="en-US" altLang="zh-CN" dirty="0" err="1" smtClean="0"/>
              <a:t>Rw</a:t>
            </a:r>
            <a:r>
              <a:rPr lang="zh-CN" altLang="en-US" dirty="0" smtClean="0"/>
              <a:t>依赖检查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当执行写操作时，发现有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依赖，那么创建一个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依赖结构</a:t>
            </a:r>
            <a:endParaRPr lang="en-US" altLang="zh-CN" dirty="0"/>
          </a:p>
          <a:p>
            <a:pPr lvl="1"/>
            <a:r>
              <a:rPr lang="fi-FI" altLang="zh-CN" dirty="0" smtClean="0"/>
              <a:t>{r=</a:t>
            </a:r>
            <a:r>
              <a:rPr lang="en-US" altLang="zh-CN" dirty="0" smtClean="0"/>
              <a:t>tidy</a:t>
            </a:r>
            <a:r>
              <a:rPr lang="fi-FI" altLang="zh-CN" dirty="0" smtClean="0"/>
              <a:t>, w=</a:t>
            </a:r>
            <a:r>
              <a:rPr lang="en-US" altLang="zh-CN" dirty="0" err="1" smtClean="0"/>
              <a:t>tidx</a:t>
            </a:r>
            <a:r>
              <a:rPr lang="fi-FI" altLang="zh-CN" dirty="0" smtClean="0"/>
              <a:t>, {</a:t>
            </a:r>
            <a:r>
              <a:rPr lang="en-US" altLang="zh-CN" dirty="0" smtClean="0"/>
              <a:t>B</a:t>
            </a:r>
            <a:r>
              <a:rPr lang="fi-FI" altLang="zh-CN" dirty="0" smtClean="0"/>
              <a:t>}} </a:t>
            </a:r>
            <a:endParaRPr lang="en-US" altLang="zh-CN" dirty="0"/>
          </a:p>
          <a:p>
            <a:pPr lvl="1"/>
            <a:r>
              <a:rPr lang="fi-FI" altLang="zh-CN" dirty="0"/>
              <a:t>{r=</a:t>
            </a:r>
            <a:r>
              <a:rPr lang="en-US" altLang="zh-CN" dirty="0" err="1"/>
              <a:t>tidx</a:t>
            </a:r>
            <a:r>
              <a:rPr lang="fi-FI" altLang="zh-CN" dirty="0"/>
              <a:t>, w=</a:t>
            </a:r>
            <a:r>
              <a:rPr lang="en-US" altLang="zh-CN" dirty="0"/>
              <a:t>tidy</a:t>
            </a:r>
            <a:r>
              <a:rPr lang="fi-FI" altLang="zh-CN" dirty="0"/>
              <a:t>, {</a:t>
            </a:r>
            <a:r>
              <a:rPr lang="en-US" altLang="zh-CN" dirty="0"/>
              <a:t>A</a:t>
            </a:r>
            <a:r>
              <a:rPr lang="fi-FI" altLang="zh-CN" dirty="0" smtClean="0"/>
              <a:t>}}</a:t>
            </a:r>
            <a:endParaRPr lang="en-US" altLang="zh-CN" dirty="0" smtClean="0"/>
          </a:p>
          <a:p>
            <a:r>
              <a:rPr kumimoji="1" lang="zh-CN" altLang="en-US" dirty="0" smtClean="0"/>
              <a:t>提交：发现</a:t>
            </a:r>
            <a:r>
              <a:rPr kumimoji="1" lang="en-US" altLang="zh-CN" dirty="0" smtClean="0"/>
              <a:t>tidy</a:t>
            </a:r>
            <a:r>
              <a:rPr kumimoji="1" lang="zh-CN" altLang="en-US" dirty="0" smtClean="0"/>
              <a:t>作为</a:t>
            </a:r>
            <a:r>
              <a:rPr kumimoji="1" lang="en-US" altLang="zh-CN" dirty="0" err="1" smtClean="0"/>
              <a:t>Tpivot</a:t>
            </a:r>
            <a:r>
              <a:rPr kumimoji="1" lang="zh-CN" altLang="en-US" dirty="0" smtClean="0"/>
              <a:t>，有一个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出边和一个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入边，则按照</a:t>
            </a:r>
            <a:r>
              <a:rPr kumimoji="1" lang="en-US" altLang="zh-CN" dirty="0" smtClean="0"/>
              <a:t>first-</a:t>
            </a:r>
            <a:r>
              <a:rPr kumimoji="1" lang="en-US" altLang="zh-CN" dirty="0" err="1" smtClean="0"/>
              <a:t>commiter</a:t>
            </a:r>
            <a:r>
              <a:rPr kumimoji="1" lang="en-US" altLang="zh-CN" dirty="0" smtClean="0"/>
              <a:t>-win</a:t>
            </a:r>
            <a:r>
              <a:rPr kumimoji="1" lang="zh-CN" altLang="en-US" dirty="0" smtClean="0"/>
              <a:t>进行处理</a:t>
            </a:r>
            <a:endParaRPr kumimoji="1"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/>
          </p:nvPr>
        </p:nvGraphicFramePr>
        <p:xfrm>
          <a:off x="9251951" y="3100864"/>
          <a:ext cx="1892300" cy="1800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65013"/>
                <a:gridCol w="827287"/>
              </a:tblGrid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1</a:t>
                      </a:r>
                      <a:r>
                        <a:rPr lang="zh-CN" alt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tidx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2</a:t>
                      </a:r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tidy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A；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B；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update B=A;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update A=B;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commit;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200" u="none" strike="noStrike" dirty="0" smtClean="0">
                          <a:effectLst/>
                        </a:rPr>
                        <a:t>abort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531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3984"/>
    </mc:Choice>
    <mc:Fallback xmlns="">
      <p:transition spd="slow" advTm="93984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LockManager</a:t>
            </a:r>
            <a:r>
              <a:rPr kumimoji="1" lang="zh-CN" altLang="en-US" dirty="0"/>
              <a:t>小结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>
                <a:solidFill>
                  <a:srgbClr val="C00000"/>
                </a:solidFill>
              </a:rPr>
              <a:t>max_locks_per_transaction</a:t>
            </a:r>
            <a:r>
              <a:rPr lang="en-US" altLang="zh-CN" dirty="0" smtClean="0"/>
              <a:t>:</a:t>
            </a:r>
            <a:r>
              <a:rPr kumimoji="1" lang="zh-CN" altLang="en-US" dirty="0" smtClean="0"/>
              <a:t>每个事务的锁的锁的数量有上限</a:t>
            </a:r>
            <a:endParaRPr kumimoji="1" lang="en-US" altLang="zh-CN" dirty="0" smtClean="0"/>
          </a:p>
          <a:p>
            <a:r>
              <a:rPr kumimoji="1" lang="en-US" altLang="zh-CN" dirty="0" smtClean="0">
                <a:solidFill>
                  <a:srgbClr val="C00000"/>
                </a:solidFill>
              </a:rPr>
              <a:t>DDL</a:t>
            </a:r>
            <a:r>
              <a:rPr kumimoji="1" lang="zh-CN" altLang="en-US" dirty="0" smtClean="0">
                <a:solidFill>
                  <a:srgbClr val="C00000"/>
                </a:solidFill>
              </a:rPr>
              <a:t>前</a:t>
            </a:r>
            <a:r>
              <a:rPr kumimoji="1" lang="zh-CN" altLang="en-US" dirty="0" smtClean="0">
                <a:solidFill>
                  <a:srgbClr val="C00000"/>
                </a:solidFill>
              </a:rPr>
              <a:t>确保无查询，</a:t>
            </a:r>
            <a:r>
              <a:rPr kumimoji="1" lang="zh-CN" altLang="en-US" dirty="0" smtClean="0"/>
              <a:t>避免</a:t>
            </a:r>
            <a:r>
              <a:rPr kumimoji="1" lang="zh-CN" altLang="en-US" dirty="0"/>
              <a:t>慢</a:t>
            </a:r>
            <a:r>
              <a:rPr kumimoji="1" lang="zh-CN" altLang="en-US" dirty="0" smtClean="0"/>
              <a:t>查询阻塞</a:t>
            </a:r>
            <a:r>
              <a:rPr kumimoji="1" lang="en-US" altLang="zh-CN" dirty="0" smtClean="0"/>
              <a:t>DDL</a:t>
            </a:r>
            <a:r>
              <a:rPr kumimoji="1" lang="zh-CN" altLang="en-US" dirty="0" smtClean="0"/>
              <a:t>，从而造成</a:t>
            </a:r>
            <a:r>
              <a:rPr kumimoji="1" lang="zh-CN" altLang="en-US" dirty="0"/>
              <a:t>级联</a:t>
            </a:r>
            <a:r>
              <a:rPr kumimoji="1" lang="zh-CN" altLang="en-US" dirty="0" smtClean="0"/>
              <a:t>等待</a:t>
            </a:r>
            <a:endParaRPr kumimoji="1" lang="en-US" altLang="zh-CN" dirty="0" smtClean="0"/>
          </a:p>
          <a:p>
            <a:r>
              <a:rPr kumimoji="1" lang="en-US" altLang="zh-CN" dirty="0" smtClean="0">
                <a:solidFill>
                  <a:srgbClr val="C00000"/>
                </a:solidFill>
              </a:rPr>
              <a:t>Skip</a:t>
            </a:r>
            <a:r>
              <a:rPr kumimoji="1" lang="zh-CN" altLang="en-US" dirty="0" smtClean="0">
                <a:solidFill>
                  <a:srgbClr val="C00000"/>
                </a:solidFill>
              </a:rPr>
              <a:t> </a:t>
            </a:r>
            <a:r>
              <a:rPr kumimoji="1" lang="en-US" altLang="zh-CN" dirty="0" smtClean="0">
                <a:solidFill>
                  <a:srgbClr val="C00000"/>
                </a:solidFill>
              </a:rPr>
              <a:t>locked</a:t>
            </a:r>
            <a:r>
              <a:rPr kumimoji="1" lang="zh-CN" altLang="en-US" dirty="0" smtClean="0"/>
              <a:t>，避免部分行数据的锁等待；</a:t>
            </a:r>
            <a:endParaRPr lang="en-US" altLang="zh-CN" dirty="0" smtClean="0"/>
          </a:p>
          <a:p>
            <a:r>
              <a:rPr kumimoji="1" lang="zh-CN" altLang="en-US" dirty="0" smtClean="0"/>
              <a:t>热点</a:t>
            </a:r>
            <a:r>
              <a:rPr kumimoji="1" lang="zh-CN" altLang="en-US" dirty="0" smtClean="0"/>
              <a:t>数据更新事务中显式使用</a:t>
            </a:r>
            <a:r>
              <a:rPr kumimoji="1" lang="en-US" altLang="zh-CN" dirty="0" smtClean="0">
                <a:solidFill>
                  <a:srgbClr val="C00000"/>
                </a:solidFill>
              </a:rPr>
              <a:t>advisory</a:t>
            </a:r>
            <a:r>
              <a:rPr kumimoji="1" lang="zh-CN" altLang="en-US" dirty="0" smtClean="0">
                <a:solidFill>
                  <a:srgbClr val="C00000"/>
                </a:solidFill>
              </a:rPr>
              <a:t> </a:t>
            </a:r>
            <a:r>
              <a:rPr kumimoji="1" lang="en-US" altLang="zh-CN" dirty="0" smtClean="0">
                <a:solidFill>
                  <a:srgbClr val="C00000"/>
                </a:solidFill>
              </a:rPr>
              <a:t>locks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en-US" altLang="zh-CN" dirty="0" err="1" smtClean="0">
                <a:solidFill>
                  <a:srgbClr val="C00000"/>
                </a:solidFill>
              </a:rPr>
              <a:t>Upsert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Insert</a:t>
            </a:r>
            <a:r>
              <a:rPr kumimoji="1" lang="zh-CN" altLang="en-US" dirty="0" smtClean="0"/>
              <a:t> </a:t>
            </a:r>
            <a:r>
              <a:rPr lang="en-US" altLang="zh-CN" dirty="0"/>
              <a:t>ON </a:t>
            </a:r>
            <a:r>
              <a:rPr lang="en-US" altLang="zh-CN" dirty="0" smtClean="0"/>
              <a:t>CONFLICT</a:t>
            </a:r>
            <a:r>
              <a:rPr lang="zh-CN" altLang="en-US" dirty="0" smtClean="0"/>
              <a:t> </a:t>
            </a:r>
            <a:r>
              <a:rPr lang="en-US" altLang="zh-CN" dirty="0" smtClean="0"/>
              <a:t>DO</a:t>
            </a:r>
            <a:r>
              <a:rPr lang="zh-CN" altLang="en-US" dirty="0" smtClean="0"/>
              <a:t> </a:t>
            </a:r>
            <a:r>
              <a:rPr lang="mr-IN" altLang="zh-CN" dirty="0" smtClean="0"/>
              <a:t>…</a:t>
            </a:r>
            <a:endParaRPr lang="en-US" altLang="zh-CN" dirty="0" smtClean="0"/>
          </a:p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668434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LogManager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LogManager</a:t>
            </a:r>
            <a:r>
              <a:rPr kumimoji="1" lang="zh-CN" altLang="en-US" dirty="0" smtClean="0"/>
              <a:t>模块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的提交策略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日志</a:t>
            </a:r>
            <a:endParaRPr kumimoji="1" lang="en-US" altLang="zh-CN" dirty="0" smtClean="0"/>
          </a:p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的故障恢复与主从复制</a:t>
            </a:r>
            <a:endParaRPr kumimoji="1" lang="en-US" altLang="zh-CN" dirty="0" smtClean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LogManager</a:t>
            </a:r>
            <a:r>
              <a:rPr kumimoji="1" lang="zh-CN" altLang="en-US" dirty="0" smtClean="0"/>
              <a:t>的小结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5873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与</a:t>
            </a:r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LogManager</a:t>
            </a:r>
            <a:r>
              <a:rPr kumimoji="1" lang="zh-CN" altLang="en-US" dirty="0"/>
              <a:t>模块</a:t>
            </a:r>
            <a:endParaRPr kumimoji="1" lang="en-US" altLang="zh-CN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2038132"/>
              </p:ext>
            </p:extLst>
          </p:nvPr>
        </p:nvGraphicFramePr>
        <p:xfrm>
          <a:off x="838200" y="1825624"/>
          <a:ext cx="10663989" cy="4270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4663"/>
                <a:gridCol w="3554663"/>
                <a:gridCol w="3554663"/>
              </a:tblGrid>
              <a:tr h="711729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角度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 smtClean="0"/>
                        <a:t>InnoDB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PostgreSQL</a:t>
                      </a:r>
                      <a:endParaRPr lang="zh-CN" altLang="en-US" dirty="0"/>
                    </a:p>
                  </a:txBody>
                  <a:tcPr/>
                </a:tc>
              </a:tr>
              <a:tr h="711729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Redo</a:t>
                      </a:r>
                      <a:r>
                        <a:rPr lang="zh-CN" altLang="en-US" dirty="0" smtClean="0"/>
                        <a:t>日志存储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dirty="0" smtClean="0"/>
                        <a:t>分段的</a:t>
                      </a:r>
                      <a:r>
                        <a:rPr lang="en-US" altLang="zh-CN" dirty="0" smtClean="0"/>
                        <a:t>PHYSIOLOGICAL</a:t>
                      </a:r>
                      <a:r>
                        <a:rPr lang="zh-CN" altLang="en-US" dirty="0" smtClean="0"/>
                        <a:t>日志</a:t>
                      </a:r>
                      <a:r>
                        <a:rPr kumimoji="1" lang="zh-CN" altLang="en-US" dirty="0" smtClean="0"/>
                        <a:t>，总大小有上限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dirty="0" smtClean="0"/>
                        <a:t>分段的</a:t>
                      </a:r>
                      <a:r>
                        <a:rPr lang="en-US" altLang="zh-CN" dirty="0" smtClean="0"/>
                        <a:t>PHYSIOLOGICAL</a:t>
                      </a:r>
                      <a:r>
                        <a:rPr lang="zh-CN" altLang="en-US" dirty="0" smtClean="0"/>
                        <a:t>日志</a:t>
                      </a:r>
                      <a:r>
                        <a:rPr kumimoji="1" lang="zh-CN" altLang="en-US" dirty="0" smtClean="0"/>
                        <a:t>，异常情况可能超过上限，撑爆磁盘</a:t>
                      </a:r>
                      <a:endParaRPr lang="zh-CN" altLang="en-US" dirty="0"/>
                    </a:p>
                  </a:txBody>
                  <a:tcPr/>
                </a:tc>
              </a:tr>
              <a:tr h="711729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Undo</a:t>
                      </a:r>
                      <a:r>
                        <a:rPr lang="zh-CN" altLang="en-US" dirty="0" smtClean="0"/>
                        <a:t>日志存储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UNDO</a:t>
                      </a:r>
                      <a:r>
                        <a:rPr lang="zh-CN" altLang="en-US" dirty="0" smtClean="0"/>
                        <a:t>空间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没有，要说有，就是在原表中</a:t>
                      </a:r>
                      <a:endParaRPr lang="zh-CN" altLang="en-US" dirty="0"/>
                    </a:p>
                  </a:txBody>
                  <a:tcPr/>
                </a:tc>
              </a:tr>
              <a:tr h="711729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事务提交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如果开</a:t>
                      </a:r>
                      <a:r>
                        <a:rPr lang="en-US" altLang="zh-CN" dirty="0" err="1" smtClean="0"/>
                        <a:t>binlog</a:t>
                      </a:r>
                      <a:r>
                        <a:rPr lang="zh-CN" altLang="en-US" dirty="0" smtClean="0"/>
                        <a:t>，需要两阶段提交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写</a:t>
                      </a:r>
                      <a:r>
                        <a:rPr lang="en-US" altLang="zh-CN" dirty="0" smtClean="0"/>
                        <a:t>WAL</a:t>
                      </a:r>
                      <a:r>
                        <a:rPr lang="zh-CN" altLang="en-US" dirty="0" smtClean="0"/>
                        <a:t>之后，即可返回</a:t>
                      </a:r>
                      <a:r>
                        <a:rPr lang="en-US" altLang="zh-CN" dirty="0" smtClean="0"/>
                        <a:t>commit</a:t>
                      </a:r>
                      <a:endParaRPr lang="zh-CN" altLang="en-US" dirty="0"/>
                    </a:p>
                  </a:txBody>
                  <a:tcPr/>
                </a:tc>
              </a:tr>
              <a:tr h="711729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组提交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有、</a:t>
                      </a:r>
                      <a:r>
                        <a:rPr lang="en-US" altLang="zh-CN" dirty="0" err="1" smtClean="0"/>
                        <a:t>redolog</a:t>
                      </a:r>
                      <a:r>
                        <a:rPr lang="zh-CN" altLang="en-US" dirty="0" smtClean="0"/>
                        <a:t>安装</a:t>
                      </a:r>
                      <a:r>
                        <a:rPr lang="en-US" altLang="zh-CN" dirty="0" err="1" smtClean="0"/>
                        <a:t>lsn</a:t>
                      </a:r>
                      <a:r>
                        <a:rPr lang="zh-CN" altLang="en-US" dirty="0" smtClean="0"/>
                        <a:t>顺序合并刷盘；（</a:t>
                      </a:r>
                      <a:r>
                        <a:rPr lang="en-US" altLang="zh-CN" dirty="0" err="1" smtClean="0"/>
                        <a:t>binlog</a:t>
                      </a:r>
                      <a:r>
                        <a:rPr lang="zh-CN" altLang="en-US" dirty="0" smtClean="0"/>
                        <a:t>引入队列机制分段刷盘）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有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en-US" altLang="zh-CN" dirty="0" err="1" smtClean="0"/>
                        <a:t>commit_delay</a:t>
                      </a:r>
                      <a:r>
                        <a:rPr lang="zh-CN" altLang="en-US" dirty="0" smtClean="0"/>
                        <a:t>、</a:t>
                      </a:r>
                      <a:r>
                        <a:rPr lang="en-US" altLang="zh-CN" sz="1800" b="0" i="0" u="none" strike="noStrike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commit_siblings</a:t>
                      </a:r>
                      <a:endParaRPr lang="zh-CN" altLang="en-US" dirty="0"/>
                    </a:p>
                  </a:txBody>
                  <a:tcPr/>
                </a:tc>
              </a:tr>
              <a:tr h="711729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避免数据部分写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 smtClean="0"/>
                        <a:t>Doublewrite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en-US" altLang="zh-CN" dirty="0" smtClean="0"/>
                        <a:t>buffer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 smtClean="0"/>
                        <a:t>Full_page_write</a:t>
                      </a:r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7198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的提交策略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提交策略</a:t>
            </a:r>
            <a:r>
              <a:rPr kumimoji="1" lang="en-US" altLang="zh-CN" dirty="0"/>
              <a:t>——</a:t>
            </a:r>
            <a:r>
              <a:rPr lang="en-US" altLang="zh-CN" dirty="0" err="1" smtClean="0"/>
              <a:t>synchronous_commit</a:t>
            </a:r>
            <a:endParaRPr lang="en-US" altLang="zh-CN" dirty="0"/>
          </a:p>
          <a:p>
            <a:pPr lvl="1"/>
            <a:r>
              <a:rPr lang="en-US" altLang="zh-CN" dirty="0" smtClean="0"/>
              <a:t>off</a:t>
            </a:r>
            <a:r>
              <a:rPr lang="zh-CN" altLang="en-US" dirty="0" smtClean="0"/>
              <a:t>：异步提交（最</a:t>
            </a:r>
            <a:r>
              <a:rPr lang="zh-CN" altLang="en-US" dirty="0"/>
              <a:t>多等待</a:t>
            </a:r>
            <a:r>
              <a:rPr lang="en-US" altLang="zh-CN" dirty="0"/>
              <a:t>3*</a:t>
            </a:r>
            <a:r>
              <a:rPr lang="en-US" altLang="zh-CN" dirty="0">
                <a:hlinkClick r:id="rId4"/>
              </a:rPr>
              <a:t>wal_writer_delay</a:t>
            </a:r>
            <a:r>
              <a:rPr lang="zh-CN" altLang="en-US" dirty="0"/>
              <a:t>的时间，强制刷</a:t>
            </a:r>
            <a:r>
              <a:rPr lang="zh-CN" altLang="en-US" dirty="0" smtClean="0"/>
              <a:t>盘）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local</a:t>
            </a:r>
            <a:r>
              <a:rPr lang="zh-CN" altLang="en-US" dirty="0" smtClean="0"/>
              <a:t>：本地</a:t>
            </a:r>
            <a:endParaRPr lang="en-US" altLang="zh-CN" dirty="0" smtClean="0"/>
          </a:p>
          <a:p>
            <a:pPr lvl="1"/>
            <a:r>
              <a:rPr kumimoji="1" lang="en-US" altLang="zh-CN" b="1" dirty="0" smtClean="0"/>
              <a:t>on</a:t>
            </a:r>
            <a:r>
              <a:rPr kumimoji="1" lang="zh-CN" altLang="en-US" dirty="0" smtClean="0"/>
              <a:t>：备机</a:t>
            </a:r>
            <a:r>
              <a:rPr lang="zh-CN" altLang="en-US" dirty="0" smtClean="0"/>
              <a:t>收到</a:t>
            </a:r>
            <a:r>
              <a:rPr lang="en-US" altLang="zh-CN" dirty="0" err="1" smtClean="0"/>
              <a:t>wal</a:t>
            </a:r>
            <a:r>
              <a:rPr lang="zh-CN" altLang="en-US" dirty="0" smtClean="0"/>
              <a:t>日志</a:t>
            </a:r>
            <a:endParaRPr kumimoji="1" lang="en-US" altLang="zh-CN" dirty="0" smtClean="0"/>
          </a:p>
          <a:p>
            <a:pPr lvl="1"/>
            <a:r>
              <a:rPr lang="en-US" altLang="zh-CN" dirty="0" err="1" smtClean="0"/>
              <a:t>remote_apply</a:t>
            </a:r>
            <a:r>
              <a:rPr lang="zh-CN" altLang="en-US" dirty="0" smtClean="0"/>
              <a:t>：备机应用</a:t>
            </a:r>
            <a:endParaRPr lang="en-US" altLang="zh-CN" dirty="0" smtClean="0"/>
          </a:p>
          <a:p>
            <a:pPr lvl="1"/>
            <a:r>
              <a:rPr lang="en-US" altLang="zh-CN" dirty="0" err="1" smtClean="0"/>
              <a:t>remote_write</a:t>
            </a:r>
            <a:r>
              <a:rPr lang="zh-CN" altLang="en-US" dirty="0" smtClean="0"/>
              <a:t>：备机应用并刷盘</a:t>
            </a:r>
            <a:endParaRPr lang="en-US" altLang="zh-CN" dirty="0" smtClean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0060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127"/>
    </mc:Choice>
    <mc:Fallback xmlns="">
      <p:transition spd="slow" advTm="91127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REDO</a:t>
            </a:r>
            <a:r>
              <a:rPr kumimoji="1" lang="zh-CN" altLang="en-US" dirty="0"/>
              <a:t>日志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初始检查：</a:t>
            </a:r>
            <a:r>
              <a:rPr kumimoji="1" lang="en-US" altLang="zh-CN" dirty="0" err="1" smtClean="0"/>
              <a:t>XLogBeginInsert</a:t>
            </a:r>
            <a:endParaRPr kumimoji="1" lang="en-US" altLang="zh-CN" dirty="0"/>
          </a:p>
          <a:p>
            <a:r>
              <a:rPr kumimoji="1" lang="zh-CN" altLang="en-US" dirty="0" smtClean="0"/>
              <a:t>注册资源：</a:t>
            </a:r>
            <a:r>
              <a:rPr kumimoji="1" lang="en-US" altLang="zh-CN" dirty="0" err="1" smtClean="0"/>
              <a:t>XLogRecData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XLogRegisterBuffer</a:t>
            </a:r>
            <a:r>
              <a:rPr kumimoji="1" lang="zh-CN" altLang="en-US" dirty="0" smtClean="0"/>
              <a:t>，用到的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XLogRegisterData</a:t>
            </a:r>
            <a:r>
              <a:rPr kumimoji="1" lang="zh-CN" altLang="en-US" dirty="0" smtClean="0"/>
              <a:t>，操作的数据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XLogRegisterBufData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相关的数据</a:t>
            </a:r>
            <a:endParaRPr kumimoji="1" lang="en-US" altLang="zh-CN" dirty="0" smtClean="0"/>
          </a:p>
          <a:p>
            <a:r>
              <a:rPr kumimoji="1" lang="zh-CN" altLang="en-US" dirty="0" smtClean="0"/>
              <a:t>组装成</a:t>
            </a:r>
            <a:r>
              <a:rPr kumimoji="1" lang="en-US" altLang="zh-CN" dirty="0" err="1" smtClean="0"/>
              <a:t>Xlog</a:t>
            </a:r>
            <a:r>
              <a:rPr kumimoji="1" lang="zh-CN" altLang="en-US" dirty="0" smtClean="0"/>
              <a:t>记录：</a:t>
            </a:r>
            <a:r>
              <a:rPr kumimoji="1" lang="en-US" altLang="zh-CN" dirty="0" err="1" smtClean="0"/>
              <a:t>XLogInsert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将指定的</a:t>
            </a:r>
            <a:r>
              <a:rPr kumimoji="1" lang="en-US" altLang="zh-CN" dirty="0" smtClean="0"/>
              <a:t>RMID</a:t>
            </a:r>
            <a:r>
              <a:rPr kumimoji="1" lang="zh-CN" altLang="en-US" dirty="0" smtClean="0"/>
              <a:t>和资源（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data</a:t>
            </a:r>
            <a:r>
              <a:rPr kumimoji="1" lang="zh-CN" altLang="en-US" dirty="0" smtClean="0"/>
              <a:t>）组合为一条记录写入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（</a:t>
            </a:r>
            <a:r>
              <a:rPr kumimoji="1" lang="zh-CN" altLang="en-US" i="1" dirty="0" smtClean="0"/>
              <a:t>这里会判断是不是需要写</a:t>
            </a:r>
            <a:r>
              <a:rPr kumimoji="1" lang="en-US" altLang="zh-CN" i="1" dirty="0" smtClean="0"/>
              <a:t>full-page</a:t>
            </a:r>
            <a:r>
              <a:rPr kumimoji="1" lang="zh-CN" altLang="en-US" i="1" dirty="0" smtClean="0"/>
              <a:t> </a:t>
            </a:r>
            <a:r>
              <a:rPr kumimoji="1" lang="en-US" altLang="zh-CN" i="1" dirty="0" smtClean="0"/>
              <a:t>image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16157"/>
            <a:ext cx="12192000" cy="1941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599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577"/>
    </mc:Choice>
    <mc:Fallback xmlns="">
      <p:transition spd="slow" advTm="7957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UNDO</a:t>
            </a:r>
            <a:r>
              <a:rPr kumimoji="1" lang="zh-CN" altLang="en-US" dirty="0"/>
              <a:t>日志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日志</a:t>
            </a:r>
            <a:endParaRPr kumimoji="1" lang="en-US" altLang="zh-CN" dirty="0"/>
          </a:p>
          <a:p>
            <a:pPr lvl="1"/>
            <a:r>
              <a:rPr kumimoji="1" lang="zh-CN" altLang="en-US" dirty="0" smtClean="0"/>
              <a:t>没有专门的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空间，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信息放在原表中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事务失败或者回滚，会在</a:t>
            </a:r>
            <a:r>
              <a:rPr kumimoji="1" lang="en-US" altLang="zh-CN" dirty="0" err="1" smtClean="0"/>
              <a:t>commit_log</a:t>
            </a:r>
            <a:r>
              <a:rPr kumimoji="1" lang="zh-CN" altLang="en-US" dirty="0" smtClean="0"/>
              <a:t>中记下事务状态，不回滚数据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数据的可见性通过数据版本和</a:t>
            </a:r>
            <a:r>
              <a:rPr kumimoji="1" lang="en-US" altLang="zh-CN" dirty="0" err="1" smtClean="0"/>
              <a:t>commit_log</a:t>
            </a:r>
            <a:r>
              <a:rPr kumimoji="1" lang="zh-CN" altLang="en-US" dirty="0" smtClean="0"/>
              <a:t>两者综合决定。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定期</a:t>
            </a:r>
            <a:r>
              <a:rPr kumimoji="1" lang="en-US" altLang="zh-CN" dirty="0" smtClean="0"/>
              <a:t>freeze</a:t>
            </a:r>
            <a:r>
              <a:rPr kumimoji="1" lang="zh-CN" altLang="en-US" dirty="0" smtClean="0"/>
              <a:t>旧元组，并</a:t>
            </a:r>
            <a:r>
              <a:rPr kumimoji="1" lang="en-US" altLang="zh-CN" dirty="0" smtClean="0"/>
              <a:t>vacuum</a:t>
            </a:r>
            <a:r>
              <a:rPr kumimoji="1" lang="zh-CN" altLang="en-US" dirty="0" smtClean="0"/>
              <a:t>死元组。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350480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704"/>
    </mc:Choice>
    <mc:Fallback xmlns="">
      <p:transition spd="slow" advTm="91704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 smtClean="0"/>
              <a:t>的故障恢复与主从复制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zh-CN" altLang="en-US" dirty="0" smtClean="0"/>
              <a:t>崩溃恢复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从</a:t>
            </a:r>
            <a:r>
              <a:rPr kumimoji="1" lang="en-US" altLang="zh-CN" dirty="0" err="1" smtClean="0"/>
              <a:t>pg_control</a:t>
            </a:r>
            <a:r>
              <a:rPr kumimoji="1" lang="zh-CN" altLang="en-US" dirty="0" smtClean="0"/>
              <a:t>读取数据库状态与最近的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点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从最近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点，找到</a:t>
            </a:r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点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重做</a:t>
            </a:r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</a:t>
            </a:r>
            <a:endParaRPr kumimoji="1" lang="en-US" altLang="zh-CN" dirty="0" smtClean="0"/>
          </a:p>
          <a:p>
            <a:r>
              <a:rPr kumimoji="1" lang="zh-CN" altLang="en-US" dirty="0" smtClean="0"/>
              <a:t>主从复制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通过</a:t>
            </a:r>
            <a:r>
              <a:rPr kumimoji="1" lang="en-US" altLang="zh-CN" dirty="0" err="1" smtClean="0"/>
              <a:t>replication_slot</a:t>
            </a:r>
            <a:r>
              <a:rPr kumimoji="1" lang="zh-CN" altLang="en-US" dirty="0" smtClean="0"/>
              <a:t>可以维护下游节点的复制位置。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流复制（</a:t>
            </a:r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日志实时传输）</a:t>
            </a:r>
            <a:endParaRPr kumimoji="1" lang="en-US" altLang="zh-CN" dirty="0" smtClean="0"/>
          </a:p>
          <a:p>
            <a:pPr lvl="2"/>
            <a:r>
              <a:rPr kumimoji="1" lang="en-US" altLang="zh-CN" dirty="0" err="1" smtClean="0"/>
              <a:t>Wal_level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minimal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replica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logical</a:t>
            </a:r>
          </a:p>
          <a:p>
            <a:pPr lvl="2"/>
            <a:r>
              <a:rPr kumimoji="1" lang="zh-CN" altLang="en-US" dirty="0" smtClean="0"/>
              <a:t>主从延迟低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逻辑复制</a:t>
            </a:r>
            <a:r>
              <a:rPr kumimoji="1" lang="zh-CN" altLang="en-US" dirty="0"/>
              <a:t>（</a:t>
            </a:r>
            <a:r>
              <a:rPr kumimoji="1" lang="en-US" altLang="zh-CN" dirty="0" smtClean="0"/>
              <a:t>change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data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capture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只能复制</a:t>
            </a:r>
            <a:r>
              <a:rPr kumimoji="1" lang="en-US" altLang="zh-CN" dirty="0" smtClean="0"/>
              <a:t>Insert/delete/update</a:t>
            </a:r>
          </a:p>
          <a:p>
            <a:pPr lvl="2"/>
            <a:r>
              <a:rPr kumimoji="1" lang="zh-CN" altLang="en-US" dirty="0" smtClean="0"/>
              <a:t>目前</a:t>
            </a:r>
            <a:r>
              <a:rPr kumimoji="1" lang="en-US" altLang="zh-CN" dirty="0" err="1" smtClean="0"/>
              <a:t>replication_slot</a:t>
            </a:r>
            <a:r>
              <a:rPr kumimoji="1" lang="zh-CN" altLang="en-US" dirty="0" smtClean="0"/>
              <a:t>不能主从同步，所以</a:t>
            </a:r>
            <a:r>
              <a:rPr kumimoji="1" lang="en-US" altLang="zh-CN" dirty="0" smtClean="0"/>
              <a:t>failover</a:t>
            </a:r>
            <a:r>
              <a:rPr kumimoji="1" lang="zh-CN" altLang="en-US" dirty="0" smtClean="0"/>
              <a:t>之后，需要补数据。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169736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PostgreSQL</a:t>
            </a:r>
            <a:r>
              <a:rPr kumimoji="1" lang="zh-CN" altLang="en-US" dirty="0"/>
              <a:t>的</a:t>
            </a:r>
            <a:r>
              <a:rPr kumimoji="1" lang="en-US" altLang="zh-CN" dirty="0" err="1" smtClean="0"/>
              <a:t>LogManager</a:t>
            </a:r>
            <a:r>
              <a:rPr kumimoji="1" lang="zh-CN" altLang="en-US" dirty="0"/>
              <a:t>的小结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CN" dirty="0" err="1" smtClean="0"/>
              <a:t>wal_level</a:t>
            </a:r>
            <a:r>
              <a:rPr kumimoji="1" lang="zh-CN" altLang="en-US" dirty="0" smtClean="0"/>
              <a:t>重启生效，无特殊原因，设置为</a:t>
            </a:r>
            <a:r>
              <a:rPr kumimoji="1" lang="en-US" altLang="zh-CN" dirty="0" smtClean="0">
                <a:solidFill>
                  <a:srgbClr val="C00000"/>
                </a:solidFill>
              </a:rPr>
              <a:t>logical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lang="en-US" altLang="zh-CN" dirty="0" err="1" smtClean="0">
                <a:solidFill>
                  <a:srgbClr val="C00000"/>
                </a:solidFill>
              </a:rPr>
              <a:t>recovery_target_timeline</a:t>
            </a:r>
            <a:r>
              <a:rPr lang="en-US" altLang="zh-CN" dirty="0" smtClean="0">
                <a:solidFill>
                  <a:srgbClr val="C00000"/>
                </a:solidFill>
              </a:rPr>
              <a:t>=latest</a:t>
            </a:r>
            <a:r>
              <a:rPr lang="en-US" altLang="zh-CN" dirty="0" smtClean="0"/>
              <a:t>,</a:t>
            </a:r>
            <a:r>
              <a:rPr lang="zh-CN" altLang="en-US" dirty="0" smtClean="0"/>
              <a:t> 避免主</a:t>
            </a:r>
            <a:r>
              <a:rPr lang="en-US" altLang="zh-CN" dirty="0" smtClean="0"/>
              <a:t>promote</a:t>
            </a:r>
            <a:r>
              <a:rPr lang="zh-CN" altLang="en-US" dirty="0" smtClean="0"/>
              <a:t>，从</a:t>
            </a:r>
            <a:r>
              <a:rPr lang="en-US" altLang="zh-CN" dirty="0" smtClean="0"/>
              <a:t>timeline</a:t>
            </a:r>
            <a:r>
              <a:rPr lang="zh-CN" altLang="en-US" dirty="0" smtClean="0"/>
              <a:t>不对</a:t>
            </a:r>
            <a:endParaRPr lang="en-US" altLang="zh-CN" dirty="0" smtClean="0"/>
          </a:p>
          <a:p>
            <a:r>
              <a:rPr lang="zh-CN" altLang="en-US" dirty="0" smtClean="0"/>
              <a:t>拉从库时的</a:t>
            </a:r>
            <a:r>
              <a:rPr lang="en-US" altLang="zh-CN" dirty="0" err="1" smtClean="0">
                <a:solidFill>
                  <a:srgbClr val="C00000"/>
                </a:solidFill>
              </a:rPr>
              <a:t>wal_keep_segment</a:t>
            </a:r>
            <a:r>
              <a:rPr lang="zh-CN" altLang="en-US" dirty="0" smtClean="0"/>
              <a:t>过小导致</a:t>
            </a:r>
            <a:r>
              <a:rPr lang="en-US" altLang="zh-CN" dirty="0" err="1" smtClean="0"/>
              <a:t>wal</a:t>
            </a:r>
            <a:r>
              <a:rPr lang="zh-CN" altLang="en-US" dirty="0" smtClean="0"/>
              <a:t>段丢失备份失败</a:t>
            </a:r>
            <a:endParaRPr lang="en-US" altLang="zh-CN" dirty="0" smtClean="0"/>
          </a:p>
          <a:p>
            <a:r>
              <a:rPr lang="en-US" altLang="zh-CN" dirty="0" err="1" smtClean="0">
                <a:solidFill>
                  <a:srgbClr val="C00000"/>
                </a:solidFill>
              </a:rPr>
              <a:t>commit_delay</a:t>
            </a:r>
            <a:r>
              <a:rPr lang="zh-CN" altLang="en-US" dirty="0" smtClean="0"/>
              <a:t>默认为</a:t>
            </a:r>
            <a:r>
              <a:rPr lang="en-US" altLang="zh-CN" dirty="0" smtClean="0"/>
              <a:t>0</a:t>
            </a:r>
            <a:r>
              <a:rPr lang="zh-CN" altLang="en-US" dirty="0" smtClean="0"/>
              <a:t>，没有组提交。</a:t>
            </a:r>
            <a:endParaRPr lang="en-US" altLang="zh-CN" dirty="0" smtClean="0"/>
          </a:p>
          <a:p>
            <a:r>
              <a:rPr lang="zh-CN" altLang="en-US" dirty="0" smtClean="0"/>
              <a:t>监控</a:t>
            </a:r>
            <a:r>
              <a:rPr lang="en-US" altLang="zh-CN" dirty="0" err="1" smtClean="0">
                <a:solidFill>
                  <a:srgbClr val="C00000"/>
                </a:solidFill>
              </a:rPr>
              <a:t>archive_command</a:t>
            </a:r>
            <a:r>
              <a:rPr lang="zh-CN" altLang="en-US" dirty="0" smtClean="0"/>
              <a:t>的状态，若一直失败撑爆磁盘</a:t>
            </a:r>
            <a:endParaRPr lang="en-US" altLang="zh-CN" dirty="0" smtClean="0"/>
          </a:p>
          <a:p>
            <a:r>
              <a:rPr lang="zh-CN" altLang="en-US" dirty="0" smtClean="0"/>
              <a:t>设置</a:t>
            </a:r>
            <a:r>
              <a:rPr lang="en-US" altLang="zh-CN" dirty="0" err="1" smtClean="0">
                <a:solidFill>
                  <a:srgbClr val="C00000"/>
                </a:solidFill>
              </a:rPr>
              <a:t>replicationslot</a:t>
            </a:r>
            <a:r>
              <a:rPr lang="zh-CN" altLang="en-US" dirty="0" smtClean="0"/>
              <a:t>保持</a:t>
            </a:r>
            <a:r>
              <a:rPr lang="zh-CN" altLang="en-US" dirty="0" smtClean="0"/>
              <a:t>主从的复制</a:t>
            </a:r>
            <a:r>
              <a:rPr lang="zh-CN" altLang="en-US" dirty="0" smtClean="0"/>
              <a:t>关系；</a:t>
            </a:r>
            <a:endParaRPr lang="en-US" altLang="zh-CN" dirty="0" smtClean="0"/>
          </a:p>
          <a:p>
            <a:r>
              <a:rPr lang="zh-CN" altLang="en-US" dirty="0" smtClean="0">
                <a:solidFill>
                  <a:srgbClr val="C00000"/>
                </a:solidFill>
              </a:rPr>
              <a:t>逻辑复制的源端</a:t>
            </a:r>
            <a:r>
              <a:rPr lang="en-US" altLang="zh-CN" dirty="0" smtClean="0">
                <a:solidFill>
                  <a:srgbClr val="C00000"/>
                </a:solidFill>
              </a:rPr>
              <a:t>DDL</a:t>
            </a:r>
            <a:r>
              <a:rPr lang="zh-CN" altLang="en-US" dirty="0" smtClean="0">
                <a:solidFill>
                  <a:srgbClr val="C00000"/>
                </a:solidFill>
              </a:rPr>
              <a:t>变更</a:t>
            </a:r>
            <a:r>
              <a:rPr lang="zh-CN" altLang="en-US" dirty="0" smtClean="0"/>
              <a:t>，应及时同步到目标端</a:t>
            </a:r>
            <a:endParaRPr lang="en-US" altLang="zh-CN" dirty="0"/>
          </a:p>
          <a:p>
            <a:r>
              <a:rPr lang="zh-CN" altLang="en-US" dirty="0" smtClean="0"/>
              <a:t>当</a:t>
            </a:r>
            <a:r>
              <a:rPr lang="en-US" altLang="zh-CN" dirty="0" smtClean="0"/>
              <a:t>vacuum</a:t>
            </a:r>
            <a:r>
              <a:rPr lang="zh-CN" altLang="en-US" dirty="0" smtClean="0"/>
              <a:t>清理不掉旧元组是，检查</a:t>
            </a:r>
            <a:r>
              <a:rPr lang="en-US" altLang="zh-CN" dirty="0" err="1" smtClean="0">
                <a:solidFill>
                  <a:srgbClr val="C00000"/>
                </a:solidFill>
              </a:rPr>
              <a:t>vacuum_defer_cleanup_age</a:t>
            </a:r>
            <a:endParaRPr lang="en-US" altLang="zh-CN" dirty="0" smtClean="0">
              <a:solidFill>
                <a:srgbClr val="C00000"/>
              </a:solidFill>
            </a:endParaRPr>
          </a:p>
          <a:p>
            <a:r>
              <a:rPr lang="en-US" altLang="zh-CN" dirty="0" err="1"/>
              <a:t>hot_standby_feedback</a:t>
            </a:r>
            <a:endParaRPr lang="en-US" altLang="zh-CN" dirty="0" smtClean="0">
              <a:solidFill>
                <a:srgbClr val="C00000"/>
              </a:solidFill>
            </a:endParaRPr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44081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附：之前常用的一些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插件工具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err="1" smtClean="0"/>
              <a:t>pg_stat_statement</a:t>
            </a:r>
            <a:r>
              <a:rPr kumimoji="1" lang="zh-CN" altLang="en-US" dirty="0" smtClean="0"/>
              <a:t>：执行语句信息与统计的插件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pg_buffercache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shared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命中率等信息统计</a:t>
            </a:r>
            <a:endParaRPr kumimoji="1" lang="en-US" altLang="zh-CN" dirty="0" smtClean="0"/>
          </a:p>
          <a:p>
            <a:r>
              <a:rPr kumimoji="1" lang="en-US" altLang="zh-CN" dirty="0" err="1"/>
              <a:t>p</a:t>
            </a:r>
            <a:r>
              <a:rPr kumimoji="1" lang="en-US" altLang="zh-CN" dirty="0" err="1" smtClean="0"/>
              <a:t>ageinspect</a:t>
            </a:r>
            <a:r>
              <a:rPr kumimoji="1" lang="zh-CN" altLang="en-US" dirty="0" smtClean="0"/>
              <a:t>：页物理内容的可视化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Pgstattuple</a:t>
            </a:r>
            <a:r>
              <a:rPr kumimoji="1" lang="zh-CN" altLang="en-US" dirty="0" smtClean="0"/>
              <a:t>：表和索引的元组信息统计，比如膨胀率计算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Timescaladb</a:t>
            </a:r>
            <a:r>
              <a:rPr kumimoji="1" lang="zh-CN" altLang="en-US" dirty="0" smtClean="0"/>
              <a:t>：时序数据库插件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Pipelinedb</a:t>
            </a:r>
            <a:r>
              <a:rPr kumimoji="1" lang="zh-CN" altLang="en-US" dirty="0" smtClean="0"/>
              <a:t>：流计算插件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Citusdb</a:t>
            </a:r>
            <a:r>
              <a:rPr kumimoji="1" lang="zh-CN" altLang="en-US" dirty="0" smtClean="0"/>
              <a:t>：</a:t>
            </a:r>
            <a:r>
              <a:rPr kumimoji="1" lang="en-US" altLang="zh-CN" dirty="0" err="1" smtClean="0"/>
              <a:t>sharding</a:t>
            </a:r>
            <a:r>
              <a:rPr kumimoji="1" lang="zh-CN" altLang="en-US" dirty="0" smtClean="0"/>
              <a:t>插件</a:t>
            </a:r>
            <a:endParaRPr kumimoji="1" lang="en-US" altLang="zh-CN" dirty="0"/>
          </a:p>
          <a:p>
            <a:r>
              <a:rPr kumimoji="1" lang="en-US" altLang="zh-CN" dirty="0" err="1" smtClean="0"/>
              <a:t>Pgbouncer</a:t>
            </a:r>
            <a:r>
              <a:rPr kumimoji="1" lang="zh-CN" altLang="en-US" dirty="0" smtClean="0"/>
              <a:t>：连接池工具</a:t>
            </a:r>
            <a:endParaRPr kumimoji="1" lang="en-US" altLang="zh-CN" dirty="0" smtClean="0"/>
          </a:p>
          <a:p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33755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461084" cy="1460500"/>
          </a:xfrm>
        </p:spPr>
        <p:txBody>
          <a:bodyPr>
            <a:normAutofit/>
          </a:bodyPr>
          <a:lstStyle/>
          <a:p>
            <a:r>
              <a:rPr kumimoji="1" lang="en-US" altLang="zh-CN" sz="3200" b="1" dirty="0" smtClean="0"/>
              <a:t>The</a:t>
            </a:r>
            <a:r>
              <a:rPr kumimoji="1" lang="zh-CN" altLang="en-US" sz="3200" b="1" dirty="0" smtClean="0"/>
              <a:t> </a:t>
            </a:r>
            <a:r>
              <a:rPr kumimoji="1" lang="en-US" altLang="zh-CN" sz="3200" b="1" dirty="0" smtClean="0"/>
              <a:t>End</a:t>
            </a:r>
            <a:endParaRPr kumimoji="1" lang="zh-CN" altLang="en-US" sz="3200" b="1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3461084" cy="3930648"/>
          </a:xfrm>
        </p:spPr>
        <p:txBody>
          <a:bodyPr>
            <a:normAutofit/>
          </a:bodyPr>
          <a:lstStyle/>
          <a:p>
            <a:r>
              <a:rPr lang="en-US" altLang="zh-CN" dirty="0" smtClean="0">
                <a:solidFill>
                  <a:schemeClr val="accent3"/>
                </a:solidFill>
              </a:rPr>
              <a:t>Access</a:t>
            </a:r>
            <a:r>
              <a:rPr lang="zh-CN" altLang="en-US" dirty="0" smtClean="0">
                <a:solidFill>
                  <a:schemeClr val="accent3"/>
                </a:solidFill>
              </a:rPr>
              <a:t> </a:t>
            </a:r>
            <a:r>
              <a:rPr lang="en-US" altLang="zh-CN" dirty="0" smtClean="0">
                <a:solidFill>
                  <a:schemeClr val="accent3"/>
                </a:solidFill>
              </a:rPr>
              <a:t>Method</a:t>
            </a:r>
          </a:p>
          <a:p>
            <a:pPr lvl="1"/>
            <a:r>
              <a:rPr lang="zh-CN" altLang="en-US" b="1" i="1" dirty="0" smtClean="0">
                <a:solidFill>
                  <a:schemeClr val="accent3"/>
                </a:solidFill>
              </a:rPr>
              <a:t>组织数据</a:t>
            </a:r>
            <a:endParaRPr lang="en-US" altLang="zh-CN" b="1" i="1" dirty="0" smtClean="0">
              <a:solidFill>
                <a:schemeClr val="accent3"/>
              </a:solidFill>
            </a:endParaRPr>
          </a:p>
          <a:p>
            <a:r>
              <a:rPr kumimoji="1" lang="en-US" altLang="zh-CN" dirty="0" smtClean="0">
                <a:solidFill>
                  <a:schemeClr val="accent3"/>
                </a:solidFill>
              </a:rPr>
              <a:t>Buffer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 </a:t>
            </a:r>
            <a:r>
              <a:rPr kumimoji="1" lang="en-US" altLang="zh-CN" dirty="0">
                <a:solidFill>
                  <a:schemeClr val="accent3"/>
                </a:solidFill>
              </a:rPr>
              <a:t>Manager</a:t>
            </a:r>
            <a:r>
              <a:rPr kumimoji="1" lang="zh-CN" altLang="en-US" dirty="0">
                <a:solidFill>
                  <a:schemeClr val="accent3"/>
                </a:solidFill>
              </a:rPr>
              <a:t> </a:t>
            </a:r>
            <a:endParaRPr kumimoji="1" lang="en-US" altLang="zh-CN" dirty="0">
              <a:solidFill>
                <a:schemeClr val="accent3"/>
              </a:solidFill>
            </a:endParaRPr>
          </a:p>
          <a:p>
            <a:pPr lvl="1"/>
            <a:r>
              <a:rPr lang="zh-CN" altLang="en-US" b="1" i="1" dirty="0" smtClean="0">
                <a:solidFill>
                  <a:schemeClr val="accent3"/>
                </a:solidFill>
              </a:rPr>
              <a:t>透明的</a:t>
            </a:r>
            <a:r>
              <a:rPr lang="en-US" altLang="zh-CN" b="1" i="1" dirty="0" smtClean="0">
                <a:solidFill>
                  <a:schemeClr val="accent3"/>
                </a:solidFill>
              </a:rPr>
              <a:t>IO</a:t>
            </a:r>
            <a:r>
              <a:rPr lang="zh-CN" altLang="en-US" b="1" i="1" dirty="0" smtClean="0">
                <a:solidFill>
                  <a:schemeClr val="accent3"/>
                </a:solidFill>
              </a:rPr>
              <a:t>中间层</a:t>
            </a:r>
            <a:endParaRPr lang="en-US" altLang="zh-CN" b="1" i="1" dirty="0" smtClean="0">
              <a:solidFill>
                <a:schemeClr val="accent3"/>
              </a:solidFill>
            </a:endParaRPr>
          </a:p>
          <a:p>
            <a:r>
              <a:rPr kumimoji="1" lang="en-US" altLang="zh-CN" dirty="0" smtClean="0">
                <a:solidFill>
                  <a:schemeClr val="accent3"/>
                </a:solidFill>
              </a:rPr>
              <a:t>Lock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 </a:t>
            </a:r>
            <a:r>
              <a:rPr kumimoji="1" lang="en-US" altLang="zh-CN" dirty="0" smtClean="0">
                <a:solidFill>
                  <a:schemeClr val="accent3"/>
                </a:solidFill>
              </a:rPr>
              <a:t>Manager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  </a:t>
            </a:r>
            <a:endParaRPr kumimoji="1" lang="en-US" altLang="zh-CN" dirty="0">
              <a:solidFill>
                <a:schemeClr val="accent3"/>
              </a:solidFill>
            </a:endParaRPr>
          </a:p>
          <a:p>
            <a:pPr lvl="1"/>
            <a:r>
              <a:rPr lang="zh-CN" altLang="en-US" b="1" i="1" dirty="0" smtClean="0">
                <a:solidFill>
                  <a:schemeClr val="accent3"/>
                </a:solidFill>
              </a:rPr>
              <a:t>并发控制</a:t>
            </a:r>
            <a:endParaRPr lang="en-US" altLang="zh-CN" b="1" i="1" dirty="0">
              <a:solidFill>
                <a:schemeClr val="accent3"/>
              </a:solidFill>
            </a:endParaRPr>
          </a:p>
          <a:p>
            <a:r>
              <a:rPr kumimoji="1" lang="en-US" altLang="zh-CN" dirty="0" smtClean="0">
                <a:solidFill>
                  <a:schemeClr val="accent3"/>
                </a:solidFill>
              </a:rPr>
              <a:t>Log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 </a:t>
            </a:r>
            <a:r>
              <a:rPr kumimoji="1" lang="en-US" altLang="zh-CN" dirty="0" smtClean="0">
                <a:solidFill>
                  <a:schemeClr val="accent3"/>
                </a:solidFill>
              </a:rPr>
              <a:t>Manager</a:t>
            </a:r>
          </a:p>
          <a:p>
            <a:pPr lvl="1"/>
            <a:r>
              <a:rPr kumimoji="1" lang="zh-CN" altLang="en-US" b="1" i="1" dirty="0" smtClean="0">
                <a:solidFill>
                  <a:schemeClr val="accent3"/>
                </a:solidFill>
              </a:rPr>
              <a:t>恢复数据</a:t>
            </a:r>
            <a:endParaRPr kumimoji="1" lang="en-US" altLang="zh-CN" b="1" i="1" dirty="0" smtClean="0">
              <a:solidFill>
                <a:schemeClr val="accent3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521158"/>
            <a:ext cx="4235115" cy="4235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065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6119"/>
    </mc:Choice>
    <mc:Fallback xmlns="">
      <p:transition spd="slow" advTm="136119"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284318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的内容 由于在对比页已经体现了，后面再说一次重复了，这四张放弃了。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558488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AccessMethod</a:t>
            </a:r>
            <a:r>
              <a:rPr kumimoji="1" lang="zh-CN" altLang="en-US" dirty="0"/>
              <a:t>简述</a:t>
            </a:r>
            <a:endParaRPr kumimoji="1"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primary</a:t>
            </a:r>
            <a:r>
              <a:rPr kumimoji="1" lang="zh-CN" altLang="en-US" dirty="0" smtClean="0"/>
              <a:t>（</a:t>
            </a:r>
            <a:r>
              <a:rPr lang="en-US" altLang="zh-CN" dirty="0" err="1"/>
              <a:t>B+Tree</a:t>
            </a:r>
            <a:r>
              <a:rPr kumimoji="1" lang="zh-CN" altLang="en-US" dirty="0"/>
              <a:t>）： 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索引</a:t>
            </a:r>
            <a:r>
              <a:rPr kumimoji="1" lang="zh-CN" altLang="en-US" dirty="0"/>
              <a:t>组织</a:t>
            </a:r>
            <a:r>
              <a:rPr kumimoji="1" lang="zh-CN" altLang="en-US" dirty="0" smtClean="0"/>
              <a:t>表，按照以下三种类型进行组织的聚簇索引：</a:t>
            </a:r>
            <a:endParaRPr kumimoji="1" lang="en-US" altLang="zh-CN" dirty="0" smtClean="0"/>
          </a:p>
          <a:p>
            <a:pPr lvl="2"/>
            <a:r>
              <a:rPr kumimoji="1" lang="zh-CN" altLang="en-US" dirty="0"/>
              <a:t>主键</a:t>
            </a:r>
            <a:r>
              <a:rPr kumimoji="1" lang="zh-CN" altLang="en-US" dirty="0" smtClean="0"/>
              <a:t>列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第一</a:t>
            </a:r>
            <a:r>
              <a:rPr kumimoji="1" lang="zh-CN" altLang="en-US" dirty="0"/>
              <a:t>个非空</a:t>
            </a:r>
            <a:r>
              <a:rPr kumimoji="1" lang="en-US" altLang="zh-CN" dirty="0"/>
              <a:t>Unique</a:t>
            </a:r>
            <a:r>
              <a:rPr kumimoji="1" lang="zh-CN" altLang="en-US" dirty="0" smtClean="0"/>
              <a:t>列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包含</a:t>
            </a:r>
            <a:r>
              <a:rPr kumimoji="1" lang="en-US" altLang="zh-CN" dirty="0" err="1" smtClean="0"/>
              <a:t>rowid</a:t>
            </a:r>
            <a:r>
              <a:rPr kumimoji="1" lang="zh-CN" altLang="en-US" dirty="0" smtClean="0"/>
              <a:t>的隐藏聚簇索引：</a:t>
            </a:r>
            <a:r>
              <a:rPr lang="en-US" altLang="zh-CN" b="1" dirty="0"/>
              <a:t> GEN_CLUST_INDEX</a:t>
            </a:r>
            <a:endParaRPr kumimoji="1" lang="en-US" altLang="zh-CN" dirty="0"/>
          </a:p>
          <a:p>
            <a:r>
              <a:rPr kumimoji="1" lang="en-US" altLang="zh-CN" dirty="0" smtClean="0"/>
              <a:t>Secondary</a:t>
            </a:r>
            <a:r>
              <a:rPr kumimoji="1" lang="zh-CN" altLang="en-US" dirty="0" smtClean="0"/>
              <a:t>（</a:t>
            </a:r>
            <a:r>
              <a:rPr lang="en-US" altLang="zh-CN" dirty="0" err="1"/>
              <a:t>B+Tree</a:t>
            </a:r>
            <a:r>
              <a:rPr kumimoji="1" lang="zh-CN" altLang="en-US" dirty="0" smtClean="0"/>
              <a:t>）：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key</a:t>
            </a:r>
            <a:r>
              <a:rPr kumimoji="1" lang="zh-CN" altLang="en-US" dirty="0" smtClean="0"/>
              <a:t>为聚簇索引的聚簇列，</a:t>
            </a:r>
            <a:r>
              <a:rPr kumimoji="1" lang="en-US" altLang="zh-CN" dirty="0" err="1" smtClean="0"/>
              <a:t>val</a:t>
            </a:r>
            <a:r>
              <a:rPr kumimoji="1" lang="zh-CN" altLang="en-US" dirty="0" smtClean="0"/>
              <a:t>为二级索引的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FullText</a:t>
            </a:r>
            <a:r>
              <a:rPr kumimoji="1" lang="zh-CN" altLang="en-US" dirty="0" smtClean="0"/>
              <a:t>（倒排索引）</a:t>
            </a:r>
            <a:endParaRPr kumimoji="1" lang="en-US" altLang="zh-CN" dirty="0" smtClean="0"/>
          </a:p>
          <a:p>
            <a:r>
              <a:rPr kumimoji="1" lang="en-US" altLang="zh-CN" dirty="0" smtClean="0"/>
              <a:t>Spatial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R-tree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r>
              <a:rPr kumimoji="1" lang="zh-CN" altLang="en-US" dirty="0" smtClean="0">
                <a:solidFill>
                  <a:schemeClr val="tx2"/>
                </a:solidFill>
              </a:rPr>
              <a:t>（之前有过</a:t>
            </a:r>
            <a:r>
              <a:rPr kumimoji="1" lang="en-US" altLang="zh-CN" dirty="0" err="1" smtClean="0">
                <a:solidFill>
                  <a:schemeClr val="tx2"/>
                </a:solidFill>
              </a:rPr>
              <a:t>HashIndex</a:t>
            </a:r>
            <a:r>
              <a:rPr kumimoji="1" lang="zh-CN" altLang="en-US" dirty="0" smtClean="0">
                <a:solidFill>
                  <a:schemeClr val="tx2"/>
                </a:solidFill>
              </a:rPr>
              <a:t>，后来被</a:t>
            </a:r>
            <a:r>
              <a:rPr kumimoji="1" lang="en-US" altLang="zh-CN" dirty="0" smtClean="0">
                <a:solidFill>
                  <a:schemeClr val="tx2"/>
                </a:solidFill>
              </a:rPr>
              <a:t>B</a:t>
            </a:r>
            <a:r>
              <a:rPr kumimoji="1" lang="zh-CN" altLang="en-US" dirty="0" smtClean="0">
                <a:solidFill>
                  <a:schemeClr val="tx2"/>
                </a:solidFill>
              </a:rPr>
              <a:t>树取代了</a:t>
            </a:r>
            <a:r>
              <a:rPr kumimoji="1" lang="zh-CN" altLang="en-US" dirty="0">
                <a:solidFill>
                  <a:schemeClr val="tx2"/>
                </a:solidFill>
              </a:rPr>
              <a:t>）</a:t>
            </a:r>
            <a:endParaRPr kumimoji="1" lang="en-US" altLang="zh-CN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243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BufferManager</a:t>
            </a:r>
            <a:r>
              <a:rPr kumimoji="1" lang="zh-CN" altLang="en-US" dirty="0"/>
              <a:t>简述</a:t>
            </a:r>
            <a:endParaRPr kumimoji="1"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err="1" smtClean="0"/>
              <a:t>Bufferpool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以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为单元，组织为一个</a:t>
            </a:r>
            <a:r>
              <a:rPr kumimoji="1" lang="en-US" altLang="zh-CN" dirty="0" smtClean="0"/>
              <a:t>list</a:t>
            </a:r>
            <a:r>
              <a:rPr kumimoji="1" lang="zh-CN" altLang="en-US" dirty="0" smtClean="0"/>
              <a:t>进行管理；按照</a:t>
            </a:r>
            <a:r>
              <a:rPr kumimoji="1" lang="en-US" altLang="zh-CN" dirty="0" smtClean="0"/>
              <a:t>LRU</a:t>
            </a:r>
            <a:r>
              <a:rPr kumimoji="1" lang="zh-CN" altLang="en-US" dirty="0" smtClean="0"/>
              <a:t>算法进行页面淘汰。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ChangeBuffer</a:t>
            </a:r>
            <a:r>
              <a:rPr kumimoji="1" lang="en-US" altLang="zh-CN" dirty="0" smtClean="0"/>
              <a:t>:</a:t>
            </a:r>
          </a:p>
          <a:p>
            <a:pPr lvl="1"/>
            <a:r>
              <a:rPr kumimoji="1" lang="zh-CN" altLang="en-US" dirty="0" smtClean="0"/>
              <a:t>二级索引的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不在</a:t>
            </a:r>
            <a:r>
              <a:rPr kumimoji="1" lang="en-US" altLang="zh-CN" dirty="0" err="1" smtClean="0"/>
              <a:t>bufferpool</a:t>
            </a:r>
            <a:r>
              <a:rPr kumimoji="1" lang="zh-CN" altLang="en-US" dirty="0" smtClean="0"/>
              <a:t>中时，暂时将二级索引的变更进行缓存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AdaptiveHashIndex</a:t>
            </a:r>
            <a:r>
              <a:rPr kumimoji="1" lang="en-US" altLang="zh-CN" dirty="0" smtClean="0"/>
              <a:t>:</a:t>
            </a:r>
          </a:p>
          <a:p>
            <a:pPr lvl="1"/>
            <a:r>
              <a:rPr kumimoji="1" lang="en-US" altLang="zh-CN" dirty="0" err="1" smtClean="0"/>
              <a:t>Btree</a:t>
            </a:r>
            <a:r>
              <a:rPr kumimoji="1" lang="zh-CN" altLang="en-US" dirty="0" smtClean="0"/>
              <a:t>的寻路</a:t>
            </a:r>
            <a:r>
              <a:rPr kumimoji="1" lang="en-US" altLang="zh-CN" dirty="0" smtClean="0"/>
              <a:t>cache</a:t>
            </a:r>
            <a:r>
              <a:rPr kumimoji="1" lang="zh-CN" altLang="en-US" dirty="0" smtClean="0"/>
              <a:t>；基于某个阈值的部分键值的</a:t>
            </a:r>
            <a:r>
              <a:rPr kumimoji="1" lang="en-US" altLang="zh-CN" dirty="0" err="1" smtClean="0"/>
              <a:t>HashIndex</a:t>
            </a:r>
            <a:r>
              <a:rPr kumimoji="1" lang="zh-CN" altLang="en-US" dirty="0" smtClean="0"/>
              <a:t>（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BTR_SEARCH_HASH_ANALYSIS</a:t>
            </a:r>
            <a:r>
              <a:rPr kumimoji="1" lang="en-US" altLang="zh-CN" dirty="0"/>
              <a:t> 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LogBuffer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日志的缓存，默认</a:t>
            </a:r>
            <a:r>
              <a:rPr kumimoji="1" lang="en-US" altLang="zh-CN" dirty="0" smtClean="0"/>
              <a:t>16mb</a:t>
            </a:r>
            <a:r>
              <a:rPr kumimoji="1" lang="zh-CN" altLang="en-US" dirty="0" smtClean="0"/>
              <a:t>；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41010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LockManager</a:t>
            </a:r>
            <a:r>
              <a:rPr kumimoji="1" lang="zh-CN" altLang="en-US" dirty="0"/>
              <a:t>的简介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en-US" altLang="zh-CN" dirty="0" smtClean="0"/>
              <a:t>MVCC</a:t>
            </a:r>
          </a:p>
          <a:p>
            <a:pPr lvl="1"/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段</a:t>
            </a:r>
            <a:endParaRPr kumimoji="1" lang="en-US" altLang="zh-CN" dirty="0" smtClean="0"/>
          </a:p>
          <a:p>
            <a:r>
              <a:rPr kumimoji="1" lang="zh-CN" altLang="en-US" dirty="0" smtClean="0"/>
              <a:t>锁类型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表锁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共享排他锁</a:t>
            </a:r>
            <a:r>
              <a:rPr kumimoji="1" lang="zh-CN" altLang="en-US" dirty="0"/>
              <a:t>、</a:t>
            </a:r>
            <a:r>
              <a:rPr kumimoji="1" lang="zh-CN" altLang="en-US" dirty="0" smtClean="0"/>
              <a:t>意向锁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行锁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记录锁：一行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间隙锁：若干满足条件的行（新行满足条件，也会锁）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组合或衍生锁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Next-Key</a:t>
            </a:r>
            <a:r>
              <a:rPr kumimoji="1" lang="zh-CN" altLang="en-US" dirty="0" smtClean="0"/>
              <a:t>锁：索引扫描时，为避免幻读的的锁；实际为记录锁和间隙锁的结合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插入意向锁：间隙锁；避免插入的幻读异常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自增锁：带有</a:t>
            </a:r>
            <a:r>
              <a:rPr kumimoji="1" lang="en-US" altLang="zh-CN" dirty="0" smtClean="0"/>
              <a:t>AUTO_INCREMENT</a:t>
            </a:r>
            <a:r>
              <a:rPr kumimoji="1" lang="zh-CN" altLang="en-US" dirty="0" smtClean="0"/>
              <a:t>的表上的特别的表锁。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空间索引的谓词锁：在空间索引上的查询条件命中的最小矩形边界上的锁。</a:t>
            </a:r>
            <a:endParaRPr kumimoji="1" lang="en-US" altLang="zh-CN" dirty="0"/>
          </a:p>
          <a:p>
            <a:pPr lvl="1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87611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InnoDB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LogManager</a:t>
            </a:r>
            <a:r>
              <a:rPr kumimoji="1" lang="zh-CN" altLang="en-US" dirty="0"/>
              <a:t>简介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Redo</a:t>
            </a:r>
          </a:p>
          <a:p>
            <a:pPr lvl="1"/>
            <a:r>
              <a:rPr kumimoji="1" lang="zh-CN" altLang="en-US" dirty="0" smtClean="0"/>
              <a:t>保证幂等性的</a:t>
            </a:r>
            <a:r>
              <a:rPr kumimoji="1" lang="en-US" altLang="zh-CN" dirty="0" smtClean="0"/>
              <a:t>physiological</a:t>
            </a:r>
            <a:r>
              <a:rPr kumimoji="1" lang="zh-CN" altLang="en-US" dirty="0" smtClean="0"/>
              <a:t>的日志类型</a:t>
            </a:r>
            <a:endParaRPr kumimoji="1" lang="en-US" altLang="zh-CN" dirty="0"/>
          </a:p>
          <a:p>
            <a:r>
              <a:rPr kumimoji="1" lang="en-US" altLang="zh-CN" dirty="0" smtClean="0"/>
              <a:t>Undo</a:t>
            </a:r>
          </a:p>
          <a:p>
            <a:pPr lvl="1"/>
            <a:r>
              <a:rPr kumimoji="1" lang="zh-CN" altLang="en-US" dirty="0" smtClean="0"/>
              <a:t>按照段的形式进行组织，存放行的旧版本。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不同对象的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放着不同的表空间中。</a:t>
            </a:r>
            <a:endParaRPr kumimoji="1" lang="en-US" altLang="zh-CN" dirty="0"/>
          </a:p>
          <a:p>
            <a:r>
              <a:rPr kumimoji="1" lang="en-US" altLang="zh-CN" dirty="0" err="1" smtClean="0"/>
              <a:t>CrashRecovery</a:t>
            </a:r>
            <a:r>
              <a:rPr kumimoji="1" lang="zh-CN" altLang="en-US" dirty="0"/>
              <a:t>，</a:t>
            </a:r>
            <a:r>
              <a:rPr lang="zh-CN" altLang="en-US" dirty="0" smtClean="0"/>
              <a:t>在</a:t>
            </a:r>
            <a:r>
              <a:rPr lang="en-US" altLang="zh-CN" dirty="0" err="1"/>
              <a:t>InnoDB</a:t>
            </a:r>
            <a:r>
              <a:rPr lang="zh-CN" altLang="en-US" dirty="0"/>
              <a:t>中，分为</a:t>
            </a:r>
            <a:r>
              <a:rPr lang="en-US" altLang="zh-CN" dirty="0"/>
              <a:t>4</a:t>
            </a:r>
            <a:r>
              <a:rPr lang="zh-CN" altLang="en-US" dirty="0"/>
              <a:t>步：</a:t>
            </a:r>
          </a:p>
          <a:p>
            <a:pPr lvl="1"/>
            <a:r>
              <a:rPr lang="en-US" altLang="zh-CN" dirty="0" err="1"/>
              <a:t>dwbuffer</a:t>
            </a:r>
            <a:r>
              <a:rPr lang="zh-CN" altLang="en-US" dirty="0"/>
              <a:t>：首先恢复 </a:t>
            </a:r>
            <a:r>
              <a:rPr lang="en-US" altLang="zh-CN" dirty="0" err="1"/>
              <a:t>Doublewrite</a:t>
            </a:r>
            <a:r>
              <a:rPr lang="en-US" altLang="zh-CN" dirty="0"/>
              <a:t> Buffer</a:t>
            </a:r>
            <a:r>
              <a:rPr lang="zh-CN" altLang="en-US" dirty="0"/>
              <a:t>中的数据</a:t>
            </a:r>
          </a:p>
          <a:p>
            <a:pPr lvl="1"/>
            <a:r>
              <a:rPr lang="en-US" altLang="zh-CN" dirty="0"/>
              <a:t>Scan</a:t>
            </a:r>
            <a:r>
              <a:rPr lang="zh-CN" altLang="en-US" dirty="0"/>
              <a:t>：从磁盘中读取</a:t>
            </a:r>
            <a:r>
              <a:rPr lang="en-US" altLang="zh-CN" dirty="0"/>
              <a:t>redo</a:t>
            </a:r>
            <a:r>
              <a:rPr lang="zh-CN" altLang="en-US" dirty="0"/>
              <a:t>日志记录，将其插入按照</a:t>
            </a:r>
            <a:r>
              <a:rPr lang="en-US" altLang="zh-CN" dirty="0"/>
              <a:t>LSN</a:t>
            </a:r>
            <a:r>
              <a:rPr lang="zh-CN" altLang="en-US" dirty="0"/>
              <a:t>排序的红黑树中。</a:t>
            </a:r>
          </a:p>
          <a:p>
            <a:pPr lvl="1"/>
            <a:r>
              <a:rPr lang="en-US" altLang="zh-CN" dirty="0"/>
              <a:t>Redo</a:t>
            </a:r>
            <a:r>
              <a:rPr lang="zh-CN" altLang="en-US" dirty="0"/>
              <a:t>：将脏页插入到</a:t>
            </a:r>
            <a:r>
              <a:rPr lang="en-US" altLang="zh-CN" dirty="0" err="1"/>
              <a:t>flush_list</a:t>
            </a:r>
            <a:r>
              <a:rPr lang="zh-CN" altLang="en-US" dirty="0"/>
              <a:t>中。</a:t>
            </a:r>
          </a:p>
          <a:p>
            <a:pPr lvl="1"/>
            <a:r>
              <a:rPr lang="en-US" altLang="zh-CN" dirty="0"/>
              <a:t>Undo</a:t>
            </a:r>
            <a:r>
              <a:rPr lang="zh-CN" altLang="en-US" dirty="0"/>
              <a:t>：将未完成的事务，进行回滚。</a:t>
            </a:r>
          </a:p>
          <a:p>
            <a:pPr lvl="1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28265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62.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8.9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2671</TotalTime>
  <Words>3799</Words>
  <Application>Microsoft Macintosh PowerPoint</Application>
  <PresentationFormat>宽屏</PresentationFormat>
  <Paragraphs>478</Paragraphs>
  <Slides>41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46" baseType="lpstr">
      <vt:lpstr>DengXian</vt:lpstr>
      <vt:lpstr>DengXian Light</vt:lpstr>
      <vt:lpstr>Mangal</vt:lpstr>
      <vt:lpstr>Arial</vt:lpstr>
      <vt:lpstr>Office 主题</vt:lpstr>
      <vt:lpstr>工作分享</vt:lpstr>
      <vt:lpstr>过去与近期工作</vt:lpstr>
      <vt:lpstr>事务型存储引擎</vt:lpstr>
      <vt:lpstr>Access Method</vt:lpstr>
      <vt:lpstr>InnoDB与PostgreSQL的Access Method模块</vt:lpstr>
      <vt:lpstr>PostgreSQL的访问标识</vt:lpstr>
      <vt:lpstr>PostgreSQL的AccessMethod类型</vt:lpstr>
      <vt:lpstr>PostgreSQL的bitmapIndexScan</vt:lpstr>
      <vt:lpstr>PostgreSQL的部分索引、表达式索引与覆盖索引</vt:lpstr>
      <vt:lpstr>PostgreSQL的Access Method小结</vt:lpstr>
      <vt:lpstr>BufferManager</vt:lpstr>
      <vt:lpstr>InnoDB与PostgreSQL的BufferManager模块</vt:lpstr>
      <vt:lpstr>PostgreSQL的BufferManager结构</vt:lpstr>
      <vt:lpstr>PostgreSQL的Buffer页面置换</vt:lpstr>
      <vt:lpstr>PostgreSQL的CHECKPOINT</vt:lpstr>
      <vt:lpstr>PostgreSQL的RingBuffer</vt:lpstr>
      <vt:lpstr>PostgreSQL的BufferManager小结</vt:lpstr>
      <vt:lpstr>LockManager</vt:lpstr>
      <vt:lpstr>InnoDB与PostgreSQL的LockManager模块</vt:lpstr>
      <vt:lpstr>PostgreSQL的spinlock</vt:lpstr>
      <vt:lpstr>PostgreSQL的lightweight lock</vt:lpstr>
      <vt:lpstr>PostgreSQL的regular lock（heavyweight lock）</vt:lpstr>
      <vt:lpstr>PostgreSQL的SiRead Lock</vt:lpstr>
      <vt:lpstr>PostgreSQL的SiRead Lock</vt:lpstr>
      <vt:lpstr>SIReadLock-PG中如何检测序列化异常</vt:lpstr>
      <vt:lpstr>PostgreSQL的LockManager小结</vt:lpstr>
      <vt:lpstr>LogManager</vt:lpstr>
      <vt:lpstr>InnoDB与PostgreSQL的LogManager模块</vt:lpstr>
      <vt:lpstr>PostgreSQL的提交策略</vt:lpstr>
      <vt:lpstr>PostgreSQL的REDO日志</vt:lpstr>
      <vt:lpstr>PostgreSQL的UNDO日志</vt:lpstr>
      <vt:lpstr>PostgreSQL的故障恢复与主从复制</vt:lpstr>
      <vt:lpstr>PostgreSQL的LogManager的小结</vt:lpstr>
      <vt:lpstr>附：之前常用的一些PostgreSQL插件工具</vt:lpstr>
      <vt:lpstr>The End</vt:lpstr>
      <vt:lpstr>PowerPoint 演示文稿</vt:lpstr>
      <vt:lpstr>PowerPoint 演示文稿</vt:lpstr>
      <vt:lpstr>InnoDB的AccessMethod简述</vt:lpstr>
      <vt:lpstr>InnoDB的BufferManager简述</vt:lpstr>
      <vt:lpstr>InnoDB的LockManager的简介</vt:lpstr>
      <vt:lpstr>InnoDB的LogManager简介</vt:lpstr>
    </vt:vector>
  </TitlesOfParts>
  <Company/>
  <LinksUpToDate>false</LinksUpToDate>
  <SharedDoc>false</SharedDoc>
  <HyperlinksChanged>false</HyperlinksChanged>
  <AppVersion>15.0041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工作分享</dc:title>
  <dc:creator>Microsoft Office 用户</dc:creator>
  <cp:lastModifiedBy>Microsoft Office 用户</cp:lastModifiedBy>
  <cp:revision>268</cp:revision>
  <dcterms:created xsi:type="dcterms:W3CDTF">2019-05-17T03:41:06Z</dcterms:created>
  <dcterms:modified xsi:type="dcterms:W3CDTF">2019-05-24T08:33:22Z</dcterms:modified>
</cp:coreProperties>
</file>