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60" r:id="rId3"/>
    <p:sldId id="258" r:id="rId4"/>
    <p:sldId id="298" r:id="rId5"/>
    <p:sldId id="297" r:id="rId6"/>
    <p:sldId id="287" r:id="rId7"/>
    <p:sldId id="268" r:id="rId8"/>
    <p:sldId id="269" r:id="rId9"/>
    <p:sldId id="271" r:id="rId10"/>
    <p:sldId id="270" r:id="rId11"/>
    <p:sldId id="292" r:id="rId12"/>
    <p:sldId id="299" r:id="rId13"/>
    <p:sldId id="304" r:id="rId14"/>
    <p:sldId id="288" r:id="rId15"/>
    <p:sldId id="273" r:id="rId16"/>
    <p:sldId id="296" r:id="rId17"/>
    <p:sldId id="275" r:id="rId18"/>
    <p:sldId id="293" r:id="rId19"/>
    <p:sldId id="300" r:id="rId20"/>
    <p:sldId id="303" r:id="rId21"/>
    <p:sldId id="289" r:id="rId22"/>
    <p:sldId id="277" r:id="rId23"/>
    <p:sldId id="278" r:id="rId24"/>
    <p:sldId id="279" r:id="rId25"/>
    <p:sldId id="280" r:id="rId26"/>
    <p:sldId id="281" r:id="rId27"/>
    <p:sldId id="282" r:id="rId28"/>
    <p:sldId id="294" r:id="rId29"/>
    <p:sldId id="301" r:id="rId30"/>
    <p:sldId id="302" r:id="rId31"/>
    <p:sldId id="290" r:id="rId32"/>
    <p:sldId id="284" r:id="rId33"/>
    <p:sldId id="285" r:id="rId34"/>
    <p:sldId id="286" r:id="rId35"/>
    <p:sldId id="305" r:id="rId36"/>
    <p:sldId id="295" r:id="rId37"/>
    <p:sldId id="30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8"/>
    <p:restoredTop sz="74745"/>
  </p:normalViewPr>
  <p:slideViewPr>
    <p:cSldViewPr snapToGrid="0" snapToObjects="1">
      <p:cViewPr>
        <p:scale>
          <a:sx n="80" d="100"/>
          <a:sy n="80" d="100"/>
        </p:scale>
        <p:origin x="1264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的存储模块简单介绍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的机制与使用的一些小建议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7344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对于索引与数据之间的不一致，通过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来减少写放大的代价；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目前米有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，可能也是由于其数据的写入不存在调整结构的代价，但是索引多了，同样存在多个索引的写放大问题；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3707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fuzzy</a:t>
            </a:r>
            <a:r>
              <a:rPr kumimoji="1" lang="zh-CN" altLang="en-US" dirty="0" smtClean="0"/>
              <a:t>将一次刷盘分成多个小批次；</a:t>
            </a:r>
            <a:endParaRPr kumimoji="1" lang="en-US" altLang="zh-CN" dirty="0" smtClean="0"/>
          </a:p>
          <a:p>
            <a:r>
              <a:rPr kumimoji="1" lang="en-US" altLang="zh-CN" dirty="0" smtClean="0"/>
              <a:t>spread</a:t>
            </a:r>
            <a:r>
              <a:rPr kumimoji="1" lang="zh-CN" altLang="en-US" dirty="0" smtClean="0"/>
              <a:t>将一个刷盘分成多个阶段，在最后将没有完成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的部分集中进行。</a:t>
            </a:r>
            <a:endParaRPr kumimoji="1" lang="en-US" altLang="zh-CN" dirty="0" smtClean="0"/>
          </a:p>
          <a:p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：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r>
              <a:rPr kumimoji="1" lang="zh-CN" altLang="en-US" dirty="0" smtClean="0"/>
              <a:t>找到脏页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r>
              <a:rPr kumimoji="1" lang="en-US" altLang="zh-CN" dirty="0" smtClean="0"/>
              <a:t>Write</a:t>
            </a:r>
          </a:p>
          <a:p>
            <a:pPr marL="228600" indent="-228600">
              <a:buAutoNum type="arabicPeriod"/>
            </a:pPr>
            <a:r>
              <a:rPr kumimoji="1" lang="en-US" altLang="zh-CN" dirty="0" err="1" smtClean="0"/>
              <a:t>Fsync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Flush_list</a:t>
            </a:r>
            <a:r>
              <a:rPr kumimoji="1" lang="en-US" altLang="zh-CN" dirty="0" smtClean="0"/>
              <a:t>: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将最老最不被访问的数据驱逐出去</a:t>
            </a:r>
            <a:endParaRPr kumimoji="1" lang="zh-CN" altLang="en-US" dirty="0" smtClean="0"/>
          </a:p>
          <a:p>
            <a:pPr marL="228600" indent="-228600">
              <a:buAutoNum type="arabicPeriod"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57053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在系统中是向上透明的一层；主要就是为了提高性能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1635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5703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973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2019/5/23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7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ev.mysql.com/doc/refman/5.5/en/innodb-parameters.html#sysvar_innodb_buffer_pool_instances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4" Type="http://schemas.openxmlformats.org/officeDocument/2006/relationships/hyperlink" Target="https://www.postgresql.org/docs/current/static/runtime-config-wal.html#GUC-WAL-WRITER-DELAY" TargetMode="External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的存储模块简述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b="1" smtClean="0"/>
              <a:t>过去与近期工作</a:t>
            </a:r>
            <a:endParaRPr kumimoji="1" lang="zh-CN" altLang="en-US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围绕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的一些周边工作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开始学习数据库知识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运维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小工具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用处不大的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连接池：</a:t>
            </a:r>
            <a:r>
              <a:rPr kumimoji="1" lang="en-US" altLang="zh-CN" dirty="0" err="1" smtClean="0"/>
              <a:t>Pgbouncer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文献与书籍翻译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6080" y="3765944"/>
            <a:ext cx="1860273" cy="2869114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080" y="115494"/>
            <a:ext cx="1860273" cy="32853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149" y="0"/>
            <a:ext cx="2580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461084" cy="1460500"/>
          </a:xfrm>
        </p:spPr>
        <p:txBody>
          <a:bodyPr>
            <a:normAutofit/>
          </a:bodyPr>
          <a:lstStyle/>
          <a:p>
            <a:r>
              <a:rPr kumimoji="1" lang="zh-CN" altLang="en-US" sz="3200" dirty="0" smtClean="0"/>
              <a:t>事务型存储引擎</a:t>
            </a:r>
            <a:endParaRPr kumimoji="1"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3461084" cy="3930648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</a:p>
          <a:p>
            <a:pPr lvl="1"/>
            <a:r>
              <a:rPr lang="zh-CN" altLang="en-US" b="1" i="1" dirty="0" smtClean="0"/>
              <a:t>组织数据</a:t>
            </a:r>
            <a:endParaRPr lang="en-US" altLang="zh-CN" b="1" i="1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透明的</a:t>
            </a:r>
            <a:r>
              <a:rPr lang="en-US" altLang="zh-CN" b="1" i="1" dirty="0" smtClean="0"/>
              <a:t>IO</a:t>
            </a:r>
            <a:r>
              <a:rPr lang="zh-CN" altLang="en-US" b="1" i="1" dirty="0" smtClean="0"/>
              <a:t>中间层</a:t>
            </a:r>
            <a:endParaRPr lang="en-US" altLang="zh-CN" b="1" i="1" dirty="0" smtClean="0"/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并发控制</a:t>
            </a:r>
            <a:endParaRPr lang="en-US" altLang="zh-CN" b="1" i="1" dirty="0"/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kumimoji="1" lang="zh-CN" altLang="en-US" b="1" i="1" dirty="0" smtClean="0"/>
              <a:t>恢复数据</a:t>
            </a:r>
            <a:endParaRPr kumimoji="1" lang="en-US" altLang="zh-CN" b="1" i="1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789" y="1"/>
            <a:ext cx="7700210" cy="56949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594438" y="5756273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smtClean="0"/>
              <a:t>Architecture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Of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System</a:t>
            </a:r>
            <a:endParaRPr kumimoji="1" lang="en-US" altLang="zh-CN" dirty="0"/>
          </a:p>
          <a:p>
            <a:r>
              <a:rPr kumimoji="1" lang="en-US" altLang="zh-CN" dirty="0" smtClean="0"/>
              <a:t>		——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Stonebraker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AccessMethod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对比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r>
              <a:rPr kumimoji="1" lang="zh-CN" altLang="en-US" dirty="0" smtClean="0"/>
              <a:t>简述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的访问标识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的部分索引、表达式索引与覆盖索引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bitmapIndexScan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r>
              <a:rPr kumimoji="1" lang="zh-CN" altLang="en-US" dirty="0" smtClean="0"/>
              <a:t>小结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26806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r>
              <a:rPr kumimoji="1" lang="zh-CN" altLang="en-US" dirty="0" smtClean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2848685"/>
              </p:ext>
            </p:extLst>
          </p:nvPr>
        </p:nvGraphicFramePr>
        <p:xfrm>
          <a:off x="838200" y="1825625"/>
          <a:ext cx="10375233" cy="4158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411"/>
                <a:gridCol w="3458411"/>
                <a:gridCol w="3458411"/>
              </a:tblGrid>
              <a:tr h="618207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数据表类型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索引组织表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堆表</a:t>
                      </a:r>
                      <a:endParaRPr lang="zh-CN" altLang="en-US" dirty="0"/>
                    </a:p>
                  </a:txBody>
                  <a:tcPr/>
                </a:tc>
              </a:tr>
              <a:tr h="10670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索引类型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树、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树（空间索引）、</a:t>
                      </a:r>
                      <a:r>
                        <a:rPr lang="zh-CN" altLang="en-US" dirty="0" smtClean="0"/>
                        <a:t>倒排等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smtClean="0"/>
                        <a:t>Gist</a:t>
                      </a:r>
                      <a:r>
                        <a:rPr lang="zh-CN" altLang="en-US" dirty="0" smtClean="0"/>
                        <a:t>（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树）、</a:t>
                      </a:r>
                      <a:r>
                        <a:rPr lang="zh-CN" altLang="en-US" dirty="0" smtClean="0"/>
                        <a:t>倒排、</a:t>
                      </a:r>
                      <a:r>
                        <a:rPr lang="en-US" altLang="zh-CN" dirty="0" smtClean="0"/>
                        <a:t>Hash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smtClean="0"/>
                        <a:t>Block-range</a:t>
                      </a:r>
                      <a:r>
                        <a:rPr lang="zh-CN" altLang="en-US" dirty="0" smtClean="0"/>
                        <a:t>，分区</a:t>
                      </a:r>
                      <a:r>
                        <a:rPr lang="en-US" altLang="zh-CN" dirty="0" smtClean="0"/>
                        <a:t>Gist</a:t>
                      </a:r>
                      <a:r>
                        <a:rPr lang="zh-CN" altLang="en-US" dirty="0" smtClean="0"/>
                        <a:t>。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在线创建索引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CREATE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INDEX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CONCURRENTLY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叶子节点的值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一级索引是数据，二级是记录</a:t>
                      </a:r>
                      <a:r>
                        <a:rPr lang="en-US" altLang="zh-CN" dirty="0" smtClean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记录</a:t>
                      </a:r>
                      <a:r>
                        <a:rPr lang="en-US" altLang="zh-CN" dirty="0" smtClean="0"/>
                        <a:t>ID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索引数据更新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changebuffer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同时写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9308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AccessMethod</a:t>
            </a:r>
            <a:r>
              <a:rPr kumimoji="1" lang="zh-CN" altLang="en-US" dirty="0"/>
              <a:t>简述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primary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/>
              <a:t>）： 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索引</a:t>
            </a:r>
            <a:r>
              <a:rPr kumimoji="1" lang="zh-CN" altLang="en-US" dirty="0"/>
              <a:t>组织</a:t>
            </a:r>
            <a:r>
              <a:rPr kumimoji="1" lang="zh-CN" altLang="en-US" dirty="0" smtClean="0"/>
              <a:t>表，按照以下三种类型进行组织的聚簇索引：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主键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第一</a:t>
            </a:r>
            <a:r>
              <a:rPr kumimoji="1" lang="zh-CN" altLang="en-US" dirty="0"/>
              <a:t>个非空</a:t>
            </a:r>
            <a:r>
              <a:rPr kumimoji="1" lang="en-US" altLang="zh-CN" dirty="0"/>
              <a:t>Unique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包含</a:t>
            </a:r>
            <a:r>
              <a:rPr kumimoji="1" lang="en-US" altLang="zh-CN" dirty="0" err="1" smtClean="0"/>
              <a:t>rowid</a:t>
            </a:r>
            <a:r>
              <a:rPr kumimoji="1" lang="zh-CN" altLang="en-US" dirty="0" smtClean="0"/>
              <a:t>的隐藏聚簇索引：</a:t>
            </a:r>
            <a:r>
              <a:rPr lang="en-US" altLang="zh-CN" b="1" dirty="0"/>
              <a:t> GEN_CLUST_INDEX</a:t>
            </a:r>
            <a:endParaRPr kumimoji="1" lang="en-US" altLang="zh-CN" dirty="0"/>
          </a:p>
          <a:p>
            <a:r>
              <a:rPr kumimoji="1" lang="en-US" altLang="zh-CN" dirty="0" smtClean="0"/>
              <a:t>Secondary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 smtClean="0"/>
              <a:t>）：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key</a:t>
            </a:r>
            <a:r>
              <a:rPr kumimoji="1" lang="zh-CN" altLang="en-US" dirty="0" smtClean="0"/>
              <a:t>为聚簇索引的聚簇列，</a:t>
            </a:r>
            <a:r>
              <a:rPr kumimoji="1" lang="en-US" altLang="zh-CN" dirty="0" err="1" smtClean="0"/>
              <a:t>val</a:t>
            </a:r>
            <a:r>
              <a:rPr kumimoji="1" lang="zh-CN" altLang="en-US" dirty="0" smtClean="0"/>
              <a:t>为二级索引的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FullText</a:t>
            </a:r>
            <a:r>
              <a:rPr kumimoji="1" lang="zh-CN" altLang="en-US" dirty="0" smtClean="0"/>
              <a:t>（倒排索引）</a:t>
            </a:r>
            <a:endParaRPr kumimoji="1" lang="en-US" altLang="zh-CN" dirty="0" smtClean="0"/>
          </a:p>
          <a:p>
            <a:r>
              <a:rPr kumimoji="1" lang="en-US" altLang="zh-CN" dirty="0" smtClean="0"/>
              <a:t>Spatial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R-tree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zh-CN" altLang="en-US" dirty="0" smtClean="0">
                <a:solidFill>
                  <a:schemeClr val="tx2"/>
                </a:solidFill>
              </a:rPr>
              <a:t>（之前有过</a:t>
            </a:r>
            <a:r>
              <a:rPr kumimoji="1" lang="en-US" altLang="zh-CN" dirty="0" err="1" smtClean="0">
                <a:solidFill>
                  <a:schemeClr val="tx2"/>
                </a:solidFill>
              </a:rPr>
              <a:t>HashIndex</a:t>
            </a:r>
            <a:r>
              <a:rPr kumimoji="1" lang="zh-CN" altLang="en-US" dirty="0" smtClean="0">
                <a:solidFill>
                  <a:schemeClr val="tx2"/>
                </a:solidFill>
              </a:rPr>
              <a:t>，后来被</a:t>
            </a:r>
            <a:r>
              <a:rPr kumimoji="1" lang="en-US" altLang="zh-CN" dirty="0" smtClean="0">
                <a:solidFill>
                  <a:schemeClr val="tx2"/>
                </a:solidFill>
              </a:rPr>
              <a:t>B</a:t>
            </a:r>
            <a:r>
              <a:rPr kumimoji="1" lang="zh-CN" altLang="en-US" dirty="0" smtClean="0">
                <a:solidFill>
                  <a:schemeClr val="tx2"/>
                </a:solidFill>
              </a:rPr>
              <a:t>树取代了</a:t>
            </a:r>
            <a:r>
              <a:rPr kumimoji="1" lang="zh-CN" altLang="en-US" dirty="0">
                <a:solidFill>
                  <a:schemeClr val="tx2"/>
                </a:solidFill>
              </a:rPr>
              <a:t>）</a:t>
            </a:r>
            <a:endParaRPr kumimoji="1" lang="en-US" altLang="zh-CN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的访问标识</a:t>
            </a:r>
            <a:endParaRPr kumimoji="1" lang="en-US" altLang="zh-CN" dirty="0"/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3071813"/>
            <a:ext cx="5394394" cy="3105150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825" y="1484313"/>
            <a:ext cx="8636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AccessMethod</a:t>
            </a:r>
            <a:r>
              <a:rPr kumimoji="1" lang="zh-CN" altLang="en-US" dirty="0"/>
              <a:t>类型</a:t>
            </a:r>
            <a:endParaRPr kumimoji="1"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841667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bitmapIndexScan</a:t>
            </a:r>
            <a:endParaRPr kumimoji="1" lang="en-US" altLang="zh-CN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/>
              <a:t>enable_bitmapscan</a:t>
            </a:r>
            <a:r>
              <a:rPr lang="en-US" altLang="zh-CN" dirty="0"/>
              <a:t>=on</a:t>
            </a:r>
          </a:p>
          <a:p>
            <a:pPr lvl="1"/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收益：同时使用多个独立索引，大大减少外部</a:t>
            </a:r>
            <a:r>
              <a:rPr kumimoji="1" lang="en-US" altLang="zh-CN" dirty="0" smtClean="0"/>
              <a:t>IO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3170238"/>
            <a:ext cx="90424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的部分索引、表达式索引与覆盖索引</a:t>
            </a:r>
            <a:endParaRPr kumimoji="1"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CN" dirty="0"/>
              <a:t>CREATE [ UNIQUE ] INDEX [ CONCURRENTLY ] [ [ IF NOT EXISTS ] </a:t>
            </a:r>
            <a:r>
              <a:rPr lang="en-US" altLang="zh-CN" i="1" dirty="0"/>
              <a:t>name</a:t>
            </a:r>
            <a:r>
              <a:rPr lang="en-US" altLang="zh-CN" dirty="0"/>
              <a:t> ] ON [ ONLY ] </a:t>
            </a:r>
            <a:r>
              <a:rPr lang="en-US" altLang="zh-CN" i="1" dirty="0" err="1"/>
              <a:t>table_name</a:t>
            </a:r>
            <a:r>
              <a:rPr lang="en-US" altLang="zh-CN" dirty="0"/>
              <a:t> [ USING </a:t>
            </a:r>
            <a:r>
              <a:rPr lang="en-US" altLang="zh-CN" i="1" dirty="0"/>
              <a:t>method</a:t>
            </a:r>
            <a:r>
              <a:rPr lang="en-US" altLang="zh-CN" dirty="0"/>
              <a:t> ] ( { </a:t>
            </a:r>
            <a:r>
              <a:rPr lang="en-US" altLang="zh-CN" i="1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i="1" dirty="0"/>
              <a:t>expression</a:t>
            </a:r>
            <a:r>
              <a:rPr lang="en-US" altLang="zh-CN" dirty="0"/>
              <a:t> ) } [ COLLATE </a:t>
            </a:r>
            <a:r>
              <a:rPr lang="en-US" altLang="zh-CN" i="1" dirty="0"/>
              <a:t>collation</a:t>
            </a:r>
            <a:r>
              <a:rPr lang="en-US" altLang="zh-CN" dirty="0"/>
              <a:t> ] [ </a:t>
            </a:r>
            <a:r>
              <a:rPr lang="en-US" altLang="zh-CN" i="1" dirty="0" err="1"/>
              <a:t>opclass</a:t>
            </a:r>
            <a:r>
              <a:rPr lang="en-US" altLang="zh-CN" dirty="0"/>
              <a:t> ] [ ASC | DESC ] [ NULLS { FIRST | LAST } ] [, ...] ) [ </a:t>
            </a:r>
            <a:r>
              <a:rPr lang="en-US" altLang="zh-CN" b="1" dirty="0"/>
              <a:t>INCLUDE</a:t>
            </a:r>
            <a:r>
              <a:rPr lang="en-US" altLang="zh-CN" dirty="0"/>
              <a:t> ( </a:t>
            </a:r>
            <a:r>
              <a:rPr lang="en-US" altLang="zh-CN" i="1" dirty="0" err="1"/>
              <a:t>column_name</a:t>
            </a:r>
            <a:r>
              <a:rPr lang="en-US" altLang="zh-CN" dirty="0"/>
              <a:t> [, ...] ) ] [ WITH ( </a:t>
            </a:r>
            <a:r>
              <a:rPr lang="en-US" altLang="zh-CN" i="1" dirty="0" err="1"/>
              <a:t>storage_parameter</a:t>
            </a:r>
            <a:r>
              <a:rPr lang="en-US" altLang="zh-CN" dirty="0"/>
              <a:t> = </a:t>
            </a:r>
            <a:r>
              <a:rPr lang="en-US" altLang="zh-CN" i="1" dirty="0"/>
              <a:t>value</a:t>
            </a:r>
            <a:r>
              <a:rPr lang="en-US" altLang="zh-CN" dirty="0"/>
              <a:t> [, ... ] ) ] [ TABLESPACE </a:t>
            </a:r>
            <a:r>
              <a:rPr lang="en-US" altLang="zh-CN" i="1" dirty="0" err="1"/>
              <a:t>tablespace_name</a:t>
            </a:r>
            <a:r>
              <a:rPr lang="en-US" altLang="zh-CN" dirty="0"/>
              <a:t> ] [ </a:t>
            </a:r>
            <a:r>
              <a:rPr lang="en-US" altLang="zh-CN" b="1" dirty="0"/>
              <a:t>WHERE</a:t>
            </a:r>
            <a:r>
              <a:rPr lang="en-US" altLang="zh-CN" dirty="0"/>
              <a:t> </a:t>
            </a:r>
            <a:r>
              <a:rPr lang="en-US" altLang="zh-CN" i="1" dirty="0"/>
              <a:t>predicate</a:t>
            </a:r>
            <a:r>
              <a:rPr lang="en-US" altLang="zh-CN" dirty="0"/>
              <a:t> </a:t>
            </a:r>
            <a:r>
              <a:rPr lang="en-US" altLang="zh-CN" dirty="0" smtClean="0"/>
              <a:t>]</a:t>
            </a:r>
          </a:p>
          <a:p>
            <a:r>
              <a:rPr lang="en-US" altLang="zh-CN" dirty="0"/>
              <a:t>{ </a:t>
            </a:r>
            <a:r>
              <a:rPr lang="en-US" altLang="zh-CN" i="1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i="1" dirty="0"/>
              <a:t>expression</a:t>
            </a:r>
            <a:r>
              <a:rPr lang="en-US" altLang="zh-CN" dirty="0"/>
              <a:t> ) } </a:t>
            </a:r>
            <a:r>
              <a:rPr lang="zh-CN" altLang="en-US" b="1" i="1" dirty="0" smtClean="0"/>
              <a:t>：</a:t>
            </a:r>
            <a:r>
              <a:rPr lang="zh-CN" altLang="en-US" u="sng" dirty="0" smtClean="0"/>
              <a:t>表达</a:t>
            </a:r>
            <a:r>
              <a:rPr lang="zh-CN" altLang="en-US" u="sng" dirty="0" smtClean="0"/>
              <a:t>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en-US" altLang="zh-CN" b="1" dirty="0" smtClean="0">
                <a:solidFill>
                  <a:srgbClr val="FF0000"/>
                </a:solidFill>
              </a:rPr>
              <a:t>IMMUTABLE 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en-US" altLang="zh-CN" b="1" dirty="0"/>
              <a:t>WHERE</a:t>
            </a:r>
            <a:r>
              <a:rPr lang="en-US" altLang="zh-CN" dirty="0"/>
              <a:t> </a:t>
            </a:r>
            <a:r>
              <a:rPr lang="en-US" altLang="zh-CN" i="1" dirty="0" smtClean="0"/>
              <a:t>predicate</a:t>
            </a:r>
            <a:r>
              <a:rPr lang="zh-CN" altLang="en-US" b="1" i="1" dirty="0" smtClean="0"/>
              <a:t>：</a:t>
            </a:r>
            <a:r>
              <a:rPr lang="zh-CN" altLang="en-US" u="sng" dirty="0" smtClean="0"/>
              <a:t>条件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zh-CN" altLang="en-US" b="1" u="sng" dirty="0" smtClean="0">
                <a:solidFill>
                  <a:srgbClr val="FF0000"/>
                </a:solidFill>
              </a:rPr>
              <a:t>小</a:t>
            </a:r>
            <a:r>
              <a:rPr lang="zh-CN" altLang="en-US" b="1" u="sng" dirty="0" smtClean="0">
                <a:solidFill>
                  <a:srgbClr val="FF0000"/>
                </a:solidFill>
              </a:rPr>
              <a:t>就</a:t>
            </a:r>
            <a:r>
              <a:rPr lang="zh-CN" altLang="en-US" b="1" u="sng" dirty="0" smtClean="0">
                <a:solidFill>
                  <a:srgbClr val="FF0000"/>
                </a:solidFill>
              </a:rPr>
              <a:t>快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en-US" altLang="zh-CN" dirty="0"/>
              <a:t>[ </a:t>
            </a:r>
            <a:r>
              <a:rPr lang="en-US" altLang="zh-CN" b="1" dirty="0"/>
              <a:t>INCLUDE</a:t>
            </a:r>
            <a:r>
              <a:rPr lang="en-US" altLang="zh-CN" dirty="0"/>
              <a:t> ( </a:t>
            </a:r>
            <a:r>
              <a:rPr lang="en-US" altLang="zh-CN" i="1" dirty="0" err="1"/>
              <a:t>column_name</a:t>
            </a:r>
            <a:r>
              <a:rPr lang="en-US" altLang="zh-CN" dirty="0"/>
              <a:t> [, ...] ) </a:t>
            </a:r>
            <a:r>
              <a:rPr lang="en-US" altLang="zh-CN" dirty="0" smtClean="0"/>
              <a:t>]</a:t>
            </a:r>
            <a:r>
              <a:rPr lang="zh-CN" altLang="en-US" dirty="0" smtClean="0"/>
              <a:t>：</a:t>
            </a:r>
            <a:r>
              <a:rPr lang="zh-CN" altLang="en-US" u="sng" dirty="0" smtClean="0"/>
              <a:t>覆盖索引</a:t>
            </a:r>
            <a:endParaRPr lang="en-US" altLang="zh-CN" u="sng" dirty="0" smtClean="0"/>
          </a:p>
          <a:p>
            <a:pPr lvl="1"/>
            <a:r>
              <a:rPr lang="zh-CN" altLang="en-US" u="sng" dirty="0" smtClean="0">
                <a:solidFill>
                  <a:srgbClr val="FF0000"/>
                </a:solidFill>
              </a:rPr>
              <a:t>减少二次查表</a:t>
            </a:r>
            <a:endParaRPr lang="en-US" altLang="zh-CN" u="sng" dirty="0" smtClean="0">
              <a:solidFill>
                <a:srgbClr val="FF0000"/>
              </a:solidFill>
            </a:endParaRPr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AccessMethod</a:t>
            </a:r>
            <a:r>
              <a:rPr kumimoji="1" lang="zh-CN" altLang="en-US" dirty="0"/>
              <a:t>小结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random_page_cost</a:t>
            </a:r>
            <a:r>
              <a:rPr lang="zh-CN" altLang="en-US" dirty="0" smtClean="0"/>
              <a:t>与</a:t>
            </a:r>
            <a:r>
              <a:rPr lang="en-US" altLang="zh-CN" dirty="0" err="1" smtClean="0"/>
              <a:t>seq_page_cost</a:t>
            </a:r>
            <a:endParaRPr lang="en-US" altLang="zh-CN" dirty="0" smtClean="0"/>
          </a:p>
          <a:p>
            <a:r>
              <a:rPr kumimoji="1" lang="zh-CN" altLang="en-US" dirty="0" smtClean="0"/>
              <a:t>原生不支持</a:t>
            </a:r>
            <a:r>
              <a:rPr kumimoji="1" lang="en-US" altLang="zh-CN" dirty="0" smtClean="0"/>
              <a:t>hint</a:t>
            </a:r>
            <a:r>
              <a:rPr kumimoji="1" lang="zh-CN" altLang="en-US" dirty="0" smtClean="0"/>
              <a:t>，通过插件可以，但是不推荐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maintain_work_mem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Create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Concurrently</a:t>
            </a:r>
            <a:r>
              <a:rPr kumimoji="1" lang="zh-CN" altLang="en-US" dirty="0" smtClean="0"/>
              <a:t>。。。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监控索引膨胀率与使用情况，并重建或删除；</a:t>
            </a:r>
            <a:endParaRPr kumimoji="1" lang="en-US" altLang="zh-CN" dirty="0" smtClean="0"/>
          </a:p>
          <a:p>
            <a:r>
              <a:rPr kumimoji="1" lang="en-US" altLang="zh-CN" dirty="0" smtClean="0"/>
              <a:t>Drop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要在整个复制流上确认无访问。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灵活使用条件</a:t>
            </a:r>
            <a:r>
              <a:rPr kumimoji="1" lang="zh-CN" altLang="en-US" dirty="0" smtClean="0"/>
              <a:t>索引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函数索引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表达式索引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12</a:t>
            </a:r>
            <a:r>
              <a:rPr kumimoji="1" lang="zh-CN" altLang="en-US" dirty="0" smtClean="0"/>
              <a:t>新增</a:t>
            </a:r>
            <a:r>
              <a:rPr lang="en-US" altLang="zh-CN" b="1" dirty="0"/>
              <a:t>CREATE ACCESS </a:t>
            </a:r>
            <a:r>
              <a:rPr lang="en-US" altLang="zh-CN" b="1" dirty="0" smtClean="0"/>
              <a:t>METHOD</a:t>
            </a:r>
            <a:r>
              <a:rPr lang="zh-CN" altLang="en-US" dirty="0" smtClean="0"/>
              <a:t>语句，可拔插存储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842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7150768" cy="3676817"/>
          </a:xfrm>
        </p:spPr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简述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结构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页面置换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CHECKPOINT</a:t>
            </a:r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小结</a:t>
            </a:r>
            <a:endParaRPr kumimoji="1"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518" y="1825625"/>
            <a:ext cx="40005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91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958593"/>
              </p:ext>
            </p:extLst>
          </p:nvPr>
        </p:nvGraphicFramePr>
        <p:xfrm>
          <a:off x="838200" y="1825623"/>
          <a:ext cx="10515600" cy="39816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663603">
                <a:tc>
                  <a:txBody>
                    <a:bodyPr/>
                    <a:lstStyle/>
                    <a:p>
                      <a:r>
                        <a:rPr lang="zh-CN" altLang="en-US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66360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默认最小单元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16KB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8KB</a:t>
                      </a:r>
                      <a:endParaRPr lang="zh-CN" altLang="en-US" dirty="0"/>
                    </a:p>
                  </a:txBody>
                  <a:tcPr/>
                </a:tc>
              </a:tr>
              <a:tr h="663603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CHECKPOINT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Fuzzy</a:t>
                      </a:r>
                      <a:r>
                        <a:rPr lang="zh-CN" altLang="en-US" smtClean="0"/>
                        <a:t> </a:t>
                      </a:r>
                      <a:r>
                        <a:rPr lang="en-US" altLang="zh-CN" smtClean="0"/>
                        <a:t>CHECKPOINT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Spread</a:t>
                      </a:r>
                      <a:r>
                        <a:rPr lang="zh-CN" altLang="en-US" smtClean="0"/>
                        <a:t> </a:t>
                      </a:r>
                      <a:r>
                        <a:rPr lang="en-US" altLang="zh-CN" smtClean="0"/>
                        <a:t>checkpoint</a:t>
                      </a:r>
                      <a:endParaRPr lang="zh-CN" altLang="en-US" dirty="0"/>
                    </a:p>
                  </a:txBody>
                  <a:tcPr/>
                </a:tc>
              </a:tr>
              <a:tr h="66360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淘汰策略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LRU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Clock-Sweep</a:t>
                      </a:r>
                      <a:endParaRPr lang="zh-CN" altLang="en-US" dirty="0"/>
                    </a:p>
                  </a:txBody>
                  <a:tcPr/>
                </a:tc>
              </a:tr>
              <a:tr h="663603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Multiple Buffer Pools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i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innodb_buffer_pool_instances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</a:tr>
              <a:tr h="663603">
                <a:tc>
                  <a:txBody>
                    <a:bodyPr/>
                    <a:lstStyle/>
                    <a:p>
                      <a:r>
                        <a:rPr lang="zh-CN" altLang="en-US" smtClean="0"/>
                        <a:t>其他</a:t>
                      </a:r>
                      <a:r>
                        <a:rPr lang="en-US" altLang="zh-CN" smtClean="0"/>
                        <a:t>Buffer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mtClean="0"/>
                        <a:t>Query</a:t>
                      </a:r>
                      <a:r>
                        <a:rPr lang="zh-CN" altLang="en-US" smtClean="0"/>
                        <a:t> </a:t>
                      </a:r>
                      <a:r>
                        <a:rPr lang="en-US" altLang="zh-CN" smtClean="0"/>
                        <a:t>buffer</a:t>
                      </a:r>
                      <a:r>
                        <a:rPr lang="zh-CN" altLang="en-US" smtClean="0"/>
                        <a:t>、</a:t>
                      </a:r>
                      <a:r>
                        <a:rPr lang="en-US" altLang="zh-CN" smtClean="0"/>
                        <a:t>ahi</a:t>
                      </a:r>
                      <a:r>
                        <a:rPr lang="zh-CN" altLang="en-US" smtClean="0"/>
                        <a:t>、</a:t>
                      </a:r>
                      <a:r>
                        <a:rPr lang="en-US" altLang="zh-CN" smtClean="0"/>
                        <a:t>logbuffer</a:t>
                      </a:r>
                      <a:r>
                        <a:rPr lang="zh-CN" altLang="en-US" smtClean="0"/>
                        <a:t>、</a:t>
                      </a:r>
                      <a:r>
                        <a:rPr lang="en-US" altLang="zh-CN" smtClean="0"/>
                        <a:t>changebuffer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Workmem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err="1" smtClean="0"/>
                        <a:t>logbuffer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err="1" smtClean="0"/>
                        <a:t>commit_log_cache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181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简述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 smtClean="0"/>
              <a:t>Bufferpool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以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为单元，组织为一个</a:t>
            </a:r>
            <a:r>
              <a:rPr kumimoji="1" lang="en-US" altLang="zh-CN" dirty="0" smtClean="0"/>
              <a:t>list</a:t>
            </a:r>
            <a:r>
              <a:rPr kumimoji="1" lang="zh-CN" altLang="en-US" dirty="0" smtClean="0"/>
              <a:t>进行管理；按照</a:t>
            </a:r>
            <a:r>
              <a:rPr kumimoji="1" lang="en-US" altLang="zh-CN" dirty="0" smtClean="0"/>
              <a:t>LRU</a:t>
            </a:r>
            <a:r>
              <a:rPr kumimoji="1" lang="zh-CN" altLang="en-US" dirty="0" smtClean="0"/>
              <a:t>算法进行页面淘汰。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ChangeBuffer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二级索引的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不在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中时，暂时将二级索引的变更进行缓存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AdaptiveHashIndex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的寻路</a:t>
            </a:r>
            <a:r>
              <a:rPr kumimoji="1" lang="en-US" altLang="zh-CN" dirty="0" smtClean="0"/>
              <a:t>cache</a:t>
            </a:r>
            <a:r>
              <a:rPr kumimoji="1" lang="zh-CN" altLang="en-US" dirty="0" smtClean="0"/>
              <a:t>；基于某个阈值的部分键值的</a:t>
            </a:r>
            <a:r>
              <a:rPr kumimoji="1" lang="en-US" altLang="zh-CN" dirty="0" err="1" smtClean="0"/>
              <a:t>HashIndex</a:t>
            </a:r>
            <a:r>
              <a:rPr kumimoji="1" lang="zh-CN" altLang="en-US" dirty="0" smtClean="0"/>
              <a:t>（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BTR_SEARCH_HASH_ANALYSIS</a:t>
            </a:r>
            <a:r>
              <a:rPr kumimoji="1" lang="en-US" altLang="zh-CN" dirty="0"/>
              <a:t> 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LogBuffer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日志的缓存，默认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；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结构</a:t>
            </a:r>
            <a:endParaRPr kumimoji="1" lang="en-US" altLang="zh-CN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550" y="1690688"/>
            <a:ext cx="77089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Buffer</a:t>
            </a:r>
            <a:r>
              <a:rPr kumimoji="1" lang="zh-CN" altLang="en-US" dirty="0"/>
              <a:t>页面置换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页面置换策略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Clock-sweep</a:t>
            </a:r>
          </a:p>
          <a:p>
            <a:r>
              <a:rPr kumimoji="1" lang="zh-CN" altLang="en-US" dirty="0"/>
              <a:t>找到第一个访问次数是</a:t>
            </a:r>
            <a:r>
              <a:rPr kumimoji="1" lang="en-US" altLang="zh-CN" dirty="0"/>
              <a:t>0</a:t>
            </a:r>
            <a:r>
              <a:rPr kumimoji="1" lang="zh-CN" altLang="en-US" dirty="0"/>
              <a:t>的块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337" y="2775132"/>
            <a:ext cx="5129463" cy="340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8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CHECKPOINT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SpreadCHECKPOINT</a:t>
            </a:r>
            <a:r>
              <a:rPr lang="zh-CN" altLang="en-US" dirty="0" smtClean="0"/>
              <a:t>：</a:t>
            </a:r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小结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推荐配置为系统内存的</a:t>
            </a:r>
            <a:r>
              <a:rPr kumimoji="1" lang="en-US" altLang="zh-CN" dirty="0" smtClean="0"/>
              <a:t>10%-25%</a:t>
            </a:r>
            <a:r>
              <a:rPr kumimoji="1" lang="zh-CN" altLang="en-US" dirty="0" smtClean="0"/>
              <a:t>，剩下给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切流量注意灰度预热，或者用</a:t>
            </a:r>
            <a:r>
              <a:rPr kumimoji="1" lang="en-US" altLang="zh-CN" dirty="0" err="1" smtClean="0"/>
              <a:t>pg_rewarm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监控命中率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的大小</a:t>
            </a:r>
            <a:endParaRPr kumimoji="1" lang="en-US" altLang="zh-CN" dirty="0" smtClean="0"/>
          </a:p>
          <a:p>
            <a:r>
              <a:rPr lang="en-US" altLang="zh-CN" dirty="0" err="1" smtClean="0"/>
              <a:t>work_mem</a:t>
            </a:r>
            <a:r>
              <a:rPr lang="zh-CN" altLang="en-US" dirty="0" smtClean="0"/>
              <a:t>不属于</a:t>
            </a:r>
            <a:r>
              <a:rPr lang="en-US" altLang="zh-CN" dirty="0" smtClean="0"/>
              <a:t>buffer</a:t>
            </a:r>
            <a:r>
              <a:rPr lang="zh-CN" altLang="en-US" dirty="0" smtClean="0"/>
              <a:t>，其为每个进程的工作内存。</a:t>
            </a:r>
            <a:endParaRPr lang="en-US" altLang="zh-CN" dirty="0" smtClean="0"/>
          </a:p>
          <a:p>
            <a:r>
              <a:rPr lang="zh-CN" altLang="en-US" dirty="0" smtClean="0"/>
              <a:t>到达</a:t>
            </a:r>
            <a:r>
              <a:rPr lang="en-US" altLang="zh-CN" i="1" dirty="0" err="1" smtClean="0"/>
              <a:t>max_wal_size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sharedbuffer</a:t>
            </a:r>
            <a:r>
              <a:rPr lang="zh-CN" altLang="en-US" dirty="0" smtClean="0"/>
              <a:t>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；但是</a:t>
            </a:r>
            <a:r>
              <a:rPr lang="en-US" altLang="zh-CN" dirty="0" err="1" smtClean="0"/>
              <a:t>max_wal_size</a:t>
            </a:r>
            <a:r>
              <a:rPr lang="zh-CN" altLang="en-US" dirty="0" smtClean="0"/>
              <a:t>有可能还是会超限。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96154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LockManager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的简介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spinlock</a:t>
            </a:r>
          </a:p>
          <a:p>
            <a:r>
              <a:rPr kumimoji="1" lang="en-US" altLang="zh-CN" dirty="0"/>
              <a:t>PostgreSQL</a:t>
            </a:r>
            <a:r>
              <a:rPr kumimoji="1" lang="zh-CN" altLang="en-US" dirty="0" smtClean="0"/>
              <a:t>的轻量锁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的重量锁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SiRead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zh-CN" altLang="en-US" dirty="0" smtClean="0"/>
              <a:t>基于</a:t>
            </a:r>
            <a:r>
              <a:rPr kumimoji="1" lang="en-US" altLang="zh-CN" dirty="0" err="1" smtClean="0"/>
              <a:t>SIReadLock</a:t>
            </a:r>
            <a:r>
              <a:rPr kumimoji="1" lang="zh-CN" altLang="en-US" dirty="0" smtClean="0"/>
              <a:t>检测</a:t>
            </a:r>
            <a:r>
              <a:rPr kumimoji="1" lang="zh-CN" altLang="en-US" dirty="0"/>
              <a:t>序列化异常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小结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02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5748883"/>
              </p:ext>
            </p:extLst>
          </p:nvPr>
        </p:nvGraphicFramePr>
        <p:xfrm>
          <a:off x="838200" y="1825625"/>
          <a:ext cx="10792326" cy="4125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7442"/>
                <a:gridCol w="3597442"/>
                <a:gridCol w="3597442"/>
              </a:tblGrid>
              <a:tr h="687666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MVCC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空间支持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数据带版本号，放在原表中支持</a:t>
                      </a:r>
                      <a:endParaRPr lang="zh-CN" altLang="en-US" dirty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默认隔离级别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RC</a:t>
                      </a:r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幻读避免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间隙锁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事务级别快照</a:t>
                      </a:r>
                      <a:endParaRPr lang="en-US" altLang="zh-CN" dirty="0" smtClean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死锁处理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死锁检测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死锁检测</a:t>
                      </a:r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锁粒度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有行级别，有表级别，有意向锁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有行级别，有表级别，无意向锁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18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的简介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en-US" altLang="zh-CN" dirty="0" smtClean="0"/>
              <a:t>MVCC</a:t>
            </a:r>
          </a:p>
          <a:p>
            <a:pPr lvl="1"/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段</a:t>
            </a:r>
            <a:endParaRPr kumimoji="1" lang="en-US" altLang="zh-CN" dirty="0" smtClean="0"/>
          </a:p>
          <a:p>
            <a:r>
              <a:rPr kumimoji="1" lang="zh-CN" altLang="en-US" dirty="0" smtClean="0"/>
              <a:t>锁类型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共享排他锁</a:t>
            </a:r>
            <a:r>
              <a:rPr kumimoji="1" lang="zh-CN" altLang="en-US" dirty="0"/>
              <a:t>、</a:t>
            </a:r>
            <a:r>
              <a:rPr kumimoji="1" lang="zh-CN" altLang="en-US" dirty="0" smtClean="0"/>
              <a:t>意向锁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行锁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记录锁：一行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间隙锁：若干满足条件的行（新行满足条件，也会锁）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组合或衍生锁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Next-Key</a:t>
            </a:r>
            <a:r>
              <a:rPr kumimoji="1" lang="zh-CN" altLang="en-US" dirty="0" smtClean="0"/>
              <a:t>锁：索引扫描时，为避免幻读的的锁；实际为记录锁和间隙锁的结合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插入意向锁：间隙锁；避免插入的幻读异常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自增锁：带有</a:t>
            </a:r>
            <a:r>
              <a:rPr kumimoji="1" lang="en-US" altLang="zh-CN" dirty="0" smtClean="0"/>
              <a:t>AUTO_INCREMENT</a:t>
            </a:r>
            <a:r>
              <a:rPr kumimoji="1" lang="zh-CN" altLang="en-US" dirty="0" smtClean="0"/>
              <a:t>的表上的特别的表锁。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空间索引的谓词锁：在空间索引上的查询条件命中的最小矩形边界上的锁。</a:t>
            </a:r>
            <a:endParaRPr kumimoji="1" lang="en-US" altLang="zh-CN" dirty="0"/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spinlock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spinlock</a:t>
            </a:r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的轻量锁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Lightweight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2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只能</a:t>
            </a:r>
            <a:r>
              <a:rPr kumimoji="1" lang="zh-CN" altLang="en-US" dirty="0" smtClean="0"/>
              <a:t>从</a:t>
            </a:r>
            <a:r>
              <a:rPr kumimoji="1" lang="en-US" altLang="zh-CN" dirty="0" err="1" smtClean="0"/>
              <a:t>pg_stat_activity</a:t>
            </a:r>
            <a:r>
              <a:rPr kumimoji="1" lang="zh-CN" altLang="en-US" dirty="0"/>
              <a:t>查看</a:t>
            </a:r>
            <a:r>
              <a:rPr lang="en-US" altLang="zh-CN" dirty="0" err="1"/>
              <a:t>wait_event_type</a:t>
            </a:r>
            <a:r>
              <a:rPr lang="zh-CN" altLang="en-US" dirty="0" smtClean="0"/>
              <a:t>，看到等待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代码中控制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3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的重量锁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Regular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lock/heavyweight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SI——9.1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 err="1" smtClean="0"/>
              <a:t>SIRead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快</a:t>
            </a:r>
            <a:r>
              <a:rPr kumimoji="1" lang="zh-CN" altLang="en-US" dirty="0"/>
              <a:t>照隔离</a:t>
            </a:r>
            <a:r>
              <a:rPr kumimoji="1" lang="zh-CN" altLang="en-US" dirty="0" smtClean="0"/>
              <a:t>序列化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事务</a:t>
            </a:r>
            <a:r>
              <a:rPr kumimoji="1" lang="zh-CN" altLang="en-US" dirty="0"/>
              <a:t>依赖图中，如果</a:t>
            </a:r>
            <a:r>
              <a:rPr kumimoji="1" lang="zh-CN" altLang="en-US" b="1" dirty="0"/>
              <a:t>有环</a:t>
            </a:r>
            <a:r>
              <a:rPr kumimoji="1" lang="zh-CN" altLang="en-US" dirty="0"/>
              <a:t>且环中</a:t>
            </a:r>
            <a:r>
              <a:rPr kumimoji="1" lang="zh-CN" altLang="en-US" b="1" dirty="0"/>
              <a:t>有</a:t>
            </a:r>
            <a:r>
              <a:rPr kumimoji="1" lang="en-US" altLang="zh-CN" b="1" dirty="0"/>
              <a:t>T1-(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)-&gt;T2-(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)-&gt;T3</a:t>
            </a:r>
            <a:r>
              <a:rPr kumimoji="1" lang="zh-CN" altLang="en-US" dirty="0" smtClean="0"/>
              <a:t>，就</a:t>
            </a:r>
            <a:r>
              <a:rPr kumimoji="1" lang="zh-CN" altLang="en-US" dirty="0"/>
              <a:t>可能出现序列化异常。</a:t>
            </a:r>
            <a:endParaRPr kumimoji="1" lang="en-US" altLang="zh-CN" dirty="0"/>
          </a:p>
          <a:p>
            <a:pPr lvl="2"/>
            <a:r>
              <a:rPr kumimoji="1" lang="en-US" altLang="zh-CN" dirty="0" smtClean="0"/>
              <a:t>PostgreSQL</a:t>
            </a:r>
            <a:r>
              <a:rPr lang="zh-CN" altLang="en-US" dirty="0" smtClean="0"/>
              <a:t>通过</a:t>
            </a:r>
            <a:r>
              <a:rPr lang="zh-CN" altLang="en-US" b="1" dirty="0"/>
              <a:t>检测事务之间的读写依赖</a:t>
            </a:r>
            <a:r>
              <a:rPr lang="zh-CN" altLang="en-US" dirty="0"/>
              <a:t>实现序列化，且出于性能考虑</a:t>
            </a:r>
            <a:r>
              <a:rPr kumimoji="1" lang="zh-CN" altLang="en-US" dirty="0"/>
              <a:t>只检测一个</a:t>
            </a:r>
            <a:r>
              <a:rPr kumimoji="1" lang="zh-CN" altLang="en-US" dirty="0" smtClean="0"/>
              <a:t>条件</a:t>
            </a:r>
            <a:endParaRPr kumimoji="1" lang="en-US" altLang="zh-CN" dirty="0" smtClean="0"/>
          </a:p>
        </p:txBody>
      </p:sp>
      <p:pic>
        <p:nvPicPr>
          <p:cNvPr id="5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r>
              <a:rPr lang="en-US" altLang="zh-CN" dirty="0"/>
              <a:t>SIREAD lock </a:t>
            </a:r>
            <a:r>
              <a:rPr lang="zh-CN" altLang="en-US" dirty="0" smtClean="0"/>
              <a:t>（类似于意向锁）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小结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max_locks_per_transaction</a:t>
            </a:r>
            <a:r>
              <a:rPr lang="en-US" altLang="zh-CN" dirty="0" smtClean="0"/>
              <a:t>:</a:t>
            </a:r>
            <a:r>
              <a:rPr kumimoji="1" lang="zh-CN" altLang="en-US" dirty="0" smtClean="0"/>
              <a:t>每个事务的锁的锁的数量有上限</a:t>
            </a:r>
            <a:endParaRPr kumimoji="1" lang="en-US" altLang="zh-CN" dirty="0" smtClean="0"/>
          </a:p>
          <a:p>
            <a:r>
              <a:rPr kumimoji="1" lang="zh-CN" altLang="en-US" dirty="0"/>
              <a:t>做</a:t>
            </a:r>
            <a:r>
              <a:rPr kumimoji="1" lang="en-US" altLang="zh-CN" dirty="0"/>
              <a:t>DDL</a:t>
            </a:r>
            <a:r>
              <a:rPr kumimoji="1" lang="zh-CN" altLang="en-US" dirty="0"/>
              <a:t>时</a:t>
            </a:r>
            <a:r>
              <a:rPr kumimoji="1" lang="zh-CN" altLang="en-US" dirty="0" smtClean="0"/>
              <a:t>，应</a:t>
            </a:r>
            <a:r>
              <a:rPr kumimoji="1" lang="zh-CN" altLang="en-US" b="1" dirty="0" smtClean="0"/>
              <a:t>避免</a:t>
            </a:r>
            <a:r>
              <a:rPr kumimoji="1" lang="zh-CN" altLang="en-US" b="1" dirty="0"/>
              <a:t>慢</a:t>
            </a:r>
            <a:r>
              <a:rPr kumimoji="1" lang="zh-CN" altLang="en-US" b="1" dirty="0" smtClean="0"/>
              <a:t>查询阻塞</a:t>
            </a:r>
            <a:r>
              <a:rPr kumimoji="1" lang="en-US" altLang="zh-CN" b="1" dirty="0" smtClean="0"/>
              <a:t>DDL</a:t>
            </a:r>
            <a:r>
              <a:rPr kumimoji="1" lang="zh-CN" altLang="en-US" dirty="0" smtClean="0"/>
              <a:t>，从而造成</a:t>
            </a:r>
            <a:r>
              <a:rPr kumimoji="1" lang="zh-CN" altLang="en-US" dirty="0"/>
              <a:t>级联</a:t>
            </a:r>
            <a:r>
              <a:rPr kumimoji="1" lang="zh-CN" altLang="en-US" dirty="0" smtClean="0"/>
              <a:t>等待（</a:t>
            </a:r>
            <a:r>
              <a:rPr kumimoji="1" lang="en-US" altLang="zh-CN" dirty="0" err="1" smtClean="0"/>
              <a:t>Pg_lock</a:t>
            </a:r>
            <a:r>
              <a:rPr kumimoji="1" lang="zh-CN" altLang="en-US" dirty="0" smtClean="0"/>
              <a:t>查看显式锁的关系）。</a:t>
            </a:r>
            <a:endParaRPr kumimoji="1" lang="en-US" altLang="zh-CN" dirty="0" smtClean="0"/>
          </a:p>
          <a:p>
            <a:r>
              <a:rPr kumimoji="1" lang="en-US" altLang="zh-CN" dirty="0"/>
              <a:t>Ship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locked</a:t>
            </a:r>
            <a:r>
              <a:rPr kumimoji="1" lang="zh-CN" altLang="en-US" dirty="0" smtClean="0"/>
              <a:t>，避免部分行的锁等待；</a:t>
            </a:r>
            <a:endParaRPr lang="en-US" altLang="zh-CN" dirty="0"/>
          </a:p>
          <a:p>
            <a:r>
              <a:rPr kumimoji="1" lang="zh-CN" altLang="en-US" dirty="0" smtClean="0"/>
              <a:t>热点数据更新事务中显式使用</a:t>
            </a:r>
            <a:r>
              <a:rPr kumimoji="1" lang="en-US" altLang="zh-CN" dirty="0" smtClean="0"/>
              <a:t>advisory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locks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锁，特别是</a:t>
            </a:r>
            <a:r>
              <a:rPr kumimoji="1" lang="en-US" altLang="zh-CN" dirty="0" smtClean="0"/>
              <a:t>DDL</a:t>
            </a:r>
            <a:r>
              <a:rPr kumimoji="1" lang="zh-CN" altLang="en-US" dirty="0" smtClean="0"/>
              <a:t>，会影响整个复制链。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66843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简介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的提交策略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的故障恢复与主从复制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的小结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873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LogManager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6075310"/>
              </p:ext>
            </p:extLst>
          </p:nvPr>
        </p:nvGraphicFramePr>
        <p:xfrm>
          <a:off x="838200" y="1825624"/>
          <a:ext cx="10663989" cy="4270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4663"/>
                <a:gridCol w="3554663"/>
                <a:gridCol w="3554663"/>
              </a:tblGrid>
              <a:tr h="711729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Redo</a:t>
                      </a:r>
                      <a:r>
                        <a:rPr lang="zh-CN" altLang="en-US" dirty="0" smtClean="0"/>
                        <a:t>日志存储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zh-CN" altLang="en-US" dirty="0" smtClean="0"/>
                        <a:t>分段，总大小有上限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zh-CN" altLang="en-US" dirty="0" smtClean="0"/>
                        <a:t>分段，异常情况可能超过上限，撑爆磁盘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日志存储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空间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没有，要说有，就是在原表中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事务提交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如果开</a:t>
                      </a:r>
                      <a:r>
                        <a:rPr lang="en-US" altLang="zh-CN" dirty="0" err="1" smtClean="0"/>
                        <a:t>binlog</a:t>
                      </a:r>
                      <a:r>
                        <a:rPr lang="zh-CN" altLang="en-US" dirty="0" smtClean="0"/>
                        <a:t>，需要两阶段提交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</a:t>
                      </a:r>
                      <a:r>
                        <a:rPr lang="en-US" altLang="zh-CN" dirty="0" smtClean="0"/>
                        <a:t>WAL</a:t>
                      </a:r>
                      <a:r>
                        <a:rPr lang="zh-CN" altLang="en-US" dirty="0" smtClean="0"/>
                        <a:t>之后，即可返回</a:t>
                      </a:r>
                      <a:r>
                        <a:rPr lang="en-US" altLang="zh-CN" dirty="0" smtClean="0"/>
                        <a:t>commit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组提交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有、</a:t>
                      </a:r>
                      <a:r>
                        <a:rPr lang="en-US" altLang="zh-CN" dirty="0" err="1" smtClean="0"/>
                        <a:t>redolog</a:t>
                      </a:r>
                      <a:r>
                        <a:rPr lang="zh-CN" altLang="en-US" dirty="0" smtClean="0"/>
                        <a:t>安装</a:t>
                      </a:r>
                      <a:r>
                        <a:rPr lang="en-US" altLang="zh-CN" dirty="0" err="1" smtClean="0"/>
                        <a:t>lsn</a:t>
                      </a:r>
                      <a:r>
                        <a:rPr lang="zh-CN" altLang="en-US" dirty="0" smtClean="0"/>
                        <a:t>顺序合并刷盘；（</a:t>
                      </a:r>
                      <a:r>
                        <a:rPr lang="en-US" altLang="zh-CN" dirty="0" err="1" smtClean="0"/>
                        <a:t>binlog</a:t>
                      </a:r>
                      <a:r>
                        <a:rPr lang="zh-CN" altLang="en-US" dirty="0" smtClean="0"/>
                        <a:t>引入队列机制分段刷盘）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en-US" altLang="zh-CN" dirty="0" err="1" smtClean="0"/>
                        <a:t>commit_delay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sz="1800" b="0" i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commit_siblings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避免数据部分写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Doublewrite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buffer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Full_page_write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7198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LogManager</a:t>
            </a:r>
            <a:r>
              <a:rPr kumimoji="1" lang="zh-CN" altLang="en-US" dirty="0"/>
              <a:t>简介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</a:p>
          <a:p>
            <a:pPr lvl="1"/>
            <a:r>
              <a:rPr kumimoji="1" lang="zh-CN" altLang="en-US" dirty="0" smtClean="0"/>
              <a:t>保证幂等性的</a:t>
            </a:r>
            <a:r>
              <a:rPr kumimoji="1" lang="en-US" altLang="zh-CN" dirty="0" smtClean="0"/>
              <a:t>physiological</a:t>
            </a:r>
            <a:r>
              <a:rPr kumimoji="1" lang="zh-CN" altLang="en-US" dirty="0" smtClean="0"/>
              <a:t>的日志类型</a:t>
            </a:r>
            <a:endParaRPr kumimoji="1" lang="en-US" altLang="zh-CN" dirty="0"/>
          </a:p>
          <a:p>
            <a:r>
              <a:rPr kumimoji="1" lang="en-US" altLang="zh-CN" dirty="0" smtClean="0"/>
              <a:t>Undo</a:t>
            </a:r>
          </a:p>
          <a:p>
            <a:pPr lvl="1"/>
            <a:r>
              <a:rPr kumimoji="1" lang="zh-CN" altLang="en-US" dirty="0" smtClean="0"/>
              <a:t>按照段的形式进行组织，存放行的旧版本。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不同对象的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放着不同的表空间中。</a:t>
            </a:r>
            <a:endParaRPr kumimoji="1" lang="en-US" altLang="zh-CN" dirty="0"/>
          </a:p>
          <a:p>
            <a:r>
              <a:rPr kumimoji="1" lang="en-US" altLang="zh-CN" dirty="0" err="1" smtClean="0"/>
              <a:t>CrashRecovery</a:t>
            </a:r>
            <a:r>
              <a:rPr kumimoji="1" lang="zh-CN" altLang="en-US" dirty="0"/>
              <a:t>，</a:t>
            </a:r>
            <a:r>
              <a:rPr lang="zh-CN" altLang="en-US" dirty="0" smtClean="0"/>
              <a:t>在</a:t>
            </a:r>
            <a:r>
              <a:rPr lang="en-US" altLang="zh-CN" dirty="0" err="1"/>
              <a:t>InnoDB</a:t>
            </a:r>
            <a:r>
              <a:rPr lang="zh-CN" altLang="en-US" dirty="0"/>
              <a:t>中，分为</a:t>
            </a:r>
            <a:r>
              <a:rPr lang="en-US" altLang="zh-CN" dirty="0"/>
              <a:t>4</a:t>
            </a:r>
            <a:r>
              <a:rPr lang="zh-CN" altLang="en-US" dirty="0"/>
              <a:t>步：</a:t>
            </a:r>
          </a:p>
          <a:p>
            <a:pPr lvl="1"/>
            <a:r>
              <a:rPr lang="en-US" altLang="zh-CN" dirty="0" err="1"/>
              <a:t>dwbuffer</a:t>
            </a:r>
            <a:r>
              <a:rPr lang="zh-CN" altLang="en-US" dirty="0"/>
              <a:t>：首先恢复 </a:t>
            </a:r>
            <a:r>
              <a:rPr lang="en-US" altLang="zh-CN" dirty="0" err="1"/>
              <a:t>Doublewrite</a:t>
            </a:r>
            <a:r>
              <a:rPr lang="en-US" altLang="zh-CN" dirty="0"/>
              <a:t> Buffer</a:t>
            </a:r>
            <a:r>
              <a:rPr lang="zh-CN" altLang="en-US" dirty="0"/>
              <a:t>中的数据</a:t>
            </a:r>
          </a:p>
          <a:p>
            <a:pPr lvl="1"/>
            <a:r>
              <a:rPr lang="en-US" altLang="zh-CN" dirty="0"/>
              <a:t>Scan</a:t>
            </a:r>
            <a:r>
              <a:rPr lang="zh-CN" altLang="en-US" dirty="0"/>
              <a:t>：从磁盘中读取</a:t>
            </a:r>
            <a:r>
              <a:rPr lang="en-US" altLang="zh-CN" dirty="0"/>
              <a:t>redo</a:t>
            </a:r>
            <a:r>
              <a:rPr lang="zh-CN" altLang="en-US" dirty="0"/>
              <a:t>日志记录，将其插入按照</a:t>
            </a:r>
            <a:r>
              <a:rPr lang="en-US" altLang="zh-CN" dirty="0"/>
              <a:t>LSN</a:t>
            </a:r>
            <a:r>
              <a:rPr lang="zh-CN" altLang="en-US" dirty="0"/>
              <a:t>排序的红黑树中。</a:t>
            </a:r>
          </a:p>
          <a:p>
            <a:pPr lvl="1"/>
            <a:r>
              <a:rPr lang="en-US" altLang="zh-CN" dirty="0"/>
              <a:t>Redo</a:t>
            </a:r>
            <a:r>
              <a:rPr lang="zh-CN" altLang="en-US" dirty="0"/>
              <a:t>：将脏页插入到</a:t>
            </a:r>
            <a:r>
              <a:rPr lang="en-US" altLang="zh-CN" dirty="0" err="1"/>
              <a:t>flush_list</a:t>
            </a:r>
            <a:r>
              <a:rPr lang="zh-CN" altLang="en-US" dirty="0"/>
              <a:t>中。</a:t>
            </a:r>
          </a:p>
          <a:p>
            <a:pPr lvl="1"/>
            <a:r>
              <a:rPr lang="en-US" altLang="zh-CN" dirty="0"/>
              <a:t>Undo</a:t>
            </a:r>
            <a:r>
              <a:rPr lang="zh-CN" altLang="en-US" dirty="0"/>
              <a:t>：将未完成的事务，进行回滚。</a:t>
            </a:r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的提交策略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提交策略</a:t>
            </a:r>
            <a:r>
              <a:rPr kumimoji="1" lang="en-US" altLang="zh-CN" dirty="0"/>
              <a:t>——</a:t>
            </a:r>
            <a:r>
              <a:rPr lang="en-US" altLang="zh-CN" dirty="0" err="1" smtClean="0"/>
              <a:t>synchronous_commit</a:t>
            </a:r>
            <a:endParaRPr lang="en-US" altLang="zh-CN" dirty="0"/>
          </a:p>
          <a:p>
            <a:pPr lvl="1"/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local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pPr lvl="1"/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pPr lvl="1"/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REDO</a:t>
            </a:r>
            <a:r>
              <a:rPr kumimoji="1" lang="zh-CN" altLang="en-US" dirty="0"/>
              <a:t>日志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初始</a:t>
            </a:r>
            <a:r>
              <a:rPr kumimoji="1" lang="zh-CN" altLang="en-US" dirty="0" smtClean="0"/>
              <a:t>检查：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/>
          </a:p>
          <a:p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 smtClean="0"/>
          </a:p>
          <a:p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（</a:t>
            </a:r>
            <a:r>
              <a:rPr kumimoji="1" lang="zh-CN" altLang="en-US" i="1" dirty="0" smtClean="0"/>
              <a:t>这里会判断是不是需要写</a:t>
            </a:r>
            <a:r>
              <a:rPr kumimoji="1" lang="en-US" altLang="zh-CN" i="1" dirty="0" smtClean="0"/>
              <a:t>full-page</a:t>
            </a:r>
            <a:r>
              <a:rPr kumimoji="1" lang="zh-CN" altLang="en-US" i="1" dirty="0" smtClean="0"/>
              <a:t> </a:t>
            </a:r>
            <a:r>
              <a:rPr kumimoji="1" lang="en-US" altLang="zh-CN" i="1" dirty="0" smtClean="0"/>
              <a:t>image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16157"/>
            <a:ext cx="12192000" cy="194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UNDO</a:t>
            </a:r>
            <a:r>
              <a:rPr kumimoji="1" lang="zh-CN" altLang="en-US" dirty="0"/>
              <a:t>日志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日志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没有专门的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空间，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信息放在原表</a:t>
            </a:r>
            <a:r>
              <a:rPr kumimoji="1" lang="zh-CN" altLang="en-US" dirty="0" smtClean="0"/>
              <a:t>中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事务失败或者回滚，会在</a:t>
            </a:r>
            <a:r>
              <a:rPr kumimoji="1" lang="en-US" altLang="zh-CN" dirty="0" err="1" smtClean="0"/>
              <a:t>commit_log</a:t>
            </a:r>
            <a:r>
              <a:rPr kumimoji="1" lang="zh-CN" altLang="en-US" dirty="0" smtClean="0"/>
              <a:t>中记下事务状态，不回滚数据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数据的可见性通过数据版本和</a:t>
            </a:r>
            <a:r>
              <a:rPr kumimoji="1" lang="en-US" altLang="zh-CN" dirty="0" err="1" smtClean="0"/>
              <a:t>commit_log</a:t>
            </a:r>
            <a:r>
              <a:rPr kumimoji="1" lang="zh-CN" altLang="en-US" dirty="0" smtClean="0"/>
              <a:t>两者综合决定。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定期</a:t>
            </a:r>
            <a:r>
              <a:rPr kumimoji="1" lang="en-US" altLang="zh-CN" dirty="0" smtClean="0"/>
              <a:t>freeze</a:t>
            </a:r>
            <a:r>
              <a:rPr kumimoji="1" lang="zh-CN" altLang="en-US" dirty="0" smtClean="0"/>
              <a:t>旧元组，并</a:t>
            </a:r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死元组。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 smtClean="0"/>
              <a:t>的故障恢复与主从复制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 smtClean="0"/>
              <a:t>崩溃恢复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从</a:t>
            </a:r>
            <a:r>
              <a:rPr kumimoji="1" lang="en-US" altLang="zh-CN" dirty="0" err="1" smtClean="0"/>
              <a:t>pg_control</a:t>
            </a:r>
            <a:r>
              <a:rPr kumimoji="1" lang="zh-CN" altLang="en-US" dirty="0" smtClean="0"/>
              <a:t>读取数据库状态与最近的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点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从最近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点，找到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点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重做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zh-CN" altLang="en-US" dirty="0" smtClean="0"/>
              <a:t>主从复制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通过</a:t>
            </a:r>
            <a:r>
              <a:rPr kumimoji="1" lang="en-US" altLang="zh-CN" dirty="0" err="1" smtClean="0"/>
              <a:t>replication_slot</a:t>
            </a:r>
            <a:r>
              <a:rPr kumimoji="1" lang="zh-CN" altLang="en-US" dirty="0" smtClean="0"/>
              <a:t>可以维护下游节点的复制位置。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流复制（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日志实时传输）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Wal_level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minimal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logical</a:t>
            </a:r>
          </a:p>
          <a:p>
            <a:pPr lvl="2"/>
            <a:r>
              <a:rPr kumimoji="1" lang="zh-CN" altLang="en-US" dirty="0" smtClean="0"/>
              <a:t>主从延迟低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逻辑复制</a:t>
            </a:r>
            <a:r>
              <a:rPr kumimoji="1" lang="zh-CN" altLang="en-US" dirty="0"/>
              <a:t>（</a:t>
            </a:r>
            <a:r>
              <a:rPr kumimoji="1" lang="en-US" altLang="zh-CN" dirty="0" smtClean="0"/>
              <a:t>change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capture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只能复制</a:t>
            </a:r>
            <a:r>
              <a:rPr kumimoji="1" lang="en-US" altLang="zh-CN" dirty="0" smtClean="0"/>
              <a:t>Insert/delete/update</a:t>
            </a:r>
          </a:p>
          <a:p>
            <a:pPr lvl="2"/>
            <a:r>
              <a:rPr kumimoji="1" lang="zh-CN" altLang="en-US" dirty="0" smtClean="0"/>
              <a:t>目前</a:t>
            </a:r>
            <a:r>
              <a:rPr kumimoji="1" lang="en-US" altLang="zh-CN" dirty="0" err="1" smtClean="0"/>
              <a:t>replication_slot</a:t>
            </a:r>
            <a:r>
              <a:rPr kumimoji="1" lang="zh-CN" altLang="en-US" dirty="0" smtClean="0"/>
              <a:t>不能主从同步，所以</a:t>
            </a:r>
            <a:r>
              <a:rPr kumimoji="1" lang="en-US" altLang="zh-CN" dirty="0" smtClean="0"/>
              <a:t>failover</a:t>
            </a:r>
            <a:r>
              <a:rPr kumimoji="1" lang="zh-CN" altLang="en-US" dirty="0" smtClean="0"/>
              <a:t>之后，需要补数据。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1697364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LogManager</a:t>
            </a:r>
            <a:r>
              <a:rPr kumimoji="1" lang="zh-CN" altLang="en-US" dirty="0"/>
              <a:t>的小结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kumimoji="1" lang="en-US" altLang="zh-CN" dirty="0" err="1" smtClean="0"/>
              <a:t>wal_level</a:t>
            </a:r>
            <a:r>
              <a:rPr kumimoji="1" lang="zh-CN" altLang="en-US" dirty="0" smtClean="0"/>
              <a:t>重启生效，无特殊原因，设置为</a:t>
            </a:r>
            <a:r>
              <a:rPr kumimoji="1" lang="en-US" altLang="zh-CN" dirty="0" smtClean="0"/>
              <a:t>logical</a:t>
            </a:r>
            <a:r>
              <a:rPr kumimoji="1" lang="zh-CN" altLang="en-US" dirty="0" smtClean="0"/>
              <a:t>；（</a:t>
            </a:r>
            <a:r>
              <a:rPr lang="en-US" altLang="zh-CN" dirty="0" err="1"/>
              <a:t>wal_compression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lang="en-US" altLang="zh-CN" dirty="0" err="1" smtClean="0"/>
              <a:t>recovery_target_timeline</a:t>
            </a:r>
            <a:r>
              <a:rPr lang="en-US" altLang="zh-CN" dirty="0" smtClean="0"/>
              <a:t>=latest,</a:t>
            </a:r>
            <a:r>
              <a:rPr lang="zh-CN" altLang="en-US" dirty="0" smtClean="0"/>
              <a:t> 避免主</a:t>
            </a:r>
            <a:r>
              <a:rPr lang="en-US" altLang="zh-CN" dirty="0" smtClean="0"/>
              <a:t>promote</a:t>
            </a:r>
            <a:r>
              <a:rPr lang="zh-CN" altLang="en-US" dirty="0" smtClean="0"/>
              <a:t>，从</a:t>
            </a:r>
            <a:r>
              <a:rPr lang="en-US" altLang="zh-CN" dirty="0" smtClean="0"/>
              <a:t>timeline</a:t>
            </a:r>
            <a:r>
              <a:rPr lang="zh-CN" altLang="en-US" dirty="0" smtClean="0"/>
              <a:t>不对</a:t>
            </a:r>
            <a:endParaRPr lang="en-US" altLang="zh-CN" dirty="0" smtClean="0"/>
          </a:p>
          <a:p>
            <a:r>
              <a:rPr lang="zh-CN" altLang="en-US" dirty="0" smtClean="0"/>
              <a:t>拉从库时的</a:t>
            </a:r>
            <a:r>
              <a:rPr lang="en-US" altLang="zh-CN" dirty="0" err="1" smtClean="0"/>
              <a:t>wal_keep_segment</a:t>
            </a:r>
            <a:r>
              <a:rPr lang="zh-CN" altLang="en-US" dirty="0" smtClean="0"/>
              <a:t>过小导致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段丢失备份失败</a:t>
            </a:r>
            <a:endParaRPr lang="en-US" altLang="zh-CN" dirty="0" smtClean="0"/>
          </a:p>
          <a:p>
            <a:r>
              <a:rPr lang="en-US" altLang="zh-CN" dirty="0" err="1" smtClean="0"/>
              <a:t>commit_delay</a:t>
            </a:r>
            <a:r>
              <a:rPr lang="zh-CN" altLang="en-US" dirty="0" smtClean="0"/>
              <a:t>默认为</a:t>
            </a:r>
            <a:r>
              <a:rPr lang="en-US" altLang="zh-CN" dirty="0" smtClean="0"/>
              <a:t>0</a:t>
            </a:r>
            <a:r>
              <a:rPr lang="zh-CN" altLang="en-US" dirty="0" smtClean="0"/>
              <a:t>，当不为</a:t>
            </a:r>
            <a:r>
              <a:rPr lang="en-US" altLang="zh-CN" dirty="0" smtClean="0"/>
              <a:t>0</a:t>
            </a:r>
            <a:r>
              <a:rPr lang="zh-CN" altLang="en-US" dirty="0" smtClean="0"/>
              <a:t>，类似组提交，但前提活跃事务大于</a:t>
            </a:r>
            <a:r>
              <a:rPr lang="en-US" altLang="zh-CN" dirty="0" err="1" smtClean="0"/>
              <a:t>commit_siblings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监控</a:t>
            </a:r>
            <a:r>
              <a:rPr lang="en-US" altLang="zh-CN" dirty="0" err="1" smtClean="0"/>
              <a:t>archive_command</a:t>
            </a:r>
            <a:r>
              <a:rPr lang="zh-CN" altLang="en-US" dirty="0" smtClean="0"/>
              <a:t>的状态，若一直失败撑爆磁盘</a:t>
            </a:r>
            <a:endParaRPr lang="en-US" altLang="zh-CN" dirty="0" smtClean="0"/>
          </a:p>
          <a:p>
            <a:r>
              <a:rPr lang="zh-CN" altLang="en-US" dirty="0" smtClean="0"/>
              <a:t>可以设置</a:t>
            </a:r>
            <a:r>
              <a:rPr lang="en-US" altLang="zh-CN" dirty="0" err="1" smtClean="0"/>
              <a:t>replicationslot</a:t>
            </a:r>
            <a:r>
              <a:rPr lang="zh-CN" altLang="en-US" dirty="0" smtClean="0"/>
              <a:t>，保持主从的复制关系；</a:t>
            </a:r>
            <a:endParaRPr lang="en-US" altLang="zh-CN" dirty="0" smtClean="0"/>
          </a:p>
          <a:p>
            <a:r>
              <a:rPr lang="zh-CN" altLang="en-US" dirty="0" smtClean="0"/>
              <a:t>目前逻辑复制还有一些限制，比如只从主节点复制</a:t>
            </a:r>
            <a:r>
              <a:rPr lang="zh-CN" altLang="en-US" dirty="0" smtClean="0"/>
              <a:t>等</a:t>
            </a:r>
            <a:endParaRPr lang="en-US" altLang="zh-CN" dirty="0"/>
          </a:p>
          <a:p>
            <a:r>
              <a:rPr lang="zh-CN" altLang="en-US" dirty="0" smtClean="0"/>
              <a:t>当</a:t>
            </a:r>
            <a:r>
              <a:rPr lang="en-US" altLang="zh-CN" dirty="0" smtClean="0"/>
              <a:t>vacuum</a:t>
            </a:r>
            <a:r>
              <a:rPr lang="zh-CN" altLang="en-US" dirty="0" smtClean="0"/>
              <a:t>清理不掉旧元组是，检查</a:t>
            </a:r>
            <a:r>
              <a:rPr lang="en-US" altLang="zh-CN" dirty="0" err="1" smtClean="0"/>
              <a:t>vacuum_defer_cleanup_age</a:t>
            </a:r>
            <a:endParaRPr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40814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461084" cy="1460500"/>
          </a:xfrm>
        </p:spPr>
        <p:txBody>
          <a:bodyPr>
            <a:normAutofit/>
          </a:bodyPr>
          <a:lstStyle/>
          <a:p>
            <a:r>
              <a:rPr kumimoji="1" lang="en-US" altLang="zh-CN" sz="3200" dirty="0" smtClean="0"/>
              <a:t>The</a:t>
            </a:r>
            <a:r>
              <a:rPr kumimoji="1" lang="zh-CN" altLang="en-US" sz="3200" dirty="0" smtClean="0"/>
              <a:t> </a:t>
            </a:r>
            <a:r>
              <a:rPr kumimoji="1" lang="en-US" altLang="zh-CN" sz="3200" dirty="0" smtClean="0"/>
              <a:t>End</a:t>
            </a:r>
            <a:endParaRPr kumimoji="1"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3461084" cy="3930648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</a:p>
          <a:p>
            <a:pPr lvl="1"/>
            <a:r>
              <a:rPr lang="zh-CN" altLang="en-US" b="1" i="1" dirty="0" smtClean="0"/>
              <a:t>组织数据</a:t>
            </a:r>
            <a:endParaRPr lang="en-US" altLang="zh-CN" b="1" i="1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透明的</a:t>
            </a:r>
            <a:r>
              <a:rPr lang="en-US" altLang="zh-CN" b="1" i="1" dirty="0" smtClean="0"/>
              <a:t>IO</a:t>
            </a:r>
            <a:r>
              <a:rPr lang="zh-CN" altLang="en-US" b="1" i="1" dirty="0" smtClean="0"/>
              <a:t>中间层</a:t>
            </a:r>
            <a:endParaRPr lang="en-US" altLang="zh-CN" b="1" i="1" dirty="0" smtClean="0"/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并发控制</a:t>
            </a:r>
            <a:endParaRPr lang="en-US" altLang="zh-CN" b="1" i="1" dirty="0"/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kumimoji="1" lang="zh-CN" altLang="en-US" b="1" i="1" dirty="0" smtClean="0"/>
              <a:t>恢复数据</a:t>
            </a:r>
            <a:endParaRPr kumimoji="1" lang="en-US" altLang="zh-CN" b="1" i="1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521158"/>
            <a:ext cx="4235115" cy="4235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065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2401</TotalTime>
  <Words>3602</Words>
  <Application>Microsoft Macintosh PowerPoint</Application>
  <PresentationFormat>宽屏</PresentationFormat>
  <Paragraphs>456</Paragraphs>
  <Slides>37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1" baseType="lpstr">
      <vt:lpstr>DengXian</vt:lpstr>
      <vt:lpstr>DengXian Light</vt:lpstr>
      <vt:lpstr>Arial</vt:lpstr>
      <vt:lpstr>Office 主题</vt:lpstr>
      <vt:lpstr>工作分享</vt:lpstr>
      <vt:lpstr>过去与近期工作</vt:lpstr>
      <vt:lpstr>事务型存储引擎</vt:lpstr>
      <vt:lpstr>AccessMethod</vt:lpstr>
      <vt:lpstr>InnoDB与PostgreSQL的AccessMethod模块</vt:lpstr>
      <vt:lpstr>InnoDB的AccessMethod简述</vt:lpstr>
      <vt:lpstr>PostgreSQL的访问标识</vt:lpstr>
      <vt:lpstr>PostgreSQL的AccessMethod类型</vt:lpstr>
      <vt:lpstr>PostgreSQL的bitmapIndexScan</vt:lpstr>
      <vt:lpstr>PostgreSQL的部分索引、表达式索引与覆盖索引</vt:lpstr>
      <vt:lpstr>PostgreSQL的AccessMethod小结</vt:lpstr>
      <vt:lpstr>BufferManager</vt:lpstr>
      <vt:lpstr>InnoDB与PostgreSQL的BufferManager模块</vt:lpstr>
      <vt:lpstr>InnoDB的BufferManager简述</vt:lpstr>
      <vt:lpstr>PostgreSQL的BufferManager结构</vt:lpstr>
      <vt:lpstr>PostgreSQL的Buffer页面置换</vt:lpstr>
      <vt:lpstr>PostgreSQL的CHECKPOINT</vt:lpstr>
      <vt:lpstr>PostgreSQL的BufferManager小结</vt:lpstr>
      <vt:lpstr>LockManager</vt:lpstr>
      <vt:lpstr>InnoDB与PostgreSQL的LockManager模块</vt:lpstr>
      <vt:lpstr>InnoDB的LockManager的简介</vt:lpstr>
      <vt:lpstr>PostgreSQL的spinlock</vt:lpstr>
      <vt:lpstr>PostgreSQL的轻量锁</vt:lpstr>
      <vt:lpstr>PostgreSQL的重量锁</vt:lpstr>
      <vt:lpstr>PostgreSQL的SiRead Lock</vt:lpstr>
      <vt:lpstr>PostgreSQL的SiRead Lock</vt:lpstr>
      <vt:lpstr>SIReadLock-PG中如何检测序列化异常</vt:lpstr>
      <vt:lpstr>PostgreSQL的LockManager小结</vt:lpstr>
      <vt:lpstr>LogManager</vt:lpstr>
      <vt:lpstr>InnoDB与PostgreSQL的LogManager模块</vt:lpstr>
      <vt:lpstr>InnoDB的LogManager简介</vt:lpstr>
      <vt:lpstr>PostgreSQL的提交策略</vt:lpstr>
      <vt:lpstr>PostgreSQL的REDO日志</vt:lpstr>
      <vt:lpstr>PostgreSQL的UNDO日志</vt:lpstr>
      <vt:lpstr>PostgreSQL的故障恢复与主从复制</vt:lpstr>
      <vt:lpstr>PostgreSQL的LogManager的小结</vt:lpstr>
      <vt:lpstr>The End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219</cp:revision>
  <dcterms:created xsi:type="dcterms:W3CDTF">2019-05-17T03:41:06Z</dcterms:created>
  <dcterms:modified xsi:type="dcterms:W3CDTF">2019-05-24T03:29:10Z</dcterms:modified>
</cp:coreProperties>
</file>