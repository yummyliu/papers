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0" r:id="rId3"/>
    <p:sldId id="258" r:id="rId4"/>
    <p:sldId id="287" r:id="rId5"/>
    <p:sldId id="267" r:id="rId6"/>
    <p:sldId id="268" r:id="rId7"/>
    <p:sldId id="269" r:id="rId8"/>
    <p:sldId id="271" r:id="rId9"/>
    <p:sldId id="270" r:id="rId10"/>
    <p:sldId id="292" r:id="rId11"/>
    <p:sldId id="288" r:id="rId12"/>
    <p:sldId id="273" r:id="rId13"/>
    <p:sldId id="296" r:id="rId14"/>
    <p:sldId id="275" r:id="rId15"/>
    <p:sldId id="293" r:id="rId16"/>
    <p:sldId id="289" r:id="rId17"/>
    <p:sldId id="277" r:id="rId18"/>
    <p:sldId id="278" r:id="rId19"/>
    <p:sldId id="279" r:id="rId20"/>
    <p:sldId id="280" r:id="rId21"/>
    <p:sldId id="281" r:id="rId22"/>
    <p:sldId id="282" r:id="rId23"/>
    <p:sldId id="294" r:id="rId24"/>
    <p:sldId id="290" r:id="rId25"/>
    <p:sldId id="284" r:id="rId26"/>
    <p:sldId id="285" r:id="rId27"/>
    <p:sldId id="286" r:id="rId28"/>
    <p:sldId id="295" r:id="rId29"/>
    <p:sldId id="291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8"/>
    <p:restoredTop sz="74769"/>
  </p:normalViewPr>
  <p:slideViewPr>
    <p:cSldViewPr snapToGrid="0" snapToObjects="1">
      <p:cViewPr>
        <p:scale>
          <a:sx n="80" d="100"/>
          <a:sy n="80" d="100"/>
        </p:scale>
        <p:origin x="-12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AA7A4-7746-7E44-A430-6287DC082298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69C31-E77D-D241-AE7E-8C6BD67A4C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8618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gresql.org/docs/current/static/runtime-config-wal.html#GUC-WAL-WRITER-DELAY" TargetMode="External"/><Relationship Id="rId4" Type="http://schemas.openxmlformats.org/officeDocument/2006/relationships/hyperlink" Target="https://www.postgresql.org/docs/current/static/runtime-config-replication.html#GUC-SYNCHRONOUS-STANDBY-NAMES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从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的存储模块简单介绍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的机制与使用的一些小建议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869C31-E77D-D241-AE7E-8C6BD67A4C1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7344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左图是</a:t>
            </a:r>
            <a:r>
              <a:rPr lang="en-US" altLang="zh-CN" dirty="0" err="1" smtClean="0"/>
              <a:t>Stonebraker</a:t>
            </a:r>
            <a:r>
              <a:rPr lang="zh-CN" altLang="en-US" dirty="0" smtClean="0"/>
              <a:t>写的一篇论文（），其中将</a:t>
            </a:r>
            <a:r>
              <a:rPr lang="en-US" altLang="zh-CN" dirty="0" smtClean="0"/>
              <a:t>Db</a:t>
            </a:r>
            <a:r>
              <a:rPr lang="zh-CN" altLang="en-US" dirty="0" smtClean="0"/>
              <a:t>的架构分为若干部分，其中事务性存储分为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个方面（）（）（）（）；借此启发，今天从这几个方面初步认识下</a:t>
            </a:r>
            <a:r>
              <a:rPr lang="en-US" altLang="zh-CN" dirty="0" smtClean="0"/>
              <a:t>PostgreSQL</a:t>
            </a:r>
            <a:r>
              <a:rPr lang="zh-CN" altLang="en-US" dirty="0" smtClean="0"/>
              <a:t>的存储引擎。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9790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InnoDB</a:t>
            </a:r>
            <a:r>
              <a:rPr kumimoji="1" lang="zh-CN" altLang="en-US" dirty="0" smtClean="0"/>
              <a:t>对于索引与数据之间的不一致，通过</a:t>
            </a:r>
            <a:r>
              <a:rPr kumimoji="1" lang="en-US" altLang="zh-CN" dirty="0" err="1" smtClean="0"/>
              <a:t>changebuffer</a:t>
            </a:r>
            <a:r>
              <a:rPr kumimoji="1" lang="zh-CN" altLang="en-US" dirty="0" smtClean="0"/>
              <a:t>来减少写放大的代价；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目前米有</a:t>
            </a:r>
            <a:r>
              <a:rPr kumimoji="1" lang="en-US" altLang="zh-CN" dirty="0" err="1" smtClean="0"/>
              <a:t>changebuffer</a:t>
            </a:r>
            <a:r>
              <a:rPr kumimoji="1" lang="zh-CN" altLang="en-US" dirty="0" smtClean="0"/>
              <a:t>，可能也是由于其数据的写入不存在调整结构的代价，但是索引多了，同样存在多个索引的写放大问题；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869C31-E77D-D241-AE7E-8C6BD67A4C1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3707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首先是</a:t>
            </a:r>
            <a:r>
              <a:rPr kumimoji="1" lang="en-US" altLang="zh-CN" dirty="0" smtClean="0"/>
              <a:t>Access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Method</a:t>
            </a:r>
            <a:r>
              <a:rPr kumimoji="1" lang="zh-CN" altLang="en-US" dirty="0" smtClean="0"/>
              <a:t>；</a:t>
            </a:r>
            <a:r>
              <a:rPr kumimoji="1" lang="en-US" altLang="zh-CN" dirty="0" smtClean="0"/>
              <a:t>Access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Method</a:t>
            </a:r>
            <a:r>
              <a:rPr kumimoji="1" lang="zh-CN" altLang="en-US" dirty="0" smtClean="0"/>
              <a:t>就是磁盘中的数据是如何组织的，底层的数据结构决定上层的访问方法；这一部分，分别介绍了在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中，访问的标识，多样的。。。，。。。，。。。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10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首先，我们都知道</a:t>
            </a:r>
            <a:r>
              <a:rPr kumimoji="1" lang="en-US" altLang="zh-CN" dirty="0" smtClean="0"/>
              <a:t>PG</a:t>
            </a:r>
            <a:r>
              <a:rPr kumimoji="1" lang="zh-CN" altLang="en-US" dirty="0" smtClean="0"/>
              <a:t>中的数据是堆表的方式存储，那么堆表中某一元组可以通过 块号和块内偏移 两个信息来定位，这是</a:t>
            </a:r>
            <a:r>
              <a:rPr kumimoji="1" lang="zh-CN" altLang="en-US" b="1" dirty="0" smtClean="0"/>
              <a:t>物理</a:t>
            </a:r>
            <a:r>
              <a:rPr kumimoji="1" lang="zh-CN" altLang="en-US" dirty="0" smtClean="0"/>
              <a:t>唯一标识一个元组的方法，称为</a:t>
            </a:r>
            <a:r>
              <a:rPr kumimoji="1" lang="en-US" altLang="zh-CN" dirty="0" smtClean="0"/>
              <a:t>TID</a:t>
            </a:r>
            <a:r>
              <a:rPr kumimoji="1" lang="zh-CN" altLang="en-US" dirty="0" smtClean="0"/>
              <a:t>；另外还有</a:t>
            </a:r>
            <a:r>
              <a:rPr kumimoji="1" lang="en-US" altLang="zh-CN" dirty="0" err="1" smtClean="0"/>
              <a:t>oid</a:t>
            </a:r>
            <a:r>
              <a:rPr kumimoji="1" lang="zh-CN" altLang="en-US" dirty="0" smtClean="0"/>
              <a:t>或者表中自己定义个唯一索引列，可作为逻辑唯一标识；通过</a:t>
            </a:r>
            <a:r>
              <a:rPr kumimoji="1" lang="en-US" altLang="zh-CN" dirty="0" err="1" smtClean="0"/>
              <a:t>pageinspact</a:t>
            </a:r>
            <a:r>
              <a:rPr kumimoji="1" lang="zh-CN" altLang="en-US" dirty="0" smtClean="0"/>
              <a:t>插件，我们可以看到，索引中的</a:t>
            </a:r>
            <a:r>
              <a:rPr kumimoji="1" lang="en-US" altLang="zh-CN" dirty="0" smtClean="0"/>
              <a:t>value</a:t>
            </a:r>
            <a:r>
              <a:rPr kumimoji="1" lang="zh-CN" altLang="en-US" dirty="0" smtClean="0"/>
              <a:t>是</a:t>
            </a:r>
            <a:r>
              <a:rPr kumimoji="1" lang="en-US" altLang="zh-CN" dirty="0" smtClean="0"/>
              <a:t>TID</a:t>
            </a:r>
            <a:r>
              <a:rPr kumimoji="1" lang="zh-CN" altLang="en-US" dirty="0" smtClean="0"/>
              <a:t>；</a:t>
            </a:r>
            <a:endParaRPr kumimoji="1" lang="en-US" altLang="zh-CN" dirty="0" smtClean="0"/>
          </a:p>
          <a:p>
            <a:r>
              <a:rPr kumimoji="1" lang="zh-CN" altLang="en-US" dirty="0" smtClean="0"/>
              <a:t>下图是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某一页中的内容，首先是一个</a:t>
            </a:r>
            <a:r>
              <a:rPr kumimoji="1" lang="en-US" altLang="zh-CN" dirty="0" smtClean="0"/>
              <a:t>header</a:t>
            </a:r>
            <a:r>
              <a:rPr kumimoji="1" lang="zh-CN" altLang="en-US" dirty="0" smtClean="0"/>
              <a:t>，后面从前向后是各个元组的元信息，从后向前是各个元组数据；中间就是</a:t>
            </a:r>
            <a:r>
              <a:rPr kumimoji="1" lang="en-US" altLang="zh-CN" dirty="0" err="1" smtClean="0"/>
              <a:t>freespace</a:t>
            </a:r>
            <a:r>
              <a:rPr kumimoji="1" lang="zh-CN" altLang="en-US" dirty="0" smtClean="0"/>
              <a:t>；当我们找到某一块后，通过块内偏移就可以找到具体的元组；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172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另外，在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中有多种访问方法，访问方法其实就是索引；通过系统表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pg_am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可以看到，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自带有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种访问方法；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这是我对这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中自带访问方法的总结：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Btree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对应多个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Gin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是对多值类型倒排，多个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可能出现在多个</a:t>
            </a:r>
            <a:r>
              <a:rPr kumimoji="1"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kumimoji="1"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中；</a:t>
            </a:r>
            <a:endParaRPr kumimoji="1"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zh-CN" altLang="en-US" dirty="0" smtClean="0"/>
              <a:t>多值离散组合类型的多对多查找（</a:t>
            </a:r>
            <a:r>
              <a:rPr kumimoji="1" lang="en-US" altLang="zh-CN" dirty="0" err="1" smtClean="0"/>
              <a:t>jsonb</a:t>
            </a:r>
            <a:r>
              <a:rPr kumimoji="1" lang="zh-CN" altLang="en-US" dirty="0" smtClean="0"/>
              <a:t>，</a:t>
            </a:r>
            <a:r>
              <a:rPr kumimoji="1" lang="en-US" altLang="zh-CN" dirty="0" err="1" smtClean="0"/>
              <a:t>hstore</a:t>
            </a:r>
            <a:r>
              <a:rPr kumimoji="1" lang="zh-CN" altLang="en-US" dirty="0" smtClean="0"/>
              <a:t>等）</a:t>
            </a:r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会有交集的连续范围类型：多边形（</a:t>
            </a:r>
            <a:r>
              <a:rPr kumimoji="1" lang="en-US" altLang="zh-CN" dirty="0" smtClean="0"/>
              <a:t>polygon</a:t>
            </a:r>
            <a:r>
              <a:rPr kumimoji="1" lang="zh-CN" altLang="en-US" dirty="0" smtClean="0"/>
              <a:t>），</a:t>
            </a:r>
            <a:r>
              <a:rPr kumimoji="1" lang="en-US" altLang="zh-CN" dirty="0" smtClean="0"/>
              <a:t>text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range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smtClean="0"/>
              <a:t>Hash</a:t>
            </a:r>
            <a:r>
              <a:rPr kumimoji="1" lang="zh-CN" altLang="en-US" dirty="0" smtClean="0"/>
              <a:t>：用的较少，</a:t>
            </a:r>
            <a:r>
              <a:rPr kumimoji="1" lang="en-US" altLang="zh-CN" dirty="0" smtClean="0"/>
              <a:t>10</a:t>
            </a:r>
            <a:r>
              <a:rPr kumimoji="1" lang="zh-CN" altLang="en-US" dirty="0" smtClean="0"/>
              <a:t>之后才能够持久化（</a:t>
            </a:r>
            <a:r>
              <a:rPr kumimoji="1" lang="en-US" altLang="zh-CN" dirty="0" smtClean="0"/>
              <a:t>crash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safe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replication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自然分区的数据（可能不平衡），比如手机号，网址</a:t>
            </a:r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9992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最后，在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中可以将多个索引进行组合访问；这需要打开</a:t>
            </a:r>
            <a:r>
              <a:rPr kumimoji="1" lang="zh-CN" altLang="en-US" baseline="0" dirty="0" smtClean="0"/>
              <a:t> （）参数；</a:t>
            </a:r>
            <a:endParaRPr kumimoji="1" lang="en-US" altLang="zh-CN" baseline="0" dirty="0" smtClean="0"/>
          </a:p>
          <a:p>
            <a:r>
              <a:rPr kumimoji="1" lang="zh-CN" altLang="en-US" baseline="0" dirty="0" smtClean="0"/>
              <a:t>当打开这个参数时，如果一个查询。。。。。。。</a:t>
            </a:r>
            <a:r>
              <a:rPr kumimoji="1" lang="en-US" altLang="zh-CN" baseline="0" dirty="0" smtClean="0"/>
              <a:t>&amp;&amp;</a:t>
            </a:r>
            <a:r>
              <a:rPr kumimoji="1" lang="zh-CN" altLang="en-US" baseline="0" dirty="0" smtClean="0"/>
              <a:t> 。。。。。，就会采用</a:t>
            </a:r>
            <a:r>
              <a:rPr kumimoji="1" lang="en-US" altLang="zh-CN" baseline="0" dirty="0" smtClean="0"/>
              <a:t>bitmap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index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scan</a:t>
            </a:r>
            <a:r>
              <a:rPr kumimoji="1" lang="zh-CN" altLang="en-US" baseline="0" dirty="0" smtClean="0"/>
              <a:t>；</a:t>
            </a:r>
            <a:endParaRPr kumimoji="1" lang="en-US" altLang="zh-CN" baseline="0" dirty="0" smtClean="0"/>
          </a:p>
          <a:p>
            <a:r>
              <a:rPr kumimoji="1" lang="zh-CN" altLang="en-US" baseline="0" dirty="0" smtClean="0"/>
              <a:t>比如，</a:t>
            </a:r>
            <a:r>
              <a:rPr kumimoji="1" lang="en-US" altLang="zh-CN" baseline="0" dirty="0" smtClean="0"/>
              <a:t>a</a:t>
            </a:r>
            <a:r>
              <a:rPr kumimoji="1" lang="zh-CN" altLang="en-US" baseline="0" dirty="0" smtClean="0"/>
              <a:t> </a:t>
            </a:r>
            <a:r>
              <a:rPr kumimoji="1" lang="en-US" altLang="zh-CN" baseline="0" dirty="0" smtClean="0"/>
              <a:t>b</a:t>
            </a:r>
            <a:r>
              <a:rPr kumimoji="1" lang="zh-CN" altLang="en-US" baseline="0" dirty="0" smtClean="0"/>
              <a:t> ；索引的谓词是 且；那么合并</a:t>
            </a:r>
            <a:r>
              <a:rPr kumimoji="1" lang="en-US" altLang="zh-CN" baseline="0" dirty="0" smtClean="0"/>
              <a:t>a</a:t>
            </a:r>
            <a:r>
              <a:rPr kumimoji="1" lang="zh-CN" altLang="en-US" baseline="0" dirty="0" smtClean="0"/>
              <a:t> 和 </a:t>
            </a:r>
            <a:r>
              <a:rPr kumimoji="1" lang="en-US" altLang="zh-CN" baseline="0" dirty="0" smtClean="0"/>
              <a:t>b</a:t>
            </a:r>
            <a:r>
              <a:rPr kumimoji="1" lang="zh-CN" altLang="en-US" baseline="0" dirty="0" smtClean="0"/>
              <a:t>的块，最后大大减少磁盘</a:t>
            </a:r>
            <a:r>
              <a:rPr kumimoji="1" lang="en-US" altLang="zh-CN" baseline="0" dirty="0" smtClean="0"/>
              <a:t>IO</a:t>
            </a:r>
            <a:endParaRPr kumimoji="1" lang="en-US" altLang="zh-CN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8801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中不仅有丰富的访问方法，并且访问方式很灵活：</a:t>
            </a:r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当字段上的访问，常常不是直接访问字段的时候，采用表达式索引；</a:t>
            </a:r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表达式一定要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IMMUTABLE </a:t>
            </a:r>
            <a:endParaRPr kumimoji="1"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当我们只关心某一字段等于特定值的元组时，采用条件索引；</a:t>
            </a:r>
            <a:endParaRPr kumimoji="1"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Smaller index on disk and in memory 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shallow index </a:t>
            </a:r>
            <a:endParaRPr lang="en-US" altLang="zh-CN" dirty="0" smtClean="0">
              <a:effectLst/>
            </a:endParaRP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INSERT/UPDATE index overhead</a:t>
            </a:r>
            <a:endParaRPr kumimoji="1" lang="en-US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>
              <a:effectLst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302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BufferManager</a:t>
            </a:r>
            <a:r>
              <a:rPr kumimoji="1" lang="zh-CN" altLang="en-US" dirty="0" smtClean="0"/>
              <a:t>在系统中是向上透明的一层；主要就是为了提高性能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869C31-E77D-D241-AE7E-8C6BD67A4C1D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1635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分为三层：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Table;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 描述符；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池；第一层是一个</a:t>
            </a:r>
            <a:r>
              <a:rPr kumimoji="1" lang="en-US" altLang="zh-CN" dirty="0" smtClean="0"/>
              <a:t>Hash</a:t>
            </a:r>
            <a:r>
              <a:rPr kumimoji="1" lang="zh-CN" altLang="en-US" dirty="0" smtClean="0"/>
              <a:t>表，基于链数组的方式处理冲突；第二层是一个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块描述符的数组，各个描述符中维护了一个</a:t>
            </a:r>
            <a:r>
              <a:rPr kumimoji="1" lang="en-US" altLang="zh-CN" dirty="0" err="1" smtClean="0"/>
              <a:t>freelist</a:t>
            </a:r>
            <a:r>
              <a:rPr kumimoji="1" lang="zh-CN" altLang="en-US" dirty="0" smtClean="0"/>
              <a:t>的链表，方便快速找到第一个可用空间，另外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描述符中维护了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pool</a:t>
            </a:r>
            <a:r>
              <a:rPr kumimoji="1" lang="zh-CN" altLang="en-US" dirty="0" smtClean="0"/>
              <a:t>中数据块的标志位，比如是否是脏页，是否正在使用，使用了多少次等；最后就是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pool</a:t>
            </a:r>
            <a:r>
              <a:rPr kumimoji="1" lang="zh-CN" altLang="en-US" dirty="0" smtClean="0"/>
              <a:t>，其中就是缓存的数据。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9217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我们都知道在数据库中有一个概念叫做</a:t>
            </a:r>
            <a:r>
              <a:rPr kumimoji="1" lang="en-US" altLang="zh-CN" dirty="0" smtClean="0"/>
              <a:t>checkpoint</a:t>
            </a:r>
            <a:r>
              <a:rPr kumimoji="1" lang="zh-CN" altLang="en-US" dirty="0" smtClean="0"/>
              <a:t>；</a:t>
            </a:r>
            <a:r>
              <a:rPr kumimoji="1" lang="en-US" altLang="zh-CN" dirty="0" smtClean="0"/>
              <a:t>CHECKPOINT</a:t>
            </a:r>
            <a:r>
              <a:rPr kumimoji="1" lang="zh-CN" altLang="en-US" dirty="0" smtClean="0"/>
              <a:t>的存在是保证事务在这一事件点磁盘数据是一致的，此时会将所有的脏页进行刷盘；</a:t>
            </a:r>
            <a:endParaRPr kumimoji="1" lang="en-US" altLang="zh-CN" dirty="0" smtClean="0"/>
          </a:p>
          <a:p>
            <a:r>
              <a:rPr kumimoji="1" lang="zh-CN" altLang="en-US" dirty="0" smtClean="0"/>
              <a:t>刷盘有两步，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和</a:t>
            </a:r>
            <a:r>
              <a:rPr kumimoji="1" lang="en-US" altLang="zh-CN" dirty="0" err="1" smtClean="0"/>
              <a:t>fsync</a:t>
            </a:r>
            <a:r>
              <a:rPr kumimoji="1" lang="zh-CN" altLang="en-US" dirty="0" smtClean="0"/>
              <a:t>；</a:t>
            </a:r>
            <a:endParaRPr kumimoji="1" lang="en-US" altLang="zh-CN" dirty="0" smtClean="0"/>
          </a:p>
          <a:p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PG</a:t>
            </a:r>
            <a:r>
              <a:rPr kumimoji="1" lang="zh-CN" altLang="en-US" dirty="0" smtClean="0"/>
              <a:t>中和刷盘相关的有两个进程：</a:t>
            </a:r>
            <a:r>
              <a:rPr kumimoji="1" lang="en-US" altLang="zh-CN" dirty="0" smtClean="0"/>
              <a:t>background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writer</a:t>
            </a:r>
            <a:r>
              <a:rPr kumimoji="1" lang="zh-CN" altLang="en-US" dirty="0" smtClean="0"/>
              <a:t>和</a:t>
            </a:r>
            <a:r>
              <a:rPr kumimoji="1" lang="en-US" altLang="zh-CN" dirty="0" err="1" smtClean="0"/>
              <a:t>checkpointer</a:t>
            </a:r>
            <a:r>
              <a:rPr kumimoji="1" lang="zh-CN" altLang="en-US" dirty="0" smtClean="0"/>
              <a:t>；</a:t>
            </a:r>
            <a:r>
              <a:rPr kumimoji="1" lang="en-US" altLang="zh-CN" dirty="0" err="1" smtClean="0"/>
              <a:t>bgw</a:t>
            </a:r>
            <a:r>
              <a:rPr kumimoji="1" lang="zh-CN" altLang="en-US" dirty="0" smtClean="0"/>
              <a:t>间隔一段时间扫描</a:t>
            </a:r>
            <a:r>
              <a:rPr kumimoji="1" lang="en-US" altLang="zh-CN" dirty="0" err="1" smtClean="0"/>
              <a:t>shared_buffer</a:t>
            </a:r>
            <a:r>
              <a:rPr kumimoji="1" lang="zh-CN" altLang="en-US" dirty="0" smtClean="0"/>
              <a:t>，对脏页调用一批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；</a:t>
            </a:r>
            <a:endParaRPr kumimoji="1" lang="en-US" altLang="zh-CN" dirty="0" smtClean="0"/>
          </a:p>
          <a:p>
            <a:r>
              <a:rPr kumimoji="1" lang="zh-CN" altLang="en-US" dirty="0" smtClean="0"/>
              <a:t>而到了开始执行</a:t>
            </a:r>
            <a:r>
              <a:rPr kumimoji="1" lang="en-US" altLang="zh-CN" dirty="0" smtClean="0"/>
              <a:t>checkpoint</a:t>
            </a:r>
            <a:r>
              <a:rPr kumimoji="1" lang="zh-CN" altLang="en-US" dirty="0" smtClean="0"/>
              <a:t>时，为了减少</a:t>
            </a:r>
            <a:r>
              <a:rPr kumimoji="1" lang="en-US" altLang="zh-CN" dirty="0" smtClean="0"/>
              <a:t>CHECKPOINT</a:t>
            </a:r>
            <a:r>
              <a:rPr kumimoji="1" lang="zh-CN" altLang="en-US" dirty="0" smtClean="0"/>
              <a:t>对系统的影响，</a:t>
            </a:r>
            <a:r>
              <a:rPr kumimoji="1" lang="en-US" altLang="zh-CN" dirty="0" smtClean="0"/>
              <a:t>PG</a:t>
            </a:r>
            <a:r>
              <a:rPr kumimoji="1" lang="zh-CN" altLang="en-US" dirty="0" smtClean="0"/>
              <a:t>中的</a:t>
            </a:r>
            <a:r>
              <a:rPr kumimoji="1" lang="en-US" altLang="zh-CN" dirty="0" smtClean="0"/>
              <a:t>CHECKPOINT</a:t>
            </a:r>
            <a:r>
              <a:rPr kumimoji="1" lang="zh-CN" altLang="en-US" dirty="0" smtClean="0"/>
              <a:t>是一种渐进的</a:t>
            </a:r>
            <a:r>
              <a:rPr kumimoji="1" lang="en-US" altLang="zh-CN" dirty="0" smtClean="0"/>
              <a:t>CHECKPOINT</a:t>
            </a:r>
            <a:r>
              <a:rPr kumimoji="1" lang="zh-CN" altLang="en-US" dirty="0" smtClean="0"/>
              <a:t>；</a:t>
            </a:r>
            <a:endParaRPr kumimoji="1" lang="en-US" altLang="zh-CN" dirty="0" smtClean="0"/>
          </a:p>
          <a:p>
            <a:r>
              <a:rPr kumimoji="1" lang="zh-CN" altLang="en-US" dirty="0" smtClean="0"/>
              <a:t>由</a:t>
            </a:r>
            <a:r>
              <a:rPr lang="en-US" altLang="zh-CN" dirty="0" err="1" smtClean="0"/>
              <a:t>checkpoint_completion_target</a:t>
            </a:r>
            <a:r>
              <a:rPr lang="zh-CN" altLang="en-US" dirty="0" smtClean="0"/>
              <a:t>参数，决定</a:t>
            </a:r>
            <a:r>
              <a:rPr lang="en-US" altLang="zh-CN" dirty="0" smtClean="0"/>
              <a:t>CHECKPOINT</a:t>
            </a:r>
            <a:r>
              <a:rPr lang="zh-CN" altLang="en-US" dirty="0" smtClean="0"/>
              <a:t>进行到什么时候，进行最后的</a:t>
            </a:r>
            <a:r>
              <a:rPr lang="en-US" altLang="zh-CN" dirty="0" smtClean="0"/>
              <a:t>sync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checkpoint_timeout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max/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min_wal_size</a:t>
            </a:r>
            <a:endParaRPr lang="en-US" altLang="zh-CN" dirty="0" smtClean="0"/>
          </a:p>
          <a:p>
            <a:endParaRPr kumimoji="1" lang="en-US" altLang="zh-CN" dirty="0" smtClean="0"/>
          </a:p>
          <a:p>
            <a:r>
              <a:rPr kumimoji="1" lang="zh-CN" altLang="en-US" dirty="0" smtClean="0"/>
              <a:t>另外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4687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869C31-E77D-D241-AE7E-8C6BD67A4C1D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570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Waiting processes busy-loop until they </a:t>
            </a:r>
            <a:r>
              <a:rPr kumimoji="1" lang="en-US" altLang="zh-CN" dirty="0" err="1" smtClean="0"/>
              <a:t>canget</a:t>
            </a:r>
            <a:r>
              <a:rPr kumimoji="1" lang="en-US" altLang="zh-CN" dirty="0" smtClean="0"/>
              <a:t> the lock.</a:t>
            </a:r>
          </a:p>
          <a:p>
            <a:r>
              <a:rPr kumimoji="1" lang="en-US" altLang="zh-CN" dirty="0" smtClean="0"/>
              <a:t>Spinlocks are primarily used as infrastructure for </a:t>
            </a:r>
            <a:r>
              <a:rPr kumimoji="1" lang="en-US" altLang="zh-CN" dirty="0" err="1" smtClean="0"/>
              <a:t>lightweightlocks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4296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系统并发太高，</a:t>
            </a:r>
            <a:r>
              <a:rPr lang="en-US" altLang="zh-CN" dirty="0" err="1" smtClean="0"/>
              <a:t>Lwlock</a:t>
            </a:r>
            <a:r>
              <a:rPr lang="zh-CN" altLang="en-US" dirty="0" smtClean="0"/>
              <a:t>竞争可能会拖慢系统吞吐；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这时在前面加一个连接池，限制一下链接数，可能</a:t>
            </a:r>
            <a:r>
              <a:rPr lang="en-US" altLang="zh-CN" dirty="0" err="1" smtClean="0"/>
              <a:t>lwlock</a:t>
            </a:r>
            <a:r>
              <a:rPr lang="zh-CN" altLang="en-US" dirty="0" smtClean="0"/>
              <a:t>锁竞争少了，</a:t>
            </a:r>
            <a:r>
              <a:rPr lang="en-US" altLang="zh-CN" dirty="0" smtClean="0"/>
              <a:t>50</a:t>
            </a:r>
            <a:r>
              <a:rPr lang="zh-CN" altLang="en-US" dirty="0" smtClean="0"/>
              <a:t>个链接的效率，比</a:t>
            </a:r>
            <a:r>
              <a:rPr lang="en-US" altLang="zh-CN" dirty="0" smtClean="0"/>
              <a:t>100</a:t>
            </a:r>
            <a:r>
              <a:rPr lang="zh-CN" altLang="en-US" dirty="0" smtClean="0"/>
              <a:t>个链接更快了。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比如</a:t>
            </a:r>
            <a:r>
              <a:rPr lang="en-US" altLang="zh-CN" dirty="0" err="1" smtClean="0"/>
              <a:t>wal_buffers</a:t>
            </a:r>
            <a:r>
              <a:rPr lang="zh-CN" altLang="en-US" dirty="0" smtClean="0"/>
              <a:t>太小导致</a:t>
            </a:r>
            <a:r>
              <a:rPr lang="en-US" altLang="zh-CN" dirty="0" err="1" smtClean="0"/>
              <a:t>WALWriteLock</a:t>
            </a:r>
            <a:r>
              <a:rPr lang="zh-CN" altLang="en-US" dirty="0" smtClean="0"/>
              <a:t>的竞争，从而系统吞吐下降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4167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线上锁表故障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00385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前面都是力度和粒度区分的；这种基于锁的方式，读写冲突大的时候，系统效率不高；在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中，提供了基于多版本的快照隔离的方式实现并发控制；</a:t>
            </a:r>
            <a:endParaRPr kumimoji="1"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在</a:t>
            </a:r>
            <a:r>
              <a:rPr kumimoji="1" lang="en-US" altLang="zh-CN" dirty="0" smtClean="0"/>
              <a:t>RC</a:t>
            </a:r>
            <a:r>
              <a:rPr kumimoji="1" lang="zh-CN" altLang="en-US" dirty="0" smtClean="0"/>
              <a:t>和</a:t>
            </a:r>
            <a:r>
              <a:rPr kumimoji="1" lang="en-US" altLang="zh-CN" dirty="0" smtClean="0"/>
              <a:t>Rr</a:t>
            </a:r>
            <a:r>
              <a:rPr kumimoji="1" lang="zh-CN" altLang="en-US" dirty="0" smtClean="0"/>
              <a:t>级别比起基于锁的方式都有很高的效率，但是在</a:t>
            </a:r>
            <a:r>
              <a:rPr kumimoji="1" lang="en-US" altLang="zh-CN" dirty="0" smtClean="0"/>
              <a:t>9.1</a:t>
            </a:r>
            <a:r>
              <a:rPr kumimoji="1" lang="zh-CN" altLang="en-US" dirty="0" smtClean="0"/>
              <a:t>之前没有提供真正的</a:t>
            </a:r>
            <a:r>
              <a:rPr kumimoji="1" lang="en-US" altLang="zh-CN" dirty="0" smtClean="0"/>
              <a:t>serialize</a:t>
            </a:r>
            <a:r>
              <a:rPr kumimoji="1" lang="zh-CN" altLang="en-US" dirty="0" smtClean="0"/>
              <a:t>级别；最高的只是快照隔离，而快照隔离会有类似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skew</a:t>
            </a:r>
            <a:r>
              <a:rPr kumimoji="1" lang="zh-CN" altLang="en-US" dirty="0" smtClean="0"/>
              <a:t>的序列号异常；</a:t>
            </a:r>
            <a:endParaRPr kumimoji="1"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A!=B</a:t>
            </a:r>
          </a:p>
          <a:p>
            <a:pPr lvl="1"/>
            <a:r>
              <a:rPr kumimoji="1" lang="zh-CN" altLang="en-US" dirty="0" smtClean="0"/>
              <a:t>串行化正确，结果是</a:t>
            </a:r>
            <a:r>
              <a:rPr kumimoji="1" lang="en-US" altLang="zh-CN" dirty="0" smtClean="0"/>
              <a:t>A=B;</a:t>
            </a:r>
          </a:p>
          <a:p>
            <a:pPr lvl="1"/>
            <a:r>
              <a:rPr kumimoji="1" lang="zh-CN" altLang="en-US" dirty="0" smtClean="0"/>
              <a:t>否则，还是</a:t>
            </a:r>
            <a:r>
              <a:rPr kumimoji="1" lang="en-US" altLang="zh-CN" dirty="0" smtClean="0"/>
              <a:t>A!=B;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严格两阶段锁协议，一开始加所有的锁，在</a:t>
            </a:r>
            <a:r>
              <a:rPr kumimoji="1" lang="en-US" altLang="zh-CN" dirty="0" smtClean="0"/>
              <a:t>commit</a:t>
            </a:r>
            <a:r>
              <a:rPr kumimoji="1" lang="zh-CN" altLang="en-US" dirty="0" smtClean="0"/>
              <a:t>的时候才释放；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这样事务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开始的时候对需要的资源请求</a:t>
            </a:r>
            <a:r>
              <a:rPr lang="en-US" altLang="zh-CN" dirty="0" smtClean="0"/>
              <a:t>predicate locks</a:t>
            </a:r>
            <a:r>
              <a:rPr lang="zh-CN" altLang="en-US" dirty="0" smtClean="0"/>
              <a:t>，</a:t>
            </a:r>
            <a:r>
              <a:rPr kumimoji="1" lang="zh-CN" altLang="en-US" dirty="0" smtClean="0"/>
              <a:t>事务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一开始</a:t>
            </a:r>
            <a:r>
              <a:rPr kumimoji="1" lang="en-US" altLang="zh-CN" dirty="0" smtClean="0"/>
              <a:t>Read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</a:t>
            </a:r>
            <a:r>
              <a:rPr kumimoji="1" lang="zh-CN" altLang="en-US" dirty="0" smtClean="0"/>
              <a:t>的时候，就得等待；</a:t>
            </a:r>
            <a:endParaRPr kumimoji="1"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传统基于</a:t>
            </a:r>
            <a:r>
              <a:rPr kumimoji="1" lang="en-US" altLang="zh-CN" dirty="0" smtClean="0"/>
              <a:t>2pl</a:t>
            </a:r>
            <a:r>
              <a:rPr kumimoji="1" lang="zh-CN" altLang="en-US" dirty="0" smtClean="0"/>
              <a:t>实现的串行化是基于</a:t>
            </a:r>
            <a:r>
              <a:rPr kumimoji="1" lang="en-US" altLang="zh-CN" dirty="0" smtClean="0"/>
              <a:t>2pl</a:t>
            </a:r>
            <a:r>
              <a:rPr kumimoji="1" lang="zh-CN" altLang="en-US" dirty="0" smtClean="0"/>
              <a:t>中的意向锁，进行检测的；在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中，没有使用</a:t>
            </a:r>
            <a:r>
              <a:rPr kumimoji="1" lang="en-US" altLang="zh-CN" dirty="0" smtClean="0"/>
              <a:t>2PL</a:t>
            </a:r>
            <a:r>
              <a:rPr kumimoji="1" lang="zh-CN" altLang="en-US" dirty="0" smtClean="0"/>
              <a:t>，而是基于多版本的方式，构建一个进行扩展</a:t>
            </a:r>
            <a:endParaRPr kumimoji="1" lang="en-US" altLang="zh-CN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 smtClean="0"/>
          </a:p>
          <a:p>
            <a:endParaRPr kumimoji="1"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as MySQL. As a result, they were able to take advantage of existing predicate locking mechanisms to detect conflicting transactions for SSI. Lacking this infrastructure, we were required to build a new lock manager. Our lock manager is specifically optimized for tracking SSI read dependencies, making it simpler in some respects than a classic lock manager but also introducing some unusual challenges. </a:t>
            </a:r>
            <a:endParaRPr lang="en-US" altLang="zh-CN" dirty="0" smtClean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674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当</a:t>
            </a:r>
            <a:r>
              <a:rPr kumimoji="1" lang="en-US" altLang="zh-CN" dirty="0" smtClean="0"/>
              <a:t>T3</a:t>
            </a:r>
            <a:r>
              <a:rPr kumimoji="1" lang="zh-CN" altLang="en-US" dirty="0" smtClean="0"/>
              <a:t>是</a:t>
            </a:r>
            <a:r>
              <a:rPr kumimoji="1" lang="en-US" altLang="zh-CN" dirty="0" smtClean="0"/>
              <a:t>T1</a:t>
            </a:r>
            <a:r>
              <a:rPr kumimoji="1" lang="zh-CN" altLang="en-US" dirty="0" smtClean="0"/>
              <a:t>，就是前面的两个事务的简单情况。</a:t>
            </a:r>
            <a:endParaRPr kumimoji="1" lang="en-US" altLang="zh-CN" dirty="0" smtClean="0"/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实现总结：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记录所有访问的资源：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 all objects (tuples, pages, relations) accessed by transactions as SIREAD locks.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当对资源进行写操作时：检测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rw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-conflicts:</a:t>
            </a:r>
            <a:r>
              <a:rPr lang="zh-CN" alt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rw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-conflicts using SIREAD locks whenever any heap or index tuple is written.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终止可能产生依赖的事务：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Abort the transaction if a serialization anomaly is detected by checking detected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rw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-conflicts.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4267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考虑到</a:t>
            </a:r>
            <a:r>
              <a:rPr lang="en-US" altLang="zh-CN" b="1" dirty="0" smtClean="0"/>
              <a:t>S2PL</a:t>
            </a:r>
            <a:r>
              <a:rPr lang="zh-CN" altLang="en-US" b="1" dirty="0" smtClean="0"/>
              <a:t>的性能不佳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PostgreSQL</a:t>
            </a:r>
            <a:r>
              <a:rPr lang="zh-CN" altLang="en-US" dirty="0" smtClean="0"/>
              <a:t>没有采用</a:t>
            </a:r>
            <a:r>
              <a:rPr lang="en-US" altLang="zh-CN" dirty="0" smtClean="0"/>
              <a:t>S2PL</a:t>
            </a:r>
            <a:r>
              <a:rPr lang="zh-CN" altLang="en-US" dirty="0" smtClean="0"/>
              <a:t>的方式实现串行化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并且考虑检查存在环太过复杂，</a:t>
            </a:r>
            <a:r>
              <a:rPr lang="en-US" altLang="zh-CN" dirty="0" smtClean="0"/>
              <a:t>PostgreSQL</a:t>
            </a:r>
            <a:r>
              <a:rPr lang="zh-CN" altLang="en-US" dirty="0" smtClean="0"/>
              <a:t>中只检查其中一个条件</a:t>
            </a:r>
            <a:endParaRPr lang="en-US" altLang="zh-CN" dirty="0" smtClean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19298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由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synchronous_commit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参数决定，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时，此时就是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Commit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，返回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成功后，最多等待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3*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wal_writer_delay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的时间，强制刷盘；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synchronous_standby_names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不是空的话，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默认是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，那么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会等待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 standby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的确认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收到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 record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后，返回成功，此时数据不会丢失；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另外还有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remote_apply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，确认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 standby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也完成了这个事务，此时修改在备库也是可见的。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同理 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remote_write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就是确保备库上也刷盘了。</a:t>
            </a:r>
          </a:p>
          <a:p>
            <a:pPr lvl="1"/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就只确保本地刷盘即可，不管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replication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synchronous_standby_names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是空的话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就只管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了。</a:t>
            </a:r>
          </a:p>
          <a:p>
            <a:r>
              <a:rPr lang="zh-CN" altLang="en-US" dirty="0" smtClean="0">
                <a:effectLst/>
              </a:rPr>
              <a:t>关闭</a:t>
            </a:r>
            <a:r>
              <a:rPr lang="en-US" altLang="zh-CN" dirty="0" err="1" smtClean="0">
                <a:effectLst/>
              </a:rPr>
              <a:t>synchronous_commit</a:t>
            </a:r>
            <a:r>
              <a:rPr lang="zh-CN" altLang="en-US" dirty="0" smtClean="0">
                <a:effectLst/>
              </a:rPr>
              <a:t>，不会导致数据不一致性，顶多会丢掉几个</a:t>
            </a:r>
            <a:r>
              <a:rPr lang="en-US" altLang="zh-CN" dirty="0" smtClean="0">
                <a:effectLst/>
              </a:rPr>
              <a:t>commit</a:t>
            </a:r>
            <a:r>
              <a:rPr lang="zh-CN" altLang="en-US" dirty="0" smtClean="0">
                <a:effectLst/>
              </a:rPr>
              <a:t>的事务，但是数据库中的数据是一致的。而关闭</a:t>
            </a:r>
            <a:r>
              <a:rPr lang="en-US" altLang="zh-CN" dirty="0" err="1" smtClean="0">
                <a:effectLst/>
              </a:rPr>
              <a:t>fsync</a:t>
            </a:r>
            <a:r>
              <a:rPr lang="zh-CN" altLang="en-US" dirty="0" smtClean="0">
                <a:effectLst/>
              </a:rPr>
              <a:t>，数据的落盘就没有保证了，如果你关了</a:t>
            </a:r>
            <a:r>
              <a:rPr lang="en-US" altLang="zh-CN" dirty="0" err="1" smtClean="0">
                <a:effectLst/>
              </a:rPr>
              <a:t>fsync</a:t>
            </a:r>
            <a:r>
              <a:rPr lang="zh-CN" altLang="en-US" dirty="0" smtClean="0">
                <a:effectLst/>
              </a:rPr>
              <a:t>，那么连</a:t>
            </a:r>
            <a:r>
              <a:rPr lang="en-US" altLang="zh-CN" dirty="0" err="1" smtClean="0">
                <a:effectLst/>
              </a:rPr>
              <a:t>full_page_write</a:t>
            </a:r>
            <a:r>
              <a:rPr lang="zh-CN" altLang="en-US" dirty="0" smtClean="0">
                <a:effectLst/>
              </a:rPr>
              <a:t>也一起关了得了。</a:t>
            </a:r>
          </a:p>
          <a:p>
            <a:r>
              <a:rPr lang="zh-CN" altLang="en-US" dirty="0" smtClean="0">
                <a:effectLst/>
              </a:rPr>
              <a:t>所以想提高性能，可以考虑关闭</a:t>
            </a:r>
            <a:r>
              <a:rPr lang="en-US" altLang="zh-CN" dirty="0" err="1" smtClean="0">
                <a:effectLst/>
              </a:rPr>
              <a:t>synchronous_commit</a:t>
            </a:r>
            <a:r>
              <a:rPr lang="zh-CN" altLang="en-US" dirty="0" smtClean="0">
                <a:effectLst/>
              </a:rPr>
              <a:t>（最好还是别关）。</a:t>
            </a:r>
          </a:p>
          <a:p>
            <a:r>
              <a:rPr lang="zh-CN" altLang="en-US" dirty="0" smtClean="0">
                <a:effectLst/>
              </a:rPr>
              <a:t>值得注意的是，</a:t>
            </a:r>
            <a:r>
              <a:rPr lang="en-US" altLang="zh-CN" dirty="0" err="1" smtClean="0">
                <a:effectLst/>
              </a:rPr>
              <a:t>synchronous_commit</a:t>
            </a:r>
            <a:r>
              <a:rPr lang="zh-CN" altLang="en-US" dirty="0" smtClean="0">
                <a:effectLst/>
              </a:rPr>
              <a:t>可以在任何地方设置，甚至可以同一个应用控制不同事务的提交级别。</a:t>
            </a:r>
            <a:endParaRPr lang="en-US" altLang="zh-CN" dirty="0" smtClean="0">
              <a:effectLst/>
            </a:endParaRPr>
          </a:p>
          <a:p>
            <a:endParaRPr lang="en-US" altLang="zh-CN" dirty="0" smtClean="0">
              <a:effectLst/>
            </a:endParaRPr>
          </a:p>
          <a:p>
            <a:r>
              <a:rPr kumimoji="1" lang="zh-CN" altLang="en-US" dirty="0" smtClean="0"/>
              <a:t>区分</a:t>
            </a:r>
            <a:r>
              <a:rPr kumimoji="1" lang="en-US" altLang="zh-CN" dirty="0" smtClean="0"/>
              <a:t>:</a:t>
            </a:r>
          </a:p>
          <a:p>
            <a:pPr lvl="1"/>
            <a:r>
              <a:rPr lang="en-US" altLang="zh-CN" dirty="0" err="1" smtClean="0"/>
              <a:t>full_page_write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checkpoint</a:t>
            </a:r>
            <a:r>
              <a:rPr lang="zh-CN" altLang="en-US" dirty="0" smtClean="0"/>
              <a:t>后，第一次修改，整页写入</a:t>
            </a:r>
            <a:r>
              <a:rPr lang="en-US" altLang="zh-CN" dirty="0" smtClean="0"/>
              <a:t>WAL</a:t>
            </a:r>
          </a:p>
          <a:p>
            <a:pPr lvl="1"/>
            <a:r>
              <a:rPr kumimoji="1" lang="en-US" altLang="zh-CN" dirty="0" err="1" smtClean="0"/>
              <a:t>Fsync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try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lang="en-US" altLang="zh-CN" dirty="0" smtClean="0"/>
              <a:t>physically written to disk</a:t>
            </a:r>
            <a:endParaRPr kumimoji="1" lang="en-US" altLang="zh-CN" dirty="0" smtClean="0"/>
          </a:p>
          <a:p>
            <a:endParaRPr lang="zh-CN" altLang="en-US" dirty="0" smtClean="0">
              <a:effectLst/>
            </a:endParaRP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98217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smtClean="0"/>
              <a:t>RMID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smtClean="0"/>
              <a:t>full-page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image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8501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zh-CN" altLang="en-US" dirty="0" smtClean="0"/>
              <a:t>普通恢复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PITR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7B6B7-4533-6B49-91A5-E5E12BC8D3FB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410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12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352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5890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656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3584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296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5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3380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32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81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058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642EA-EC7D-3F4D-8A4D-F3609E125A2B}" type="datetimeFigureOut">
              <a:rPr kumimoji="1" lang="zh-CN" altLang="en-US" smtClean="0"/>
              <a:t>2019/5/20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E6575-A066-0F47-B533-0BB58DC26E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618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hyperlink" Target="https://www.cs.purdue.edu/spgist/papers/W87R36P214137510.pdf" TargetMode="External"/><Relationship Id="rId5" Type="http://schemas.openxmlformats.org/officeDocument/2006/relationships/image" Target="../media/image7.png"/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4" Type="http://schemas.openxmlformats.org/officeDocument/2006/relationships/hyperlink" Target="https://www.postgresql.org/docs/current/static/runtime-config-wal.html#GUC-WAL-WRITER-DELAY" TargetMode="External"/><Relationship Id="rId5" Type="http://schemas.openxmlformats.org/officeDocument/2006/relationships/image" Target="../media/image13.png"/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工作分享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smtClean="0"/>
              <a:t>——PostgreSQL</a:t>
            </a:r>
            <a:r>
              <a:rPr kumimoji="1" lang="zh-CN" altLang="en-US" dirty="0" smtClean="0"/>
              <a:t>的存储模块简述</a:t>
            </a:r>
            <a:endParaRPr kumimoji="1" lang="en-US" altLang="zh-CN" dirty="0" smtClean="0"/>
          </a:p>
          <a:p>
            <a:r>
              <a:rPr kumimoji="1" lang="zh-CN" altLang="en-US" dirty="0" smtClean="0"/>
              <a:t>刘阳明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62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 smtClean="0"/>
              <a:t>近期工作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799" y="1454944"/>
            <a:ext cx="3302000" cy="5092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340644"/>
            <a:ext cx="2895600" cy="5321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602" y="45112"/>
            <a:ext cx="2580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8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 smtClean="0"/>
              <a:t>事务型存储引擎</a:t>
            </a:r>
            <a:endParaRPr kumimoji="1"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Access</a:t>
            </a:r>
            <a:r>
              <a:rPr lang="zh-CN" altLang="en-US" dirty="0" smtClean="0"/>
              <a:t> </a:t>
            </a:r>
            <a:r>
              <a:rPr lang="en-US" altLang="zh-CN" dirty="0" smtClean="0"/>
              <a:t>Method</a:t>
            </a:r>
          </a:p>
          <a:p>
            <a:pPr lvl="1"/>
            <a:r>
              <a:rPr lang="en-US" altLang="zh-CN" b="1" i="1" dirty="0" smtClean="0"/>
              <a:t>Organize</a:t>
            </a:r>
            <a:r>
              <a:rPr lang="zh-CN" altLang="en-US" b="1" i="1" dirty="0" smtClean="0"/>
              <a:t> </a:t>
            </a:r>
            <a:r>
              <a:rPr lang="en-US" altLang="zh-CN" b="1" i="1" dirty="0" smtClean="0"/>
              <a:t>data</a:t>
            </a:r>
          </a:p>
          <a:p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Manager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lang="en-US" altLang="zh-CN" b="1" i="1" dirty="0" smtClean="0"/>
              <a:t>Staging</a:t>
            </a:r>
            <a:r>
              <a:rPr lang="zh-CN" altLang="en-US" b="1" i="1" dirty="0" smtClean="0"/>
              <a:t> </a:t>
            </a:r>
            <a:r>
              <a:rPr lang="en-US" altLang="zh-CN" b="1" i="1" dirty="0" smtClean="0"/>
              <a:t>IO</a:t>
            </a:r>
          </a:p>
          <a:p>
            <a:r>
              <a:rPr kumimoji="1" lang="en-US" altLang="zh-CN" dirty="0" smtClean="0"/>
              <a:t>Lock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Manager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lvl="1"/>
            <a:r>
              <a:rPr lang="en-US" altLang="zh-CN" b="1" i="1" dirty="0" smtClean="0"/>
              <a:t>Concurrency </a:t>
            </a:r>
            <a:r>
              <a:rPr lang="en-US" altLang="zh-CN" b="1" i="1" dirty="0"/>
              <a:t>control</a:t>
            </a:r>
          </a:p>
          <a:p>
            <a:r>
              <a:rPr kumimoji="1" lang="en-US" altLang="zh-CN" dirty="0" smtClean="0"/>
              <a:t>Log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Manager</a:t>
            </a:r>
          </a:p>
          <a:p>
            <a:pPr lvl="1"/>
            <a:r>
              <a:rPr lang="en-US" altLang="zh-CN" b="1" i="1" dirty="0" smtClean="0"/>
              <a:t>Recovery</a:t>
            </a:r>
            <a:endParaRPr kumimoji="1" lang="en-US" altLang="zh-CN" b="1" i="1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789" y="1"/>
            <a:ext cx="7700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6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119"/>
    </mc:Choice>
    <mc:Fallback xmlns="">
      <p:transition spd="slow" advTm="136119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AccessMethod-InnoDB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primary</a:t>
            </a:r>
            <a:r>
              <a:rPr kumimoji="1" lang="zh-CN" altLang="en-US" dirty="0" smtClean="0"/>
              <a:t>（</a:t>
            </a:r>
            <a:r>
              <a:rPr lang="en-US" altLang="zh-CN" dirty="0" err="1"/>
              <a:t>B+Tree</a:t>
            </a:r>
            <a:r>
              <a:rPr kumimoji="1" lang="zh-CN" altLang="en-US" dirty="0"/>
              <a:t>）： 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索引</a:t>
            </a:r>
            <a:r>
              <a:rPr kumimoji="1" lang="zh-CN" altLang="en-US" dirty="0"/>
              <a:t>组织</a:t>
            </a:r>
            <a:r>
              <a:rPr kumimoji="1" lang="zh-CN" altLang="en-US" dirty="0" smtClean="0"/>
              <a:t>表，按照以下三种类型进行组织的聚簇索引：</a:t>
            </a:r>
            <a:endParaRPr kumimoji="1" lang="en-US" altLang="zh-CN" dirty="0" smtClean="0"/>
          </a:p>
          <a:p>
            <a:pPr lvl="2"/>
            <a:r>
              <a:rPr kumimoji="1" lang="zh-CN" altLang="en-US" dirty="0"/>
              <a:t>主键</a:t>
            </a:r>
            <a:r>
              <a:rPr kumimoji="1" lang="zh-CN" altLang="en-US" dirty="0" smtClean="0"/>
              <a:t>列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第一</a:t>
            </a:r>
            <a:r>
              <a:rPr kumimoji="1" lang="zh-CN" altLang="en-US" dirty="0"/>
              <a:t>个非空</a:t>
            </a:r>
            <a:r>
              <a:rPr kumimoji="1" lang="en-US" altLang="zh-CN" dirty="0"/>
              <a:t>Unique</a:t>
            </a:r>
            <a:r>
              <a:rPr kumimoji="1" lang="zh-CN" altLang="en-US" dirty="0" smtClean="0"/>
              <a:t>列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包含</a:t>
            </a:r>
            <a:r>
              <a:rPr kumimoji="1" lang="en-US" altLang="zh-CN" dirty="0" err="1" smtClean="0"/>
              <a:t>rowid</a:t>
            </a:r>
            <a:r>
              <a:rPr kumimoji="1" lang="zh-CN" altLang="en-US" dirty="0" smtClean="0"/>
              <a:t>的隐藏聚簇索引：</a:t>
            </a:r>
            <a:r>
              <a:rPr lang="en-US" altLang="zh-CN" b="1" dirty="0"/>
              <a:t> GEN_CLUST_INDEX</a:t>
            </a:r>
            <a:endParaRPr kumimoji="1" lang="en-US" altLang="zh-CN" dirty="0"/>
          </a:p>
          <a:p>
            <a:r>
              <a:rPr kumimoji="1" lang="en-US" altLang="zh-CN" dirty="0" smtClean="0"/>
              <a:t>Secondary</a:t>
            </a:r>
            <a:r>
              <a:rPr kumimoji="1" lang="zh-CN" altLang="en-US" dirty="0" smtClean="0"/>
              <a:t>（</a:t>
            </a:r>
            <a:r>
              <a:rPr lang="en-US" altLang="zh-CN" dirty="0" err="1"/>
              <a:t>B+Tree</a:t>
            </a:r>
            <a:r>
              <a:rPr kumimoji="1" lang="zh-CN" altLang="en-US" dirty="0" smtClean="0"/>
              <a:t>）：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key</a:t>
            </a:r>
            <a:r>
              <a:rPr kumimoji="1" lang="zh-CN" altLang="en-US" dirty="0" smtClean="0"/>
              <a:t>为聚簇索引的聚簇列，</a:t>
            </a:r>
            <a:r>
              <a:rPr kumimoji="1" lang="en-US" altLang="zh-CN" dirty="0" err="1" smtClean="0"/>
              <a:t>val</a:t>
            </a:r>
            <a:r>
              <a:rPr kumimoji="1" lang="zh-CN" altLang="en-US" dirty="0" smtClean="0"/>
              <a:t>为二级索引的</a:t>
            </a:r>
            <a:r>
              <a:rPr kumimoji="1" lang="en-US" altLang="zh-CN" dirty="0" smtClean="0"/>
              <a:t>value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FullText</a:t>
            </a:r>
            <a:r>
              <a:rPr kumimoji="1" lang="zh-CN" altLang="en-US" dirty="0" smtClean="0"/>
              <a:t>（倒排索引）</a:t>
            </a:r>
            <a:endParaRPr kumimoji="1" lang="en-US" altLang="zh-CN" dirty="0" smtClean="0"/>
          </a:p>
          <a:p>
            <a:r>
              <a:rPr kumimoji="1" lang="en-US" altLang="zh-CN" dirty="0" smtClean="0"/>
              <a:t>Spatial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Index</a:t>
            </a:r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R-tree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r>
              <a:rPr kumimoji="1" lang="zh-CN" altLang="en-US" dirty="0" smtClean="0">
                <a:solidFill>
                  <a:schemeClr val="tx2"/>
                </a:solidFill>
              </a:rPr>
              <a:t>（之前有过</a:t>
            </a:r>
            <a:r>
              <a:rPr kumimoji="1" lang="en-US" altLang="zh-CN" dirty="0" err="1" smtClean="0">
                <a:solidFill>
                  <a:schemeClr val="tx2"/>
                </a:solidFill>
              </a:rPr>
              <a:t>HashIndex</a:t>
            </a:r>
            <a:r>
              <a:rPr kumimoji="1" lang="zh-CN" altLang="en-US" dirty="0" smtClean="0">
                <a:solidFill>
                  <a:schemeClr val="tx2"/>
                </a:solidFill>
              </a:rPr>
              <a:t>，后来被</a:t>
            </a:r>
            <a:r>
              <a:rPr kumimoji="1" lang="en-US" altLang="zh-CN" dirty="0" smtClean="0">
                <a:solidFill>
                  <a:schemeClr val="tx2"/>
                </a:solidFill>
              </a:rPr>
              <a:t>B</a:t>
            </a:r>
            <a:r>
              <a:rPr kumimoji="1" lang="zh-CN" altLang="en-US" dirty="0" smtClean="0">
                <a:solidFill>
                  <a:schemeClr val="tx2"/>
                </a:solidFill>
              </a:rPr>
              <a:t>树取代了</a:t>
            </a:r>
            <a:r>
              <a:rPr kumimoji="1" lang="zh-CN" altLang="en-US" dirty="0">
                <a:solidFill>
                  <a:schemeClr val="tx2"/>
                </a:solidFill>
              </a:rPr>
              <a:t>）</a:t>
            </a:r>
            <a:endParaRPr kumimoji="1" lang="en-US" altLang="zh-C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4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AccessMethod</a:t>
            </a:r>
            <a:r>
              <a:rPr lang="en-US" altLang="zh-CN" dirty="0"/>
              <a:t>——</a:t>
            </a:r>
            <a:r>
              <a:rPr lang="en-US" altLang="zh-CN" dirty="0" smtClean="0"/>
              <a:t>PostgreSQL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kumimoji="1" lang="zh-CN" altLang="en-US" dirty="0" smtClean="0"/>
              <a:t>标识</a:t>
            </a:r>
            <a:endParaRPr kumimoji="1" lang="en-US" altLang="zh-CN" dirty="0" smtClean="0"/>
          </a:p>
          <a:p>
            <a:r>
              <a:rPr kumimoji="1" lang="zh-CN" altLang="en-US" dirty="0" smtClean="0"/>
              <a:t>类型</a:t>
            </a:r>
            <a:endParaRPr kumimoji="1" lang="en-US" altLang="zh-CN" dirty="0" smtClean="0"/>
          </a:p>
          <a:p>
            <a:r>
              <a:rPr kumimoji="1" lang="zh-CN" altLang="en-US" dirty="0" smtClean="0"/>
              <a:t>组合访问</a:t>
            </a:r>
            <a:endParaRPr kumimoji="1" lang="en-US" altLang="zh-CN" dirty="0" smtClean="0"/>
          </a:p>
          <a:p>
            <a:r>
              <a:rPr kumimoji="1" lang="zh-CN" altLang="en-US" dirty="0" smtClean="0"/>
              <a:t>组合访问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endParaRPr kumimoji="1" lang="en-US" altLang="zh-CN" dirty="0" smtClean="0"/>
          </a:p>
          <a:p>
            <a:endParaRPr kumimoji="1" lang="en-US" altLang="zh-CN" dirty="0"/>
          </a:p>
          <a:p>
            <a:pPr marL="228600" lvl="1">
              <a:spcBef>
                <a:spcPts val="1000"/>
              </a:spcBef>
            </a:pPr>
            <a:r>
              <a:rPr kumimoji="1" lang="en-US" altLang="zh-CN" dirty="0" err="1" smtClean="0">
                <a:solidFill>
                  <a:schemeClr val="accent3"/>
                </a:solidFill>
              </a:rPr>
              <a:t>src</a:t>
            </a:r>
            <a:r>
              <a:rPr kumimoji="1" lang="en-US" altLang="zh-CN" dirty="0" smtClean="0">
                <a:solidFill>
                  <a:schemeClr val="accent3"/>
                </a:solidFill>
              </a:rPr>
              <a:t>/backend/access</a:t>
            </a:r>
            <a:endParaRPr kumimoji="1" lang="en-US" altLang="zh-C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04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11"/>
    </mc:Choice>
    <mc:Fallback xmlns="">
      <p:transition spd="slow" advTm="1261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AccessMethod</a:t>
            </a:r>
            <a:r>
              <a:rPr lang="en-US" altLang="zh-CN" dirty="0"/>
              <a:t>——PostgreSQL</a:t>
            </a:r>
            <a:endParaRPr kumimoji="1" lang="en-US" altLang="zh-CN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03" y="3071813"/>
            <a:ext cx="5394394" cy="3105150"/>
          </a:xfr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825" y="1484313"/>
            <a:ext cx="86360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24"/>
    </mc:Choice>
    <mc:Fallback xmlns="">
      <p:transition spd="slow" advTm="58024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AccessMethod</a:t>
            </a:r>
            <a:r>
              <a:rPr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Brin</a:t>
            </a:r>
            <a:r>
              <a:rPr kumimoji="1" lang="zh-CN" altLang="en-US" dirty="0" smtClean="0"/>
              <a:t>：块元信息统计，超大数据集</a:t>
            </a:r>
            <a:r>
              <a:rPr kumimoji="1" lang="en-US" altLang="zh-CN" dirty="0" smtClean="0"/>
              <a:t>&amp;</a:t>
            </a:r>
            <a:r>
              <a:rPr kumimoji="1" lang="zh-CN" altLang="en-US" dirty="0" smtClean="0"/>
              <a:t>存储与物理位置相关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Btree</a:t>
            </a:r>
            <a:r>
              <a:rPr kumimoji="1" lang="zh-CN" altLang="en-US" dirty="0" smtClean="0"/>
              <a:t>：多路</a:t>
            </a:r>
            <a:r>
              <a:rPr kumimoji="1" lang="zh-CN" altLang="en-US" dirty="0" smtClean="0">
                <a:solidFill>
                  <a:schemeClr val="accent3"/>
                </a:solidFill>
              </a:rPr>
              <a:t>（树矮，</a:t>
            </a:r>
            <a:r>
              <a:rPr kumimoji="1" lang="zh-CN" altLang="en-US" dirty="0">
                <a:solidFill>
                  <a:schemeClr val="accent3"/>
                </a:solidFill>
              </a:rPr>
              <a:t>外部</a:t>
            </a:r>
            <a:r>
              <a:rPr kumimoji="1" lang="en-US" altLang="zh-CN" dirty="0">
                <a:solidFill>
                  <a:schemeClr val="accent3"/>
                </a:solidFill>
              </a:rPr>
              <a:t>IO</a:t>
            </a:r>
            <a:r>
              <a:rPr kumimoji="1" lang="zh-CN" altLang="en-US" dirty="0">
                <a:solidFill>
                  <a:schemeClr val="accent3"/>
                </a:solidFill>
              </a:rPr>
              <a:t>次数少</a:t>
            </a:r>
            <a:r>
              <a:rPr kumimoji="1" lang="zh-CN" altLang="en-US" dirty="0" smtClean="0">
                <a:solidFill>
                  <a:schemeClr val="accent3"/>
                </a:solidFill>
              </a:rPr>
              <a:t>）</a:t>
            </a:r>
            <a:r>
              <a:rPr kumimoji="1" lang="zh-CN" altLang="en-US" dirty="0" smtClean="0"/>
              <a:t>平衡</a:t>
            </a:r>
            <a:r>
              <a:rPr kumimoji="1" lang="zh-CN" altLang="en-US" dirty="0" smtClean="0">
                <a:solidFill>
                  <a:schemeClr val="accent3"/>
                </a:solidFill>
              </a:rPr>
              <a:t>（性能均衡）</a:t>
            </a:r>
            <a:r>
              <a:rPr kumimoji="1" lang="zh-CN" altLang="en-US" dirty="0" smtClean="0"/>
              <a:t>搜索树</a:t>
            </a:r>
            <a:endParaRPr kumimoji="1" lang="en-US" altLang="zh-CN" dirty="0" smtClean="0"/>
          </a:p>
          <a:p>
            <a:r>
              <a:rPr kumimoji="1" lang="en-US" altLang="zh-CN" dirty="0" smtClean="0"/>
              <a:t>Gin</a:t>
            </a:r>
            <a:r>
              <a:rPr kumimoji="1" lang="zh-CN" altLang="en-US" dirty="0" smtClean="0"/>
              <a:t>：倒排索引，</a:t>
            </a:r>
            <a:r>
              <a:rPr kumimoji="1" lang="zh-CN" altLang="en-US" b="1" dirty="0" smtClean="0"/>
              <a:t>多值离散组合类型</a:t>
            </a:r>
            <a:r>
              <a:rPr kumimoji="1" lang="zh-CN" altLang="en-US" dirty="0" smtClean="0"/>
              <a:t>的多对多查找</a:t>
            </a:r>
            <a:endParaRPr kumimoji="1" lang="en-US" altLang="zh-CN" dirty="0" smtClean="0"/>
          </a:p>
          <a:p>
            <a:r>
              <a:rPr kumimoji="1" lang="en-US" altLang="zh-CN" dirty="0" smtClean="0"/>
              <a:t>Gist</a:t>
            </a:r>
            <a:r>
              <a:rPr kumimoji="1" lang="zh-CN" altLang="en-US" dirty="0" smtClean="0"/>
              <a:t>：</a:t>
            </a:r>
            <a:r>
              <a:rPr kumimoji="1" lang="en-US" altLang="zh-CN" dirty="0" err="1" smtClean="0"/>
              <a:t>Rtree</a:t>
            </a:r>
            <a:r>
              <a:rPr kumimoji="1" lang="zh-CN" altLang="en-US" dirty="0" smtClean="0"/>
              <a:t>，</a:t>
            </a:r>
            <a:r>
              <a:rPr kumimoji="1" lang="zh-CN" altLang="en-US" b="1" dirty="0" smtClean="0"/>
              <a:t>有交集的连续范围</a:t>
            </a:r>
            <a:r>
              <a:rPr kumimoji="1" lang="zh-CN" altLang="en-US" dirty="0" smtClean="0"/>
              <a:t>类型</a:t>
            </a:r>
            <a:endParaRPr kumimoji="1" lang="en-US" altLang="zh-CN" dirty="0" smtClean="0"/>
          </a:p>
          <a:p>
            <a:r>
              <a:rPr kumimoji="1" lang="en-US" altLang="zh-CN" dirty="0" smtClean="0"/>
              <a:t>Hash</a:t>
            </a:r>
            <a:r>
              <a:rPr kumimoji="1" lang="zh-CN" altLang="en-US" dirty="0" smtClean="0"/>
              <a:t>：等值搜索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Spgist</a:t>
            </a:r>
            <a:r>
              <a:rPr kumimoji="1" lang="zh-CN" altLang="en-US" dirty="0" smtClean="0"/>
              <a:t>：</a:t>
            </a:r>
            <a:r>
              <a:rPr kumimoji="1" lang="zh-CN" altLang="en-US" b="1" dirty="0" smtClean="0"/>
              <a:t>自然分区</a:t>
            </a:r>
            <a:r>
              <a:rPr kumimoji="1" lang="zh-CN" altLang="en-US" dirty="0" smtClean="0"/>
              <a:t>的数据（可能不平衡）</a:t>
            </a:r>
            <a:endParaRPr kumimoji="1" lang="en-US" altLang="zh-CN" dirty="0" smtClean="0"/>
          </a:p>
          <a:p>
            <a:pPr lvl="1"/>
            <a:r>
              <a:rPr lang="en-US" altLang="zh-CN" u="sng" dirty="0">
                <a:hlinkClick r:id="rId4"/>
              </a:rPr>
              <a:t>https://</a:t>
            </a:r>
            <a:r>
              <a:rPr lang="en-US" altLang="zh-CN" u="sng" dirty="0" smtClean="0">
                <a:hlinkClick r:id="rId4"/>
              </a:rPr>
              <a:t>www.cs.purdue.edu/spgist/papers/W87R36P214137510.pdf</a:t>
            </a:r>
            <a:endParaRPr lang="en-US" altLang="zh-CN" u="sng" dirty="0" smtClean="0"/>
          </a:p>
        </p:txBody>
      </p:sp>
      <p:pic>
        <p:nvPicPr>
          <p:cNvPr id="5" name="内容占位符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549" y="1740694"/>
            <a:ext cx="9898901" cy="33607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677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209"/>
    </mc:Choice>
    <mc:Fallback xmlns="">
      <p:transition spd="slow" advTm="2642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AccessMethod</a:t>
            </a:r>
            <a:r>
              <a:rPr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en-US" altLang="zh-CN" dirty="0" err="1"/>
              <a:t>enable_bitmapscan</a:t>
            </a:r>
            <a:r>
              <a:rPr lang="en-US" altLang="zh-CN" dirty="0"/>
              <a:t>=on</a:t>
            </a:r>
          </a:p>
          <a:p>
            <a:pPr lvl="1"/>
            <a:r>
              <a:rPr kumimoji="1" lang="zh-CN" altLang="en-US" dirty="0" smtClean="0"/>
              <a:t>一次查询</a:t>
            </a:r>
            <a:r>
              <a:rPr kumimoji="1" lang="zh-CN" altLang="en-US" b="1" dirty="0" smtClean="0"/>
              <a:t>涉及多条索引</a:t>
            </a:r>
            <a:r>
              <a:rPr kumimoji="1" lang="en-US" altLang="zh-CN" dirty="0" smtClean="0"/>
              <a:t>&amp;</a:t>
            </a:r>
            <a:r>
              <a:rPr kumimoji="1" lang="zh-CN" altLang="en-US" b="1" dirty="0" smtClean="0"/>
              <a:t>索引目标块重叠</a:t>
            </a:r>
            <a:r>
              <a:rPr kumimoji="1" lang="zh-CN" altLang="en-US" dirty="0" smtClean="0"/>
              <a:t>会采用；</a:t>
            </a:r>
            <a:endParaRPr kumimoji="1" lang="en-US" altLang="zh-CN" dirty="0" smtClean="0"/>
          </a:p>
          <a:p>
            <a:r>
              <a:rPr kumimoji="1" lang="zh-CN" altLang="en-US" dirty="0" smtClean="0"/>
              <a:t>收益：同时使用多个独立索引，大大减少外部</a:t>
            </a:r>
            <a:r>
              <a:rPr kumimoji="1" lang="en-US" altLang="zh-CN" dirty="0" smtClean="0"/>
              <a:t>IO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3170238"/>
            <a:ext cx="90424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2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85"/>
    </mc:Choice>
    <mc:Fallback xmlns="">
      <p:transition spd="slow" advTm="6508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AccessMethod</a:t>
            </a:r>
            <a:r>
              <a:rPr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CREATE [ UNIQUE ] INDEX [ CONCURRENTLY ] [ [ IF NOT EXISTS ] name ] ON </a:t>
            </a:r>
            <a:r>
              <a:rPr lang="en-US" altLang="zh-CN" dirty="0" err="1"/>
              <a:t>table_name</a:t>
            </a:r>
            <a:r>
              <a:rPr lang="en-US" altLang="zh-CN" dirty="0"/>
              <a:t> [ USING method ] ( { </a:t>
            </a:r>
            <a:r>
              <a:rPr lang="en-US" altLang="zh-CN" dirty="0" err="1"/>
              <a:t>column_name</a:t>
            </a:r>
            <a:r>
              <a:rPr lang="en-US" altLang="zh-CN" dirty="0"/>
              <a:t> | ( </a:t>
            </a:r>
            <a:r>
              <a:rPr lang="en-US" altLang="zh-CN" b="1" dirty="0"/>
              <a:t>expression</a:t>
            </a:r>
            <a:r>
              <a:rPr lang="en-US" altLang="zh-CN" dirty="0"/>
              <a:t> ) } [ COLLATE collation ] [ </a:t>
            </a:r>
            <a:r>
              <a:rPr lang="en-US" altLang="zh-CN" dirty="0" err="1"/>
              <a:t>opclass</a:t>
            </a:r>
            <a:r>
              <a:rPr lang="en-US" altLang="zh-CN" dirty="0"/>
              <a:t> ] [ ASC | DESC ] [ NULLS { FIRST | LAST } ] [, ...] ) [ WITH ( </a:t>
            </a:r>
            <a:r>
              <a:rPr lang="en-US" altLang="zh-CN" dirty="0" err="1"/>
              <a:t>storage_parameter</a:t>
            </a:r>
            <a:r>
              <a:rPr lang="en-US" altLang="zh-CN" dirty="0"/>
              <a:t> = value [, ... ] ) ] [ TABLESPACE </a:t>
            </a:r>
            <a:r>
              <a:rPr lang="en-US" altLang="zh-CN" dirty="0" err="1"/>
              <a:t>tablespace_name</a:t>
            </a:r>
            <a:r>
              <a:rPr lang="en-US" altLang="zh-CN" dirty="0"/>
              <a:t> ] [ </a:t>
            </a:r>
            <a:r>
              <a:rPr lang="en-US" altLang="zh-CN" b="1" dirty="0"/>
              <a:t>WHERE</a:t>
            </a:r>
            <a:r>
              <a:rPr lang="en-US" altLang="zh-CN" dirty="0"/>
              <a:t> predicate ]</a:t>
            </a:r>
            <a:endParaRPr lang="en-US" altLang="zh-CN" u="sng" dirty="0" smtClean="0"/>
          </a:p>
          <a:p>
            <a:r>
              <a:rPr lang="zh-CN" altLang="en-US" u="sng" dirty="0" smtClean="0"/>
              <a:t>表达式</a:t>
            </a:r>
            <a:r>
              <a:rPr lang="en-US" altLang="zh-CN" u="sng" dirty="0" smtClean="0"/>
              <a:t>(</a:t>
            </a:r>
            <a:r>
              <a:rPr lang="zh-CN" altLang="en-US" u="sng" dirty="0" smtClean="0"/>
              <a:t>函数</a:t>
            </a:r>
            <a:r>
              <a:rPr lang="en-US" altLang="zh-CN" u="sng" dirty="0" smtClean="0"/>
              <a:t>)</a:t>
            </a:r>
            <a:r>
              <a:rPr lang="zh-CN" altLang="en-US" u="sng" dirty="0" smtClean="0"/>
              <a:t>索引</a:t>
            </a:r>
            <a:endParaRPr lang="en-US" altLang="zh-CN" u="sng" dirty="0" smtClean="0"/>
          </a:p>
          <a:p>
            <a:pPr lvl="1"/>
            <a:r>
              <a:rPr lang="en-US" altLang="zh-CN" u="sng" dirty="0" smtClean="0"/>
              <a:t>Create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index</a:t>
            </a:r>
            <a:r>
              <a:rPr lang="zh-CN" altLang="en-US" u="sng" dirty="0" smtClean="0"/>
              <a:t> 。。。 </a:t>
            </a:r>
            <a:r>
              <a:rPr lang="en-US" altLang="zh-CN" u="sng" dirty="0" smtClean="0"/>
              <a:t>On</a:t>
            </a:r>
            <a:r>
              <a:rPr lang="zh-CN" altLang="en-US" u="sng" dirty="0" smtClean="0"/>
              <a:t> </a:t>
            </a:r>
            <a:r>
              <a:rPr lang="en-US" altLang="zh-CN" u="sng" dirty="0" err="1" smtClean="0"/>
              <a:t>func</a:t>
            </a:r>
            <a:r>
              <a:rPr lang="en-US" altLang="zh-CN" u="sng" dirty="0" smtClean="0"/>
              <a:t>(id)</a:t>
            </a:r>
            <a:endParaRPr lang="en-US" altLang="zh-CN" u="sng" dirty="0"/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IMMUTABLE </a:t>
            </a:r>
            <a:endParaRPr lang="en-US" altLang="zh-CN" b="1" u="sng" dirty="0" smtClean="0">
              <a:solidFill>
                <a:srgbClr val="FF0000"/>
              </a:solidFill>
            </a:endParaRPr>
          </a:p>
          <a:p>
            <a:r>
              <a:rPr lang="zh-CN" altLang="en-US" u="sng" dirty="0" smtClean="0"/>
              <a:t>条件索引</a:t>
            </a:r>
            <a:endParaRPr lang="en-US" altLang="zh-CN" u="sng" dirty="0" smtClean="0"/>
          </a:p>
          <a:p>
            <a:pPr lvl="1"/>
            <a:r>
              <a:rPr lang="en-US" altLang="zh-CN" u="sng" dirty="0" smtClean="0"/>
              <a:t>Create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index</a:t>
            </a:r>
            <a:r>
              <a:rPr lang="zh-CN" altLang="en-US" u="sng" dirty="0" smtClean="0"/>
              <a:t> 。。。 </a:t>
            </a:r>
            <a:r>
              <a:rPr lang="en-US" altLang="zh-CN" u="sng" dirty="0" smtClean="0"/>
              <a:t>Where</a:t>
            </a:r>
            <a:r>
              <a:rPr lang="zh-CN" altLang="en-US" u="sng" dirty="0" smtClean="0"/>
              <a:t> </a:t>
            </a:r>
            <a:endParaRPr lang="en-US" altLang="zh-CN" u="sng" dirty="0" smtClean="0"/>
          </a:p>
          <a:p>
            <a:pPr lvl="1"/>
            <a:r>
              <a:rPr lang="zh-CN" altLang="en-US" b="1" u="sng" dirty="0" smtClean="0">
                <a:solidFill>
                  <a:srgbClr val="FF0000"/>
                </a:solidFill>
              </a:rPr>
              <a:t>小就快</a:t>
            </a:r>
            <a:endParaRPr lang="en-US" altLang="zh-CN" b="1" u="sng" dirty="0" smtClean="0">
              <a:solidFill>
                <a:srgbClr val="FF0000"/>
              </a:solidFill>
            </a:endParaRPr>
          </a:p>
          <a:p>
            <a:pPr lvl="1"/>
            <a:endParaRPr lang="en-US" altLang="zh-CN" u="sng" dirty="0" smtClean="0"/>
          </a:p>
        </p:txBody>
      </p:sp>
    </p:spTree>
    <p:extLst>
      <p:ext uri="{BB962C8B-B14F-4D97-AF65-F5344CB8AC3E}">
        <p14:creationId xmlns:p14="http://schemas.microsoft.com/office/powerpoint/2010/main" val="197908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138"/>
    </mc:Choice>
    <mc:Fallback xmlns="">
      <p:transition spd="slow" advTm="77138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AccessMethod</a:t>
            </a:r>
            <a:r>
              <a:rPr lang="zh-CN" altLang="en-US" dirty="0" smtClean="0"/>
              <a:t>小结</a:t>
            </a:r>
            <a:r>
              <a:rPr lang="en-US" altLang="zh-CN" dirty="0" smtClean="0"/>
              <a:t>——</a:t>
            </a:r>
            <a:r>
              <a:rPr lang="en-US" altLang="zh-CN" dirty="0"/>
              <a:t>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random_page_cost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seq_page_cost</a:t>
            </a:r>
            <a:endParaRPr lang="en-US" altLang="zh-CN" dirty="0" smtClean="0"/>
          </a:p>
          <a:p>
            <a:r>
              <a:rPr kumimoji="1" lang="zh-CN" altLang="en-US" dirty="0" smtClean="0"/>
              <a:t>原生不支持</a:t>
            </a:r>
            <a:r>
              <a:rPr kumimoji="1" lang="en-US" altLang="zh-CN" dirty="0" smtClean="0"/>
              <a:t>hint</a:t>
            </a:r>
            <a:r>
              <a:rPr kumimoji="1" lang="zh-CN" altLang="en-US" dirty="0" smtClean="0"/>
              <a:t>，通过插件可以，但是不推荐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maintain_work_mem</a:t>
            </a:r>
            <a:r>
              <a:rPr kumimoji="1" lang="zh-CN" altLang="en-US" dirty="0" smtClean="0"/>
              <a:t>与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Index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Concurrently</a:t>
            </a:r>
            <a:r>
              <a:rPr kumimoji="1" lang="zh-CN" altLang="en-US" dirty="0" smtClean="0"/>
              <a:t>。。。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监控索引膨胀率与使用情况，并重建或删除；</a:t>
            </a:r>
            <a:endParaRPr kumimoji="1" lang="en-US" altLang="zh-CN" dirty="0" smtClean="0"/>
          </a:p>
          <a:p>
            <a:r>
              <a:rPr kumimoji="1" lang="en-US" altLang="zh-CN" dirty="0" smtClean="0"/>
              <a:t>Drop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index</a:t>
            </a:r>
            <a:r>
              <a:rPr kumimoji="1" lang="zh-CN" altLang="en-US" dirty="0" smtClean="0"/>
              <a:t>要在整个复制流上确认无访问。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灵活使用条件索引和函数索引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4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BufferManager</a:t>
            </a:r>
            <a:r>
              <a:rPr kumimoji="1" lang="en-US" altLang="zh-CN" dirty="0"/>
              <a:t>——</a:t>
            </a:r>
            <a:r>
              <a:rPr kumimoji="1" lang="en-US" altLang="zh-CN" dirty="0" err="1"/>
              <a:t>InnoDB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 smtClean="0"/>
              <a:t>Bufferpool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以</a:t>
            </a:r>
            <a:r>
              <a:rPr kumimoji="1" lang="en-US" altLang="zh-CN" dirty="0" smtClean="0"/>
              <a:t>page</a:t>
            </a:r>
            <a:r>
              <a:rPr kumimoji="1" lang="zh-CN" altLang="en-US" dirty="0" smtClean="0"/>
              <a:t>为单元，组织为一个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进行管理；按照</a:t>
            </a:r>
            <a:r>
              <a:rPr kumimoji="1" lang="en-US" altLang="zh-CN" dirty="0" smtClean="0"/>
              <a:t>LRU</a:t>
            </a:r>
            <a:r>
              <a:rPr kumimoji="1" lang="zh-CN" altLang="en-US" dirty="0" smtClean="0"/>
              <a:t>算法进行页面淘汰。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ChangeBuffer</a:t>
            </a:r>
            <a:r>
              <a:rPr kumimoji="1" lang="en-US" altLang="zh-CN" dirty="0" smtClean="0"/>
              <a:t>:</a:t>
            </a:r>
          </a:p>
          <a:p>
            <a:pPr lvl="1"/>
            <a:r>
              <a:rPr kumimoji="1" lang="zh-CN" altLang="en-US" dirty="0" smtClean="0"/>
              <a:t>二级索引的</a:t>
            </a:r>
            <a:r>
              <a:rPr kumimoji="1" lang="en-US" altLang="zh-CN" dirty="0" smtClean="0"/>
              <a:t>page</a:t>
            </a:r>
            <a:r>
              <a:rPr kumimoji="1" lang="zh-CN" altLang="en-US" dirty="0" smtClean="0"/>
              <a:t>不在</a:t>
            </a:r>
            <a:r>
              <a:rPr kumimoji="1" lang="en-US" altLang="zh-CN" dirty="0" err="1" smtClean="0"/>
              <a:t>bufferpool</a:t>
            </a:r>
            <a:r>
              <a:rPr kumimoji="1" lang="zh-CN" altLang="en-US" dirty="0" smtClean="0"/>
              <a:t>中时，暂时将二级索引的变更进行缓存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AdaptiveHashIndex</a:t>
            </a:r>
            <a:r>
              <a:rPr kumimoji="1" lang="en-US" altLang="zh-CN" dirty="0" smtClean="0"/>
              <a:t>:</a:t>
            </a:r>
          </a:p>
          <a:p>
            <a:pPr lvl="1"/>
            <a:r>
              <a:rPr kumimoji="1" lang="en-US" altLang="zh-CN" dirty="0" err="1" smtClean="0"/>
              <a:t>Btree</a:t>
            </a:r>
            <a:r>
              <a:rPr kumimoji="1" lang="zh-CN" altLang="en-US" dirty="0" smtClean="0"/>
              <a:t>的寻路</a:t>
            </a:r>
            <a:r>
              <a:rPr kumimoji="1" lang="en-US" altLang="zh-CN" dirty="0" smtClean="0"/>
              <a:t>cache</a:t>
            </a:r>
            <a:r>
              <a:rPr kumimoji="1" lang="zh-CN" altLang="en-US" dirty="0" smtClean="0"/>
              <a:t>；基于某个阈值的部分键值的</a:t>
            </a:r>
            <a:r>
              <a:rPr kumimoji="1" lang="en-US" altLang="zh-CN" dirty="0" err="1" smtClean="0"/>
              <a:t>HashIndex</a:t>
            </a:r>
            <a:r>
              <a:rPr kumimoji="1" lang="zh-CN" altLang="en-US" dirty="0" smtClean="0"/>
              <a:t>（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BTR_SEARCH_HASH_ANALYSIS</a:t>
            </a:r>
            <a:r>
              <a:rPr kumimoji="1" lang="en-US" altLang="zh-CN" dirty="0"/>
              <a:t> 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r>
              <a:rPr kumimoji="1" lang="en-US" altLang="zh-CN" dirty="0" err="1" smtClean="0"/>
              <a:t>LogBuffer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Redo</a:t>
            </a:r>
            <a:r>
              <a:rPr kumimoji="1" lang="zh-CN" altLang="en-US" dirty="0" smtClean="0"/>
              <a:t>日志的缓存，默认</a:t>
            </a:r>
            <a:r>
              <a:rPr kumimoji="1" lang="en-US" altLang="zh-CN" dirty="0" smtClean="0"/>
              <a:t>16mb</a:t>
            </a:r>
            <a:r>
              <a:rPr kumimoji="1" lang="zh-CN" altLang="en-US" dirty="0" smtClean="0"/>
              <a:t>；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1010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BufferManager</a:t>
            </a:r>
            <a:r>
              <a:rPr kumimoji="1" lang="en-US" altLang="zh-CN" dirty="0"/>
              <a:t>——PostgreSQL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0" y="1690688"/>
            <a:ext cx="77089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05"/>
    </mc:Choice>
    <mc:Fallback xmlns="">
      <p:transition spd="slow" advTm="5010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BufferManager</a:t>
            </a:r>
            <a:r>
              <a:rPr kumimoji="1"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页面置换策略</a:t>
            </a:r>
            <a:r>
              <a:rPr kumimoji="1" lang="en-US" altLang="zh-CN" dirty="0"/>
              <a:t>——</a:t>
            </a:r>
            <a:r>
              <a:rPr kumimoji="1" lang="en-US" altLang="zh-CN" dirty="0" smtClean="0"/>
              <a:t>Clock-sweep</a:t>
            </a:r>
          </a:p>
          <a:p>
            <a:r>
              <a:rPr kumimoji="1" lang="zh-CN" altLang="en-US" dirty="0"/>
              <a:t>找到第一个访问次数是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的块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337" y="2775132"/>
            <a:ext cx="5129463" cy="340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4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BufferManager</a:t>
            </a:r>
            <a:r>
              <a:rPr kumimoji="1"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SpreadCHECKPOINT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checkpoint_completion_target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2430463"/>
            <a:ext cx="67183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966"/>
    </mc:Choice>
    <mc:Fallback xmlns="">
      <p:transition spd="slow" advTm="84966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BufferManager</a:t>
            </a:r>
            <a:r>
              <a:rPr kumimoji="1" lang="zh-CN" altLang="en-US" dirty="0" smtClean="0"/>
              <a:t>总结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推荐配置为系统内存的</a:t>
            </a:r>
            <a:r>
              <a:rPr kumimoji="1" lang="en-US" altLang="zh-CN" dirty="0" smtClean="0"/>
              <a:t>10%-25%</a:t>
            </a:r>
            <a:r>
              <a:rPr kumimoji="1" lang="zh-CN" altLang="en-US" dirty="0" smtClean="0"/>
              <a:t>，剩下给</a:t>
            </a:r>
            <a:r>
              <a:rPr kumimoji="1" lang="en-US" altLang="zh-CN" dirty="0" err="1" smtClean="0"/>
              <a:t>pagecache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切流量注意灰度预热，或者用</a:t>
            </a:r>
            <a:r>
              <a:rPr kumimoji="1" lang="en-US" altLang="zh-CN" dirty="0" err="1" smtClean="0"/>
              <a:t>pg_rewarm</a:t>
            </a:r>
            <a:endParaRPr kumimoji="1" lang="en-US" altLang="zh-CN" dirty="0" smtClean="0"/>
          </a:p>
          <a:p>
            <a:r>
              <a:rPr kumimoji="1" lang="zh-CN" altLang="en-US" dirty="0" smtClean="0"/>
              <a:t>监控命中率</a:t>
            </a:r>
            <a:endParaRPr kumimoji="1" lang="en-US" altLang="zh-CN" dirty="0" smtClean="0"/>
          </a:p>
          <a:p>
            <a:r>
              <a:rPr kumimoji="1" lang="zh-CN" altLang="en-US" dirty="0" smtClean="0"/>
              <a:t>监控</a:t>
            </a:r>
            <a:r>
              <a:rPr kumimoji="1" lang="en-US" altLang="zh-CN" dirty="0" err="1" smtClean="0"/>
              <a:t>pagecache</a:t>
            </a:r>
            <a:r>
              <a:rPr kumimoji="1" lang="zh-CN" altLang="en-US" dirty="0" smtClean="0"/>
              <a:t>的大小</a:t>
            </a:r>
            <a:endParaRPr kumimoji="1" lang="en-US" altLang="zh-CN" dirty="0" smtClean="0"/>
          </a:p>
          <a:p>
            <a:r>
              <a:rPr lang="en-US" altLang="zh-CN" dirty="0" err="1" smtClean="0"/>
              <a:t>work_mem</a:t>
            </a:r>
            <a:r>
              <a:rPr lang="zh-CN" altLang="en-US" dirty="0" smtClean="0"/>
              <a:t>不属于</a:t>
            </a:r>
            <a:r>
              <a:rPr lang="en-US" altLang="zh-CN" dirty="0" smtClean="0"/>
              <a:t>buffer</a:t>
            </a:r>
            <a:r>
              <a:rPr lang="zh-CN" altLang="en-US" dirty="0" smtClean="0"/>
              <a:t>，其为每个进程的工作内存。</a:t>
            </a:r>
            <a:endParaRPr lang="en-US" altLang="zh-CN" dirty="0" smtClean="0"/>
          </a:p>
          <a:p>
            <a:r>
              <a:rPr lang="zh-CN" altLang="en-US" dirty="0" smtClean="0"/>
              <a:t>到达</a:t>
            </a:r>
            <a:r>
              <a:rPr lang="en-US" altLang="zh-CN" i="1" dirty="0" err="1" smtClean="0"/>
              <a:t>max_wal_size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sharedbuffer</a:t>
            </a:r>
            <a:r>
              <a:rPr lang="zh-CN" altLang="en-US" dirty="0" smtClean="0"/>
              <a:t>会</a:t>
            </a:r>
            <a:r>
              <a:rPr lang="en-US" altLang="zh-CN" dirty="0" smtClean="0"/>
              <a:t>CHECKPOINT</a:t>
            </a:r>
            <a:r>
              <a:rPr lang="zh-CN" altLang="en-US" dirty="0" smtClean="0"/>
              <a:t>；但是</a:t>
            </a:r>
            <a:r>
              <a:rPr lang="en-US" altLang="zh-CN" dirty="0" err="1" smtClean="0"/>
              <a:t>max_wal_size</a:t>
            </a:r>
            <a:r>
              <a:rPr lang="zh-CN" altLang="en-US" dirty="0" smtClean="0"/>
              <a:t>有可能还是会超限。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6154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LockManager</a:t>
            </a:r>
            <a:r>
              <a:rPr kumimoji="1" lang="en-US" altLang="zh-CN" dirty="0" smtClean="0"/>
              <a:t>——</a:t>
            </a:r>
            <a:r>
              <a:rPr kumimoji="1" lang="en-US" altLang="zh-CN" dirty="0" err="1" smtClean="0"/>
              <a:t>InnoDB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 smtClean="0"/>
              <a:t>MVCC</a:t>
            </a:r>
          </a:p>
          <a:p>
            <a:pPr lvl="1"/>
            <a:r>
              <a:rPr kumimoji="1" lang="en-US" altLang="zh-CN" dirty="0" smtClean="0"/>
              <a:t>Undo</a:t>
            </a:r>
            <a:r>
              <a:rPr kumimoji="1" lang="zh-CN" altLang="en-US" dirty="0" smtClean="0"/>
              <a:t>段</a:t>
            </a:r>
            <a:endParaRPr kumimoji="1" lang="en-US" altLang="zh-CN" dirty="0" smtClean="0"/>
          </a:p>
          <a:p>
            <a:r>
              <a:rPr kumimoji="1" lang="zh-CN" altLang="en-US" dirty="0" smtClean="0"/>
              <a:t>锁类型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表锁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共享排他</a:t>
            </a:r>
            <a:r>
              <a:rPr kumimoji="1" lang="zh-CN" altLang="en-US" dirty="0" smtClean="0"/>
              <a:t>锁</a:t>
            </a:r>
            <a:r>
              <a:rPr kumimoji="1" lang="zh-CN" altLang="en-US" dirty="0"/>
              <a:t>、</a:t>
            </a:r>
            <a:r>
              <a:rPr kumimoji="1" lang="zh-CN" altLang="en-US" dirty="0" smtClean="0"/>
              <a:t>意向</a:t>
            </a:r>
            <a:r>
              <a:rPr kumimoji="1" lang="zh-CN" altLang="en-US" dirty="0" smtClean="0"/>
              <a:t>锁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行锁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记录锁：一行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间隙</a:t>
            </a:r>
            <a:r>
              <a:rPr kumimoji="1" lang="zh-CN" altLang="en-US" dirty="0" smtClean="0"/>
              <a:t>锁：若干满足条件的行（新行满足条件，也会锁）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组合或衍生锁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Next-Key</a:t>
            </a:r>
            <a:r>
              <a:rPr kumimoji="1" lang="zh-CN" altLang="en-US" dirty="0" smtClean="0"/>
              <a:t>锁：索引扫描时，为避免幻读的的锁；实际为记录锁和间隙锁的结合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插入意向</a:t>
            </a:r>
            <a:r>
              <a:rPr kumimoji="1" lang="zh-CN" altLang="en-US" dirty="0" smtClean="0"/>
              <a:t>锁</a:t>
            </a:r>
            <a:r>
              <a:rPr kumimoji="1" lang="zh-CN" altLang="en-US" dirty="0" smtClean="0"/>
              <a:t>：间隙锁；避免插入的幻读异常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自增</a:t>
            </a:r>
            <a:r>
              <a:rPr kumimoji="1" lang="zh-CN" altLang="en-US" dirty="0" smtClean="0"/>
              <a:t>锁：带有</a:t>
            </a:r>
            <a:r>
              <a:rPr kumimoji="1" lang="en-US" altLang="zh-CN" dirty="0" smtClean="0"/>
              <a:t>AUTO_INCREMENT</a:t>
            </a:r>
            <a:r>
              <a:rPr kumimoji="1" lang="zh-CN" altLang="en-US" dirty="0" smtClean="0"/>
              <a:t>的表上的特别的表锁。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空间索引的谓词</a:t>
            </a:r>
            <a:r>
              <a:rPr kumimoji="1" lang="zh-CN" altLang="en-US" dirty="0" smtClean="0"/>
              <a:t>锁：</a:t>
            </a:r>
            <a:r>
              <a:rPr kumimoji="1" lang="zh-CN" altLang="en-US" dirty="0" smtClean="0"/>
              <a:t>在空间索引上的查询条件命中的最小矩形边界上的锁。</a:t>
            </a:r>
            <a:endParaRPr kumimoji="1" lang="en-US" altLang="zh-CN" dirty="0"/>
          </a:p>
          <a:p>
            <a:pPr lvl="1"/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76117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LockManager</a:t>
            </a:r>
            <a:r>
              <a:rPr kumimoji="1"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spinlock</a:t>
            </a:r>
          </a:p>
          <a:p>
            <a:pPr lvl="1"/>
            <a:r>
              <a:rPr kumimoji="1" lang="zh-CN" altLang="en-US" dirty="0" smtClean="0"/>
              <a:t>用处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Lightweight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lock</a:t>
            </a:r>
            <a:r>
              <a:rPr kumimoji="1" lang="zh-CN" altLang="en-US" dirty="0"/>
              <a:t>的基础</a:t>
            </a:r>
            <a:r>
              <a:rPr kumimoji="1" lang="zh-CN" altLang="en-US" dirty="0" smtClean="0"/>
              <a:t>设施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表现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忙等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一种模式（获得</a:t>
            </a:r>
            <a:r>
              <a:rPr kumimoji="1" lang="en-US" altLang="zh-CN" dirty="0" smtClean="0"/>
              <a:t>/</a:t>
            </a:r>
            <a:r>
              <a:rPr kumimoji="1" lang="zh-CN" altLang="en-US" dirty="0" smtClean="0"/>
              <a:t>没获得）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endParaRPr kumimoji="1" lang="en-US" altLang="zh-CN" dirty="0"/>
          </a:p>
          <a:p>
            <a:endParaRPr kumimoji="1" lang="en-US" altLang="zh-CN" dirty="0" smtClean="0"/>
          </a:p>
          <a:p>
            <a:r>
              <a:rPr kumimoji="1" lang="en-US" altLang="zh-CN" dirty="0" err="1" smtClean="0">
                <a:solidFill>
                  <a:schemeClr val="accent3"/>
                </a:solidFill>
              </a:rPr>
              <a:t>s_lock.h</a:t>
            </a:r>
            <a:endParaRPr kumimoji="1" lang="en-US" altLang="zh-C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5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92"/>
    </mc:Choice>
    <mc:Fallback xmlns="">
      <p:transition spd="slow" advTm="21792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CN" dirty="0" err="1" smtClean="0"/>
              <a:t>LockManager</a:t>
            </a:r>
            <a:r>
              <a:rPr kumimoji="1" lang="en-US" altLang="zh-CN" dirty="0" smtClean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</a:t>
            </a:r>
          </a:p>
          <a:p>
            <a:pPr lvl="1"/>
            <a:r>
              <a:rPr kumimoji="1" lang="zh-CN" altLang="en-US" dirty="0" smtClean="0"/>
              <a:t>用处</a:t>
            </a:r>
            <a:r>
              <a:rPr kumimoji="1" lang="zh-CN" altLang="en-US" dirty="0" smtClean="0"/>
              <a:t>：</a:t>
            </a:r>
            <a:endParaRPr kumimoji="1" lang="en-US" altLang="zh-CN" dirty="0" smtClean="0"/>
          </a:p>
          <a:p>
            <a:pPr lvl="2"/>
            <a:r>
              <a:rPr kumimoji="1" lang="en-US" altLang="zh-CN" b="1" dirty="0" smtClean="0"/>
              <a:t>Shared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buffer</a:t>
            </a:r>
            <a:r>
              <a:rPr kumimoji="1" lang="zh-CN" altLang="en-US" dirty="0" smtClean="0"/>
              <a:t>中数据对象访问的锁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表现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有共享和排他</a:t>
            </a:r>
            <a:r>
              <a:rPr kumimoji="1" lang="zh-CN" altLang="en-US" b="1" dirty="0" smtClean="0"/>
              <a:t>两种模式</a:t>
            </a:r>
            <a:r>
              <a:rPr kumimoji="1" lang="zh-CN" altLang="en-US" dirty="0" smtClean="0"/>
              <a:t>；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获取和释放都很快，没有死锁</a:t>
            </a:r>
            <a:r>
              <a:rPr kumimoji="1" lang="zh-CN" altLang="en-US" dirty="0" smtClean="0"/>
              <a:t>检测</a:t>
            </a:r>
            <a:endParaRPr kumimoji="1" lang="en-US" altLang="zh-CN" dirty="0" smtClean="0"/>
          </a:p>
          <a:p>
            <a:pPr lvl="2"/>
            <a:r>
              <a:rPr kumimoji="1" lang="zh-CN" altLang="en-US" dirty="0"/>
              <a:t>只能</a:t>
            </a:r>
            <a:r>
              <a:rPr kumimoji="1" lang="zh-CN" altLang="en-US" dirty="0" smtClean="0"/>
              <a:t>从</a:t>
            </a:r>
            <a:r>
              <a:rPr kumimoji="1" lang="en-US" altLang="zh-CN" dirty="0" err="1" smtClean="0"/>
              <a:t>pg_stat_activity</a:t>
            </a:r>
            <a:r>
              <a:rPr kumimoji="1" lang="zh-CN" altLang="en-US" dirty="0"/>
              <a:t>查看</a:t>
            </a:r>
            <a:r>
              <a:rPr lang="en-US" altLang="zh-CN" dirty="0" err="1"/>
              <a:t>wait_event_type</a:t>
            </a:r>
            <a:r>
              <a:rPr lang="zh-CN" altLang="en-US" dirty="0" smtClean="0"/>
              <a:t>，看到等待</a:t>
            </a:r>
            <a:r>
              <a:rPr lang="en-US" altLang="zh-CN" dirty="0" err="1" smtClean="0"/>
              <a:t>LWLock</a:t>
            </a:r>
            <a:r>
              <a:rPr lang="zh-CN" altLang="en-US" dirty="0" smtClean="0"/>
              <a:t>。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代码中控制</a:t>
            </a:r>
            <a:endParaRPr kumimoji="1" lang="en-US" altLang="zh-CN" dirty="0" smtClean="0"/>
          </a:p>
          <a:p>
            <a:pPr lvl="3"/>
            <a:r>
              <a:rPr kumimoji="1" lang="en-US" altLang="zh-CN" dirty="0" smtClean="0"/>
              <a:t>(</a:t>
            </a:r>
            <a:r>
              <a:rPr kumimoji="1" lang="zh-CN" altLang="en-US" dirty="0" smtClean="0"/>
              <a:t>立马</a:t>
            </a:r>
            <a:r>
              <a:rPr kumimoji="1" lang="zh-CN" altLang="en-US" dirty="0" smtClean="0"/>
              <a:t>返回</a:t>
            </a:r>
            <a:r>
              <a:rPr kumimoji="1" lang="en-US" altLang="zh-CN" dirty="0" smtClean="0"/>
              <a:t>)Bool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LWLockConditionalAcquire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LWLock</a:t>
            </a:r>
            <a:r>
              <a:rPr kumimoji="1" lang="en-US" altLang="zh-CN" dirty="0" smtClean="0"/>
              <a:t> *, </a:t>
            </a:r>
            <a:r>
              <a:rPr kumimoji="1" lang="en-US" altLang="zh-CN" dirty="0" err="1" smtClean="0"/>
              <a:t>LWLockMode</a:t>
            </a:r>
            <a:r>
              <a:rPr kumimoji="1" lang="en-US" altLang="zh-CN" dirty="0" smtClean="0"/>
              <a:t>)</a:t>
            </a:r>
          </a:p>
          <a:p>
            <a:pPr lvl="3"/>
            <a:r>
              <a:rPr kumimoji="1" lang="zh-CN" altLang="en-US" dirty="0" smtClean="0"/>
              <a:t>（</a:t>
            </a:r>
            <a:r>
              <a:rPr kumimoji="1" lang="en-US" altLang="zh-CN" dirty="0" smtClean="0"/>
              <a:t>FIFO</a:t>
            </a:r>
            <a:r>
              <a:rPr kumimoji="1" lang="zh-CN" altLang="en-US" dirty="0" smtClean="0"/>
              <a:t>）</a:t>
            </a:r>
            <a:r>
              <a:rPr kumimoji="1" lang="en-US" altLang="zh-CN" dirty="0" smtClean="0"/>
              <a:t>Bool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LWLockAcquire</a:t>
            </a:r>
            <a:r>
              <a:rPr kumimoji="1" lang="en-US" altLang="zh-CN" dirty="0" smtClean="0"/>
              <a:t>(</a:t>
            </a:r>
            <a:r>
              <a:rPr kumimoji="1" lang="en-US" altLang="zh-CN" dirty="0" err="1" smtClean="0"/>
              <a:t>LWLock</a:t>
            </a:r>
            <a:r>
              <a:rPr kumimoji="1" lang="en-US" altLang="zh-CN" dirty="0" smtClean="0"/>
              <a:t> *, </a:t>
            </a:r>
            <a:r>
              <a:rPr kumimoji="1" lang="en-US" altLang="zh-CN" dirty="0" err="1" smtClean="0"/>
              <a:t>LWLockMode</a:t>
            </a:r>
            <a:r>
              <a:rPr kumimoji="1" lang="en-US" altLang="zh-CN" dirty="0" smtClean="0"/>
              <a:t>)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201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60"/>
    </mc:Choice>
    <mc:Fallback xmlns="">
      <p:transition spd="slow" advTm="6666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LockManager</a:t>
            </a:r>
            <a:r>
              <a:rPr kumimoji="1" lang="en-US" altLang="zh-CN" dirty="0" smtClean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lock/heavyweight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lock</a:t>
            </a:r>
            <a:endParaRPr kumimoji="1" lang="en-US" altLang="zh-CN" dirty="0"/>
          </a:p>
          <a:p>
            <a:pPr lvl="1"/>
            <a:r>
              <a:rPr kumimoji="1" lang="zh-CN" altLang="en-US" dirty="0" smtClean="0"/>
              <a:t>用处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用户</a:t>
            </a:r>
            <a:r>
              <a:rPr kumimoji="1" lang="en-US" altLang="zh-CN" dirty="0" smtClean="0"/>
              <a:t>SQL</a:t>
            </a:r>
            <a:r>
              <a:rPr kumimoji="1" lang="zh-CN" altLang="en-US" dirty="0" smtClean="0"/>
              <a:t>语句主动或间接请求的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表现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在</a:t>
            </a:r>
            <a:r>
              <a:rPr kumimoji="1" lang="en-US" altLang="zh-CN" dirty="0" err="1" smtClean="0"/>
              <a:t>pg_locks</a:t>
            </a:r>
            <a:r>
              <a:rPr kumimoji="1" lang="zh-CN" altLang="en-US" dirty="0" smtClean="0"/>
              <a:t>中可见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8</a:t>
            </a:r>
            <a:r>
              <a:rPr kumimoji="1" lang="zh-CN" altLang="en-US" dirty="0" smtClean="0"/>
              <a:t>种不同的模式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有死锁检测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s2pl</a:t>
            </a:r>
            <a:r>
              <a:rPr kumimoji="1" lang="zh-CN" altLang="en-US" dirty="0" smtClean="0"/>
              <a:t>，事务结束自动</a:t>
            </a:r>
            <a:r>
              <a:rPr kumimoji="1" lang="zh-CN" altLang="en-US" dirty="0" smtClean="0"/>
              <a:t>释放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2663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71"/>
    </mc:Choice>
    <mc:Fallback xmlns="">
      <p:transition spd="slow" advTm="5847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LockManager</a:t>
            </a:r>
            <a:r>
              <a:rPr kumimoji="1" lang="en-US" altLang="zh-CN" dirty="0"/>
              <a:t>——</a:t>
            </a:r>
            <a:r>
              <a:rPr kumimoji="1" lang="en-US" altLang="zh-CN" dirty="0" smtClean="0"/>
              <a:t>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SIRead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</a:t>
            </a:r>
          </a:p>
          <a:p>
            <a:pPr lvl="1"/>
            <a:r>
              <a:rPr kumimoji="1" lang="zh-CN" altLang="en-US" dirty="0" smtClean="0"/>
              <a:t>快</a:t>
            </a:r>
            <a:r>
              <a:rPr kumimoji="1" lang="zh-CN" altLang="en-US" dirty="0" smtClean="0"/>
              <a:t>照隔离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RC——</a:t>
            </a:r>
            <a:r>
              <a:rPr kumimoji="1" lang="zh-CN" altLang="en-US" dirty="0" smtClean="0"/>
              <a:t>语句快照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RR——</a:t>
            </a:r>
            <a:r>
              <a:rPr kumimoji="1" lang="zh-CN" altLang="en-US" dirty="0" smtClean="0"/>
              <a:t>事务快照</a:t>
            </a:r>
            <a:endParaRPr kumimoji="1" lang="en-US" altLang="zh-CN" dirty="0" smtClean="0"/>
          </a:p>
          <a:p>
            <a:pPr lvl="2"/>
            <a:r>
              <a:rPr kumimoji="1" lang="en-US" altLang="zh-CN" dirty="0" smtClean="0"/>
              <a:t>SI——9.1</a:t>
            </a:r>
            <a:r>
              <a:rPr kumimoji="1" lang="zh-CN" altLang="en-US" dirty="0" smtClean="0"/>
              <a:t>之后才有基于</a:t>
            </a:r>
            <a:r>
              <a:rPr kumimoji="1" lang="en-US" altLang="zh-CN" dirty="0" err="1" smtClean="0"/>
              <a:t>SIRead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Lock</a:t>
            </a:r>
            <a:r>
              <a:rPr kumimoji="1" lang="zh-CN" altLang="en-US" dirty="0" smtClean="0"/>
              <a:t>的</a:t>
            </a:r>
            <a:r>
              <a:rPr lang="zh-CN" altLang="en-US" dirty="0" smtClean="0"/>
              <a:t>序列化快照隔离（</a:t>
            </a:r>
            <a:r>
              <a:rPr lang="en-US" altLang="zh-CN" dirty="0" smtClean="0"/>
              <a:t>SSI</a:t>
            </a:r>
            <a:r>
              <a:rPr lang="zh-CN" altLang="en-US" dirty="0" smtClean="0"/>
              <a:t>）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快</a:t>
            </a:r>
            <a:r>
              <a:rPr kumimoji="1" lang="zh-CN" altLang="en-US" dirty="0"/>
              <a:t>照隔离</a:t>
            </a:r>
            <a:r>
              <a:rPr kumimoji="1" lang="zh-CN" altLang="en-US" dirty="0" smtClean="0"/>
              <a:t>序列化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事务</a:t>
            </a:r>
            <a:r>
              <a:rPr kumimoji="1" lang="zh-CN" altLang="en-US" dirty="0"/>
              <a:t>依赖图中，如果</a:t>
            </a:r>
            <a:r>
              <a:rPr kumimoji="1" lang="zh-CN" altLang="en-US" b="1" dirty="0"/>
              <a:t>有环</a:t>
            </a:r>
            <a:r>
              <a:rPr kumimoji="1" lang="zh-CN" altLang="en-US" dirty="0"/>
              <a:t>且环中</a:t>
            </a:r>
            <a:r>
              <a:rPr kumimoji="1" lang="zh-CN" altLang="en-US" b="1" dirty="0"/>
              <a:t>有</a:t>
            </a:r>
            <a:r>
              <a:rPr kumimoji="1" lang="en-US" altLang="zh-CN" b="1" dirty="0"/>
              <a:t>T1-(</a:t>
            </a:r>
            <a:r>
              <a:rPr kumimoji="1" lang="en-US" altLang="zh-CN" b="1" dirty="0" err="1"/>
              <a:t>rw</a:t>
            </a:r>
            <a:r>
              <a:rPr kumimoji="1" lang="en-US" altLang="zh-CN" b="1" dirty="0"/>
              <a:t>)-&gt;T2-(</a:t>
            </a:r>
            <a:r>
              <a:rPr kumimoji="1" lang="en-US" altLang="zh-CN" b="1" dirty="0" err="1"/>
              <a:t>rw</a:t>
            </a:r>
            <a:r>
              <a:rPr kumimoji="1" lang="en-US" altLang="zh-CN" b="1" dirty="0"/>
              <a:t>)-&gt;T3</a:t>
            </a:r>
            <a:r>
              <a:rPr kumimoji="1" lang="zh-CN" altLang="en-US" dirty="0" smtClean="0"/>
              <a:t>，就</a:t>
            </a:r>
            <a:r>
              <a:rPr kumimoji="1" lang="zh-CN" altLang="en-US" dirty="0"/>
              <a:t>可能出现序列化异常。</a:t>
            </a:r>
            <a:endParaRPr kumimoji="1" lang="en-US" altLang="zh-CN" dirty="0"/>
          </a:p>
          <a:p>
            <a:pPr lvl="2"/>
            <a:r>
              <a:rPr kumimoji="1" lang="en-US" altLang="zh-CN" dirty="0" smtClean="0"/>
              <a:t>PostgreSQL</a:t>
            </a:r>
            <a:r>
              <a:rPr lang="zh-CN" altLang="en-US" dirty="0" smtClean="0"/>
              <a:t>通过</a:t>
            </a:r>
            <a:r>
              <a:rPr lang="zh-CN" altLang="en-US" b="1" dirty="0"/>
              <a:t>检测事务之间的读写依赖</a:t>
            </a:r>
            <a:r>
              <a:rPr lang="zh-CN" altLang="en-US" dirty="0"/>
              <a:t>实现序列化，且出于性能考虑</a:t>
            </a:r>
            <a:r>
              <a:rPr kumimoji="1" lang="zh-CN" altLang="en-US" dirty="0"/>
              <a:t>只检测一个</a:t>
            </a:r>
            <a:r>
              <a:rPr kumimoji="1" lang="zh-CN" altLang="en-US" dirty="0" smtClean="0"/>
              <a:t>条件</a:t>
            </a:r>
            <a:endParaRPr kumimoji="1" lang="en-US" altLang="zh-CN" dirty="0" smtClean="0"/>
          </a:p>
        </p:txBody>
      </p:sp>
      <p:pic>
        <p:nvPicPr>
          <p:cNvPr id="5" name="内容占位符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5275263"/>
            <a:ext cx="4953000" cy="90170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44857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143"/>
    </mc:Choice>
    <mc:Fallback xmlns="">
      <p:transition spd="slow" advTm="78143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LockManager</a:t>
            </a:r>
            <a:r>
              <a:rPr kumimoji="1"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 smtClean="0"/>
              <a:t>事务之间的依赖，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T1-(</a:t>
            </a:r>
            <a:r>
              <a:rPr kumimoji="1" lang="en-US" altLang="zh-CN" dirty="0" err="1" smtClean="0"/>
              <a:t>ww</a:t>
            </a:r>
            <a:r>
              <a:rPr kumimoji="1" lang="en-US" altLang="zh-CN" dirty="0" smtClean="0"/>
              <a:t>)-&gt;</a:t>
            </a:r>
            <a:r>
              <a:rPr kumimoji="1" lang="en-US" altLang="zh-CN" dirty="0"/>
              <a:t>T2 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T1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T2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</a:p>
          <a:p>
            <a:pPr lvl="1"/>
            <a:r>
              <a:rPr kumimoji="1" lang="en-US" altLang="zh-CN" dirty="0" smtClean="0"/>
              <a:t>T1-(</a:t>
            </a:r>
            <a:r>
              <a:rPr kumimoji="1" lang="en-US" altLang="zh-CN" dirty="0" err="1" smtClean="0"/>
              <a:t>wr</a:t>
            </a:r>
            <a:r>
              <a:rPr kumimoji="1" lang="en-US" altLang="zh-CN" dirty="0"/>
              <a:t>)</a:t>
            </a:r>
            <a:r>
              <a:rPr kumimoji="1" lang="en-US" altLang="zh-CN" dirty="0" smtClean="0"/>
              <a:t>-&gt;</a:t>
            </a:r>
            <a:r>
              <a:rPr kumimoji="1" lang="en-US" altLang="zh-CN" dirty="0"/>
              <a:t>T2 </a:t>
            </a:r>
            <a:r>
              <a:rPr kumimoji="1" lang="zh-CN" altLang="en-US" dirty="0" smtClean="0"/>
              <a:t>： </a:t>
            </a:r>
            <a:r>
              <a:rPr kumimoji="1" lang="en-US" altLang="zh-CN" dirty="0" smtClean="0"/>
              <a:t>T1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， </a:t>
            </a:r>
            <a:r>
              <a:rPr kumimoji="1" lang="en-US" altLang="zh-CN" dirty="0" smtClean="0"/>
              <a:t>T2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</a:p>
          <a:p>
            <a:pPr lvl="1"/>
            <a:r>
              <a:rPr kumimoji="1" lang="en-US" altLang="zh-CN" dirty="0" smtClean="0"/>
              <a:t>T1-(</a:t>
            </a:r>
            <a:r>
              <a:rPr kumimoji="1" lang="en-US" altLang="zh-CN" dirty="0" err="1" smtClean="0"/>
              <a:t>rw</a:t>
            </a:r>
            <a:r>
              <a:rPr kumimoji="1" lang="en-US" altLang="zh-CN" dirty="0" smtClean="0"/>
              <a:t>)-&gt;T2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T1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T2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Write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71751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55"/>
    </mc:Choice>
    <mc:Fallback xmlns="">
      <p:transition spd="slow" advTm="54755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SIReadLock</a:t>
            </a:r>
            <a:r>
              <a:rPr kumimoji="1" lang="en-US" altLang="zh-CN" dirty="0" smtClean="0"/>
              <a:t>-PG</a:t>
            </a:r>
            <a:r>
              <a:rPr kumimoji="1" lang="zh-CN" altLang="en-US" dirty="0" smtClean="0"/>
              <a:t>中如何检测序列化异常</a:t>
            </a:r>
            <a:endParaRPr kumimoji="1"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创建</a:t>
            </a:r>
            <a:r>
              <a:rPr lang="en-US" altLang="zh-CN" dirty="0"/>
              <a:t>SIREAD lock </a:t>
            </a:r>
            <a:r>
              <a:rPr lang="zh-CN" altLang="en-US" dirty="0" smtClean="0"/>
              <a:t>（类似于意向锁）</a:t>
            </a:r>
            <a:endParaRPr lang="en-US" altLang="zh-CN" dirty="0"/>
          </a:p>
          <a:p>
            <a:pPr lvl="1"/>
            <a:r>
              <a:rPr lang="zh-CN" altLang="en-US" dirty="0" smtClean="0"/>
              <a:t>就是</a:t>
            </a:r>
            <a:r>
              <a:rPr lang="en-US" altLang="zh-CN" dirty="0" smtClean="0"/>
              <a:t>PostgreSQL</a:t>
            </a:r>
            <a:r>
              <a:rPr lang="zh-CN" altLang="en-US" dirty="0" smtClean="0"/>
              <a:t>中的</a:t>
            </a:r>
            <a:r>
              <a:rPr lang="en-US" altLang="zh-CN" dirty="0"/>
              <a:t>predicate </a:t>
            </a:r>
            <a:r>
              <a:rPr lang="en-US" altLang="zh-CN" dirty="0" smtClean="0"/>
              <a:t>lock</a:t>
            </a:r>
            <a:r>
              <a:rPr lang="zh-CN" altLang="en-US" dirty="0" smtClean="0"/>
              <a:t>，包含两个信息（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tid</a:t>
            </a:r>
            <a:r>
              <a:rPr lang="zh-CN" altLang="en-US" dirty="0" smtClean="0"/>
              <a:t>）；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tidx</a:t>
            </a:r>
            <a:r>
              <a:rPr lang="zh-CN" altLang="en-US" dirty="0" smtClean="0"/>
              <a:t>创建一个</a:t>
            </a:r>
            <a:r>
              <a:rPr lang="en-US" altLang="zh-CN" dirty="0" smtClean="0"/>
              <a:t>SIREAD lock {A, {</a:t>
            </a:r>
            <a:r>
              <a:rPr lang="en-US" altLang="zh-CN" dirty="0" err="1" smtClean="0"/>
              <a:t>tidx</a:t>
            </a:r>
            <a:r>
              <a:rPr lang="en-US" altLang="zh-CN" dirty="0" smtClean="0"/>
              <a:t>}}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tidy</a:t>
            </a:r>
            <a:r>
              <a:rPr lang="zh-CN" altLang="en-US" dirty="0" smtClean="0"/>
              <a:t>创建</a:t>
            </a:r>
            <a:r>
              <a:rPr lang="zh-CN" altLang="en-US" dirty="0"/>
              <a:t>一个</a:t>
            </a:r>
            <a:r>
              <a:rPr lang="en-US" altLang="zh-CN" dirty="0"/>
              <a:t>SIREAD lock </a:t>
            </a:r>
            <a:r>
              <a:rPr lang="en-US" altLang="zh-CN" dirty="0" smtClean="0"/>
              <a:t>{B, </a:t>
            </a:r>
            <a:r>
              <a:rPr lang="en-US" altLang="zh-CN" dirty="0"/>
              <a:t>{</a:t>
            </a:r>
            <a:r>
              <a:rPr lang="en-US" altLang="zh-CN" dirty="0" smtClean="0"/>
              <a:t>tidy}}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合并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有三个级别：</a:t>
            </a:r>
            <a:r>
              <a:rPr lang="en-US" altLang="zh-CN" dirty="0" smtClean="0"/>
              <a:t>tuple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page</a:t>
            </a:r>
            <a:r>
              <a:rPr lang="zh-CN" altLang="en-US" dirty="0" smtClean="0"/>
              <a:t>、</a:t>
            </a:r>
            <a:r>
              <a:rPr lang="en-US" altLang="zh-CN" dirty="0" smtClean="0"/>
              <a:t>relation</a:t>
            </a:r>
            <a:r>
              <a:rPr lang="zh-CN" altLang="en-US" dirty="0" smtClean="0"/>
              <a:t>；小的会合并为大的</a:t>
            </a:r>
            <a:endParaRPr lang="en-US" altLang="zh-CN" dirty="0" smtClean="0"/>
          </a:p>
          <a:p>
            <a:r>
              <a:rPr lang="en-US" altLang="zh-CN" dirty="0" err="1" smtClean="0"/>
              <a:t>Rw</a:t>
            </a:r>
            <a:r>
              <a:rPr lang="zh-CN" altLang="en-US" dirty="0" smtClean="0"/>
              <a:t>依赖检查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当执行写操作时，发现有</a:t>
            </a:r>
            <a:r>
              <a:rPr lang="en-US" altLang="zh-CN" dirty="0" err="1" smtClean="0"/>
              <a:t>rw</a:t>
            </a:r>
            <a:r>
              <a:rPr lang="zh-CN" altLang="en-US" dirty="0" smtClean="0"/>
              <a:t>依赖，那么创建一个</a:t>
            </a:r>
            <a:r>
              <a:rPr lang="en-US" altLang="zh-CN" dirty="0" err="1" smtClean="0"/>
              <a:t>rw</a:t>
            </a:r>
            <a:r>
              <a:rPr lang="zh-CN" altLang="en-US" dirty="0" smtClean="0"/>
              <a:t>依赖结构</a:t>
            </a:r>
            <a:endParaRPr lang="en-US" altLang="zh-CN" dirty="0"/>
          </a:p>
          <a:p>
            <a:pPr lvl="1"/>
            <a:r>
              <a:rPr lang="fi-FI" altLang="zh-CN" dirty="0" smtClean="0"/>
              <a:t>{r=</a:t>
            </a:r>
            <a:r>
              <a:rPr lang="en-US" altLang="zh-CN" dirty="0" smtClean="0"/>
              <a:t>tidy</a:t>
            </a:r>
            <a:r>
              <a:rPr lang="fi-FI" altLang="zh-CN" dirty="0" smtClean="0"/>
              <a:t>, w=</a:t>
            </a:r>
            <a:r>
              <a:rPr lang="en-US" altLang="zh-CN" dirty="0" err="1" smtClean="0"/>
              <a:t>tidx</a:t>
            </a:r>
            <a:r>
              <a:rPr lang="fi-FI" altLang="zh-CN" dirty="0" smtClean="0"/>
              <a:t>, {</a:t>
            </a:r>
            <a:r>
              <a:rPr lang="en-US" altLang="zh-CN" dirty="0" smtClean="0"/>
              <a:t>B</a:t>
            </a:r>
            <a:r>
              <a:rPr lang="fi-FI" altLang="zh-CN" dirty="0" smtClean="0"/>
              <a:t>}} </a:t>
            </a:r>
            <a:endParaRPr lang="en-US" altLang="zh-CN" dirty="0"/>
          </a:p>
          <a:p>
            <a:pPr lvl="1"/>
            <a:r>
              <a:rPr lang="fi-FI" altLang="zh-CN" dirty="0"/>
              <a:t>{r=</a:t>
            </a:r>
            <a:r>
              <a:rPr lang="en-US" altLang="zh-CN" dirty="0" err="1"/>
              <a:t>tidx</a:t>
            </a:r>
            <a:r>
              <a:rPr lang="fi-FI" altLang="zh-CN" dirty="0"/>
              <a:t>, w=</a:t>
            </a:r>
            <a:r>
              <a:rPr lang="en-US" altLang="zh-CN" dirty="0"/>
              <a:t>tidy</a:t>
            </a:r>
            <a:r>
              <a:rPr lang="fi-FI" altLang="zh-CN" dirty="0"/>
              <a:t>, {</a:t>
            </a:r>
            <a:r>
              <a:rPr lang="en-US" altLang="zh-CN" dirty="0"/>
              <a:t>A</a:t>
            </a:r>
            <a:r>
              <a:rPr lang="fi-FI" altLang="zh-CN" dirty="0" smtClean="0"/>
              <a:t>}}</a:t>
            </a:r>
            <a:endParaRPr lang="en-US" altLang="zh-CN" dirty="0" smtClean="0"/>
          </a:p>
          <a:p>
            <a:r>
              <a:rPr kumimoji="1" lang="zh-CN" altLang="en-US" dirty="0" smtClean="0"/>
              <a:t>提交：发现</a:t>
            </a:r>
            <a:r>
              <a:rPr kumimoji="1" lang="en-US" altLang="zh-CN" dirty="0" smtClean="0"/>
              <a:t>tidy</a:t>
            </a:r>
            <a:r>
              <a:rPr kumimoji="1" lang="zh-CN" altLang="en-US" dirty="0" smtClean="0"/>
              <a:t>作为</a:t>
            </a:r>
            <a:r>
              <a:rPr kumimoji="1" lang="en-US" altLang="zh-CN" dirty="0" err="1" smtClean="0"/>
              <a:t>Tpivot</a:t>
            </a:r>
            <a:r>
              <a:rPr kumimoji="1" lang="zh-CN" altLang="en-US" dirty="0" smtClean="0"/>
              <a:t>，有一个</a:t>
            </a:r>
            <a:r>
              <a:rPr kumimoji="1" lang="en-US" altLang="zh-CN" dirty="0" err="1" smtClean="0"/>
              <a:t>rw</a:t>
            </a:r>
            <a:r>
              <a:rPr kumimoji="1" lang="zh-CN" altLang="en-US" dirty="0" smtClean="0"/>
              <a:t>出边和一个</a:t>
            </a:r>
            <a:r>
              <a:rPr kumimoji="1" lang="en-US" altLang="zh-CN" dirty="0" err="1" smtClean="0"/>
              <a:t>rw</a:t>
            </a:r>
            <a:r>
              <a:rPr kumimoji="1" lang="zh-CN" altLang="en-US" dirty="0" smtClean="0"/>
              <a:t>入边，则按照</a:t>
            </a:r>
            <a:r>
              <a:rPr kumimoji="1" lang="en-US" altLang="zh-CN" dirty="0" smtClean="0"/>
              <a:t>first-</a:t>
            </a:r>
            <a:r>
              <a:rPr kumimoji="1" lang="en-US" altLang="zh-CN" dirty="0" err="1" smtClean="0"/>
              <a:t>commiter</a:t>
            </a:r>
            <a:r>
              <a:rPr kumimoji="1" lang="en-US" altLang="zh-CN" dirty="0" smtClean="0"/>
              <a:t>-win</a:t>
            </a:r>
            <a:r>
              <a:rPr kumimoji="1" lang="zh-CN" altLang="en-US" dirty="0" smtClean="0"/>
              <a:t>进行处理</a:t>
            </a:r>
            <a:endParaRPr kumimoji="1"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9251951" y="3100864"/>
          <a:ext cx="1892300" cy="1800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5013"/>
                <a:gridCol w="827287"/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事务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1</a:t>
                      </a:r>
                      <a:r>
                        <a:rPr lang="zh-CN" alt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 </a:t>
                      </a:r>
                      <a:r>
                        <a:rPr lang="en-US" altLang="zh-CN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tidx</a:t>
                      </a:r>
                      <a:endParaRPr lang="nl-NL" sz="1200" b="0" i="0" u="none" strike="noStrike" dirty="0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事务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2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 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DengXian" charset="-122"/>
                        </a:rPr>
                        <a:t>tidy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nl-NL" sz="1200" u="none" strike="noStrike" dirty="0">
                          <a:effectLst/>
                        </a:rPr>
                        <a:t>begin；</a:t>
                      </a:r>
                      <a:endParaRPr lang="nl-NL" sz="1200" b="0" i="0" u="none" strike="noStrike" dirty="0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read A；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l-NL" sz="1200" u="none" strike="noStrike" dirty="0">
                          <a:effectLst/>
                        </a:rPr>
                        <a:t>begin；</a:t>
                      </a:r>
                      <a:endParaRPr lang="nl-NL" sz="1200" b="0" i="0" u="none" strike="noStrike" dirty="0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read B；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update B=A;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update A=B;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commit;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200" u="none" strike="noStrike" dirty="0" smtClean="0">
                          <a:effectLst/>
                        </a:rPr>
                        <a:t>abort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DengXian" charset="-122"/>
                      </a:endParaRPr>
                    </a:p>
                  </a:txBody>
                  <a:tcPr marL="12700" marR="12700" marT="1270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53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984"/>
    </mc:Choice>
    <mc:Fallback xmlns="">
      <p:transition spd="slow" advTm="93984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LockManager</a:t>
            </a:r>
            <a:r>
              <a:rPr kumimoji="1" lang="zh-CN" altLang="en-US" dirty="0" smtClean="0"/>
              <a:t>使用总结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max_locks_per_transaction</a:t>
            </a:r>
            <a:r>
              <a:rPr lang="en-US" altLang="zh-CN" dirty="0" smtClean="0"/>
              <a:t>:</a:t>
            </a:r>
            <a:r>
              <a:rPr kumimoji="1" lang="zh-CN" altLang="en-US" dirty="0" smtClean="0"/>
              <a:t>每个事务的锁的锁的数量有上限</a:t>
            </a:r>
            <a:endParaRPr kumimoji="1" lang="en-US" altLang="zh-CN" dirty="0" smtClean="0"/>
          </a:p>
          <a:p>
            <a:r>
              <a:rPr kumimoji="1" lang="zh-CN" altLang="en-US" dirty="0"/>
              <a:t>做</a:t>
            </a:r>
            <a:r>
              <a:rPr kumimoji="1" lang="en-US" altLang="zh-CN" dirty="0"/>
              <a:t>DDL</a:t>
            </a:r>
            <a:r>
              <a:rPr kumimoji="1" lang="zh-CN" altLang="en-US" dirty="0"/>
              <a:t>时</a:t>
            </a:r>
            <a:r>
              <a:rPr kumimoji="1" lang="zh-CN" altLang="en-US" dirty="0" smtClean="0"/>
              <a:t>，应</a:t>
            </a:r>
            <a:r>
              <a:rPr kumimoji="1" lang="zh-CN" altLang="en-US" b="1" dirty="0" smtClean="0"/>
              <a:t>避免</a:t>
            </a:r>
            <a:r>
              <a:rPr kumimoji="1" lang="zh-CN" altLang="en-US" b="1" dirty="0"/>
              <a:t>慢</a:t>
            </a:r>
            <a:r>
              <a:rPr kumimoji="1" lang="zh-CN" altLang="en-US" b="1" dirty="0" smtClean="0"/>
              <a:t>查询阻塞</a:t>
            </a:r>
            <a:r>
              <a:rPr kumimoji="1" lang="en-US" altLang="zh-CN" b="1" dirty="0" smtClean="0"/>
              <a:t>DDL</a:t>
            </a:r>
            <a:r>
              <a:rPr kumimoji="1" lang="zh-CN" altLang="en-US" dirty="0" smtClean="0"/>
              <a:t>，从而造成</a:t>
            </a:r>
            <a:r>
              <a:rPr kumimoji="1" lang="zh-CN" altLang="en-US" dirty="0"/>
              <a:t>级联</a:t>
            </a:r>
            <a:r>
              <a:rPr kumimoji="1" lang="zh-CN" altLang="en-US" dirty="0" smtClean="0"/>
              <a:t>等待（</a:t>
            </a:r>
            <a:r>
              <a:rPr kumimoji="1" lang="en-US" altLang="zh-CN" dirty="0" err="1" smtClean="0"/>
              <a:t>Pg_lock</a:t>
            </a:r>
            <a:r>
              <a:rPr kumimoji="1" lang="zh-CN" altLang="en-US" dirty="0" smtClean="0"/>
              <a:t>查看显式锁的关系）。</a:t>
            </a:r>
            <a:endParaRPr kumimoji="1" lang="en-US" altLang="zh-CN" dirty="0" smtClean="0"/>
          </a:p>
          <a:p>
            <a:r>
              <a:rPr kumimoji="1" lang="en-US" altLang="zh-CN" dirty="0"/>
              <a:t>Ship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locked</a:t>
            </a:r>
            <a:r>
              <a:rPr kumimoji="1" lang="zh-CN" altLang="en-US" dirty="0" smtClean="0"/>
              <a:t>，避免部分行的锁等待；</a:t>
            </a:r>
            <a:endParaRPr lang="en-US" altLang="zh-CN" dirty="0"/>
          </a:p>
          <a:p>
            <a:r>
              <a:rPr kumimoji="1" lang="zh-CN" altLang="en-US" dirty="0" smtClean="0"/>
              <a:t>热点数据更新事务中显式使用</a:t>
            </a:r>
            <a:r>
              <a:rPr kumimoji="1" lang="en-US" altLang="zh-CN" dirty="0" smtClean="0"/>
              <a:t>advisory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locks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  <a:p>
            <a:r>
              <a:rPr kumimoji="1" lang="zh-CN" altLang="en-US" dirty="0" smtClean="0"/>
              <a:t>锁，特别是</a:t>
            </a:r>
            <a:r>
              <a:rPr kumimoji="1" lang="en-US" altLang="zh-CN" dirty="0" smtClean="0"/>
              <a:t>DDL</a:t>
            </a:r>
            <a:r>
              <a:rPr kumimoji="1" lang="zh-CN" altLang="en-US" dirty="0" smtClean="0"/>
              <a:t>，会</a:t>
            </a:r>
            <a:r>
              <a:rPr kumimoji="1" lang="zh-CN" altLang="en-US" dirty="0" smtClean="0"/>
              <a:t>影响整个复制链</a:t>
            </a:r>
            <a:r>
              <a:rPr kumimoji="1" lang="zh-CN" altLang="en-US" dirty="0" smtClean="0"/>
              <a:t>。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66843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LogManager</a:t>
            </a:r>
            <a:r>
              <a:rPr kumimoji="1" lang="en-US" altLang="zh-CN" dirty="0" smtClean="0"/>
              <a:t>——</a:t>
            </a:r>
            <a:r>
              <a:rPr kumimoji="1" lang="en-US" altLang="zh-CN" dirty="0" err="1" smtClean="0"/>
              <a:t>InnoDB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Redo</a:t>
            </a:r>
          </a:p>
          <a:p>
            <a:pPr lvl="1"/>
            <a:r>
              <a:rPr kumimoji="1" lang="zh-CN" altLang="en-US" dirty="0" smtClean="0"/>
              <a:t>保证幂等性的</a:t>
            </a:r>
            <a:r>
              <a:rPr kumimoji="1" lang="en-US" altLang="zh-CN" dirty="0" smtClean="0"/>
              <a:t>physiological</a:t>
            </a:r>
            <a:r>
              <a:rPr kumimoji="1" lang="zh-CN" altLang="en-US" dirty="0" smtClean="0"/>
              <a:t>的日志类型</a:t>
            </a:r>
            <a:endParaRPr kumimoji="1" lang="en-US" altLang="zh-CN" dirty="0"/>
          </a:p>
          <a:p>
            <a:r>
              <a:rPr kumimoji="1" lang="en-US" altLang="zh-CN" dirty="0" smtClean="0"/>
              <a:t>Undo</a:t>
            </a:r>
          </a:p>
          <a:p>
            <a:pPr lvl="1"/>
            <a:r>
              <a:rPr kumimoji="1" lang="zh-CN" altLang="en-US" dirty="0" smtClean="0"/>
              <a:t>按照段的形式进行组织，存放行的旧版本。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不同对象的</a:t>
            </a:r>
            <a:r>
              <a:rPr kumimoji="1" lang="en-US" altLang="zh-CN" dirty="0" smtClean="0"/>
              <a:t>undo</a:t>
            </a:r>
            <a:r>
              <a:rPr kumimoji="1" lang="zh-CN" altLang="en-US" dirty="0" smtClean="0"/>
              <a:t>放着不同的表空间中。</a:t>
            </a:r>
            <a:endParaRPr kumimoji="1" lang="en-US" altLang="zh-CN" dirty="0"/>
          </a:p>
          <a:p>
            <a:r>
              <a:rPr kumimoji="1" lang="en-US" altLang="zh-CN" dirty="0" err="1" smtClean="0"/>
              <a:t>CrashRecovery</a:t>
            </a:r>
            <a:r>
              <a:rPr kumimoji="1" lang="zh-CN" altLang="en-US" dirty="0"/>
              <a:t>，</a:t>
            </a:r>
            <a:r>
              <a:rPr lang="zh-CN" altLang="en-US" dirty="0" smtClean="0"/>
              <a:t>在</a:t>
            </a:r>
            <a:r>
              <a:rPr lang="en-US" altLang="zh-CN" dirty="0" err="1"/>
              <a:t>InnoDB</a:t>
            </a:r>
            <a:r>
              <a:rPr lang="zh-CN" altLang="en-US" dirty="0"/>
              <a:t>中，分为</a:t>
            </a:r>
            <a:r>
              <a:rPr lang="en-US" altLang="zh-CN" dirty="0"/>
              <a:t>4</a:t>
            </a:r>
            <a:r>
              <a:rPr lang="zh-CN" altLang="en-US" dirty="0"/>
              <a:t>步：</a:t>
            </a:r>
          </a:p>
          <a:p>
            <a:pPr lvl="1"/>
            <a:r>
              <a:rPr lang="en-US" altLang="zh-CN" dirty="0" err="1"/>
              <a:t>dwbuffer</a:t>
            </a:r>
            <a:r>
              <a:rPr lang="zh-CN" altLang="en-US" dirty="0"/>
              <a:t>：首先恢复 </a:t>
            </a:r>
            <a:r>
              <a:rPr lang="en-US" altLang="zh-CN" dirty="0" err="1"/>
              <a:t>Doublewrite</a:t>
            </a:r>
            <a:r>
              <a:rPr lang="en-US" altLang="zh-CN" dirty="0"/>
              <a:t> Buffer</a:t>
            </a:r>
            <a:r>
              <a:rPr lang="zh-CN" altLang="en-US" dirty="0"/>
              <a:t>中的数据</a:t>
            </a:r>
          </a:p>
          <a:p>
            <a:pPr lvl="1"/>
            <a:r>
              <a:rPr lang="en-US" altLang="zh-CN" dirty="0"/>
              <a:t>Scan</a:t>
            </a:r>
            <a:r>
              <a:rPr lang="zh-CN" altLang="en-US" dirty="0"/>
              <a:t>：从磁盘中读取</a:t>
            </a:r>
            <a:r>
              <a:rPr lang="en-US" altLang="zh-CN" dirty="0"/>
              <a:t>redo</a:t>
            </a:r>
            <a:r>
              <a:rPr lang="zh-CN" altLang="en-US" dirty="0"/>
              <a:t>日志记录，将其插入按照</a:t>
            </a:r>
            <a:r>
              <a:rPr lang="en-US" altLang="zh-CN" dirty="0"/>
              <a:t>LSN</a:t>
            </a:r>
            <a:r>
              <a:rPr lang="zh-CN" altLang="en-US" dirty="0"/>
              <a:t>排序的红黑树中。</a:t>
            </a:r>
          </a:p>
          <a:p>
            <a:pPr lvl="1"/>
            <a:r>
              <a:rPr lang="en-US" altLang="zh-CN" dirty="0"/>
              <a:t>Redo</a:t>
            </a:r>
            <a:r>
              <a:rPr lang="zh-CN" altLang="en-US" dirty="0"/>
              <a:t>：将脏页插入到</a:t>
            </a:r>
            <a:r>
              <a:rPr lang="en-US" altLang="zh-CN" dirty="0" err="1"/>
              <a:t>flush_list</a:t>
            </a:r>
            <a:r>
              <a:rPr lang="zh-CN" altLang="en-US" dirty="0"/>
              <a:t>中。</a:t>
            </a:r>
          </a:p>
          <a:p>
            <a:pPr lvl="1"/>
            <a:r>
              <a:rPr lang="en-US" altLang="zh-CN" dirty="0"/>
              <a:t>Undo</a:t>
            </a:r>
            <a:r>
              <a:rPr lang="zh-CN" altLang="en-US" dirty="0"/>
              <a:t>：将未完成的事务，进行回滚。</a:t>
            </a:r>
          </a:p>
          <a:p>
            <a:pPr lvl="1"/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628265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LogManager</a:t>
            </a:r>
            <a:r>
              <a:rPr kumimoji="1" lang="en-US" altLang="zh-CN" dirty="0" smtClean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提交策略</a:t>
            </a:r>
            <a:r>
              <a:rPr kumimoji="1" lang="en-US" altLang="zh-CN" dirty="0"/>
              <a:t>——</a:t>
            </a:r>
            <a:r>
              <a:rPr lang="en-US" altLang="zh-CN" dirty="0" err="1" smtClean="0"/>
              <a:t>synchronous_commit</a:t>
            </a:r>
            <a:endParaRPr lang="en-US" altLang="zh-CN" dirty="0"/>
          </a:p>
          <a:p>
            <a:pPr lvl="1"/>
            <a:r>
              <a:rPr lang="en-US" altLang="zh-CN" dirty="0" smtClean="0"/>
              <a:t>off</a:t>
            </a:r>
            <a:r>
              <a:rPr lang="zh-CN" altLang="en-US" dirty="0" smtClean="0"/>
              <a:t>：异步提交（最</a:t>
            </a:r>
            <a:r>
              <a:rPr lang="zh-CN" altLang="en-US" dirty="0"/>
              <a:t>多等待</a:t>
            </a:r>
            <a:r>
              <a:rPr lang="en-US" altLang="zh-CN" dirty="0"/>
              <a:t>3*</a:t>
            </a:r>
            <a:r>
              <a:rPr lang="en-US" altLang="zh-CN" dirty="0">
                <a:hlinkClick r:id="rId4"/>
              </a:rPr>
              <a:t>wal_writer_delay</a:t>
            </a:r>
            <a:r>
              <a:rPr lang="zh-CN" altLang="en-US" dirty="0"/>
              <a:t>的时间，强制刷</a:t>
            </a:r>
            <a:r>
              <a:rPr lang="zh-CN" altLang="en-US" dirty="0" smtClean="0"/>
              <a:t>盘）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local</a:t>
            </a:r>
            <a:r>
              <a:rPr lang="zh-CN" altLang="en-US" dirty="0" smtClean="0"/>
              <a:t>：本地</a:t>
            </a:r>
            <a:endParaRPr lang="en-US" altLang="zh-CN" dirty="0" smtClean="0"/>
          </a:p>
          <a:p>
            <a:pPr lvl="1"/>
            <a:r>
              <a:rPr kumimoji="1" lang="en-US" altLang="zh-CN" b="1" dirty="0" smtClean="0"/>
              <a:t>on</a:t>
            </a:r>
            <a:r>
              <a:rPr kumimoji="1" lang="zh-CN" altLang="en-US" dirty="0" smtClean="0"/>
              <a:t>：备机</a:t>
            </a:r>
            <a:r>
              <a:rPr lang="zh-CN" altLang="en-US" dirty="0" smtClean="0"/>
              <a:t>收到</a:t>
            </a:r>
            <a:r>
              <a:rPr lang="en-US" altLang="zh-CN" dirty="0" err="1" smtClean="0"/>
              <a:t>wal</a:t>
            </a:r>
            <a:r>
              <a:rPr lang="zh-CN" altLang="en-US" dirty="0" smtClean="0"/>
              <a:t>日志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remote_apply</a:t>
            </a:r>
            <a:r>
              <a:rPr lang="zh-CN" altLang="en-US" dirty="0" smtClean="0"/>
              <a:t>：备机应用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remote_write</a:t>
            </a:r>
            <a:r>
              <a:rPr lang="zh-CN" altLang="en-US" dirty="0" smtClean="0"/>
              <a:t>：备机应用并刷盘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16157"/>
            <a:ext cx="12192000" cy="19418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006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127"/>
    </mc:Choice>
    <mc:Fallback xmlns="">
      <p:transition spd="slow" advTm="911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LogManager</a:t>
            </a:r>
            <a:r>
              <a:rPr kumimoji="1" lang="en-US" altLang="zh-CN" dirty="0" smtClean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Redo</a:t>
            </a:r>
            <a:r>
              <a:rPr kumimoji="1" lang="zh-CN" altLang="en-US" dirty="0" smtClean="0"/>
              <a:t>日志</a:t>
            </a:r>
            <a:r>
              <a:rPr kumimoji="1" lang="en-US" altLang="zh-CN" dirty="0" smtClean="0"/>
              <a:t>——WAL</a:t>
            </a:r>
          </a:p>
          <a:p>
            <a:pPr lvl="1"/>
            <a:r>
              <a:rPr kumimoji="1" lang="zh-CN" altLang="en-US" dirty="0" smtClean="0"/>
              <a:t>信息量</a:t>
            </a:r>
            <a:endParaRPr kumimoji="1" lang="en-US" altLang="zh-CN" dirty="0" smtClean="0"/>
          </a:p>
          <a:p>
            <a:pPr lvl="2"/>
            <a:r>
              <a:rPr kumimoji="1" lang="en-US" altLang="zh-CN" dirty="0" err="1" smtClean="0"/>
              <a:t>Wal_level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写入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初始检查：</a:t>
            </a:r>
            <a:r>
              <a:rPr kumimoji="1" lang="en-US" altLang="zh-CN" dirty="0" err="1" smtClean="0"/>
              <a:t>XLogBeginInsert</a:t>
            </a:r>
            <a:endParaRPr kumimoji="1" lang="en-US" altLang="zh-CN" dirty="0"/>
          </a:p>
          <a:p>
            <a:pPr lvl="2"/>
            <a:r>
              <a:rPr kumimoji="1" lang="zh-CN" altLang="en-US" dirty="0" smtClean="0"/>
              <a:t>注册资源：</a:t>
            </a:r>
            <a:r>
              <a:rPr kumimoji="1" lang="en-US" altLang="zh-CN" dirty="0" err="1" smtClean="0"/>
              <a:t>XLogRecData</a:t>
            </a:r>
            <a:endParaRPr kumimoji="1" lang="en-US" altLang="zh-CN" dirty="0" smtClean="0"/>
          </a:p>
          <a:p>
            <a:pPr lvl="3"/>
            <a:r>
              <a:rPr kumimoji="1" lang="en-US" altLang="zh-CN" dirty="0" smtClean="0"/>
              <a:t>N-</a:t>
            </a:r>
            <a:r>
              <a:rPr kumimoji="1" lang="en-US" altLang="zh-CN" dirty="0" err="1" smtClean="0"/>
              <a:t>XLogRegisterBuffer</a:t>
            </a:r>
            <a:r>
              <a:rPr kumimoji="1" lang="zh-CN" altLang="en-US" dirty="0" smtClean="0"/>
              <a:t>，用到的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块</a:t>
            </a:r>
            <a:endParaRPr kumimoji="1" lang="en-US" altLang="zh-CN" dirty="0" smtClean="0"/>
          </a:p>
          <a:p>
            <a:pPr lvl="3"/>
            <a:r>
              <a:rPr kumimoji="1" lang="en-US" altLang="zh-CN" dirty="0" smtClean="0"/>
              <a:t>N-</a:t>
            </a:r>
            <a:r>
              <a:rPr kumimoji="1" lang="en-US" altLang="zh-CN" dirty="0" err="1" smtClean="0"/>
              <a:t>XLogRegisterData</a:t>
            </a:r>
            <a:r>
              <a:rPr kumimoji="1" lang="zh-CN" altLang="en-US" dirty="0" smtClean="0"/>
              <a:t>，操作的数据</a:t>
            </a:r>
            <a:endParaRPr kumimoji="1" lang="en-US" altLang="zh-CN" dirty="0" smtClean="0"/>
          </a:p>
          <a:p>
            <a:pPr lvl="3"/>
            <a:r>
              <a:rPr kumimoji="1" lang="en-US" altLang="zh-CN" dirty="0" smtClean="0"/>
              <a:t>N-</a:t>
            </a:r>
            <a:r>
              <a:rPr kumimoji="1" lang="en-US" altLang="zh-CN" dirty="0" err="1" smtClean="0"/>
              <a:t>XLogRegisterBufData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相关的数据</a:t>
            </a:r>
            <a:endParaRPr kumimoji="1" lang="en-US" altLang="zh-CN" dirty="0" smtClean="0"/>
          </a:p>
          <a:p>
            <a:pPr lvl="2"/>
            <a:r>
              <a:rPr kumimoji="1" lang="zh-CN" altLang="en-US" dirty="0" smtClean="0"/>
              <a:t>组装成</a:t>
            </a:r>
            <a:r>
              <a:rPr kumimoji="1" lang="en-US" altLang="zh-CN" dirty="0" err="1" smtClean="0"/>
              <a:t>Xlog</a:t>
            </a:r>
            <a:r>
              <a:rPr kumimoji="1" lang="zh-CN" altLang="en-US" dirty="0" smtClean="0"/>
              <a:t>记录：</a:t>
            </a:r>
            <a:r>
              <a:rPr kumimoji="1" lang="en-US" altLang="zh-CN" dirty="0" err="1" smtClean="0"/>
              <a:t>XLogInsert</a:t>
            </a:r>
            <a:endParaRPr kumimoji="1" lang="en-US" altLang="zh-CN" dirty="0" smtClean="0"/>
          </a:p>
          <a:p>
            <a:pPr lvl="3"/>
            <a:r>
              <a:rPr kumimoji="1" lang="zh-CN" altLang="en-US" dirty="0" smtClean="0"/>
              <a:t>将指定的</a:t>
            </a:r>
            <a:r>
              <a:rPr kumimoji="1" lang="en-US" altLang="zh-CN" dirty="0" smtClean="0"/>
              <a:t>RMID</a:t>
            </a:r>
            <a:r>
              <a:rPr kumimoji="1" lang="zh-CN" altLang="en-US" dirty="0" smtClean="0"/>
              <a:t>和资源（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和</a:t>
            </a:r>
            <a:r>
              <a:rPr kumimoji="1" lang="en-US" altLang="zh-CN" dirty="0" smtClean="0"/>
              <a:t>data</a:t>
            </a:r>
            <a:r>
              <a:rPr kumimoji="1" lang="zh-CN" altLang="en-US" dirty="0" smtClean="0"/>
              <a:t>）组合为一条记录写入</a:t>
            </a:r>
            <a:endParaRPr kumimoji="1" lang="en-US" altLang="zh-CN" dirty="0" smtClean="0"/>
          </a:p>
          <a:p>
            <a:pPr lvl="3"/>
            <a:r>
              <a:rPr kumimoji="1" lang="zh-CN" altLang="en-US" dirty="0" smtClean="0"/>
              <a:t>（</a:t>
            </a:r>
            <a:r>
              <a:rPr kumimoji="1" lang="zh-CN" altLang="en-US" i="1" dirty="0" smtClean="0"/>
              <a:t>这里会判断是不是需要写</a:t>
            </a:r>
            <a:r>
              <a:rPr kumimoji="1" lang="en-US" altLang="zh-CN" i="1" dirty="0" smtClean="0"/>
              <a:t>full-page</a:t>
            </a:r>
            <a:r>
              <a:rPr kumimoji="1" lang="zh-CN" altLang="en-US" i="1" dirty="0" smtClean="0"/>
              <a:t> </a:t>
            </a:r>
            <a:r>
              <a:rPr kumimoji="1" lang="en-US" altLang="zh-CN" i="1" dirty="0" smtClean="0"/>
              <a:t>image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3259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77"/>
    </mc:Choice>
    <mc:Fallback xmlns="">
      <p:transition spd="slow" advTm="79577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LogManager</a:t>
            </a:r>
            <a:r>
              <a:rPr kumimoji="1" lang="en-US" altLang="zh-CN" dirty="0"/>
              <a:t>——PostgreSQL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smtClean="0"/>
              <a:t>UNDO</a:t>
            </a:r>
            <a:r>
              <a:rPr kumimoji="1" lang="zh-CN" altLang="en-US" dirty="0" smtClean="0"/>
              <a:t>日志</a:t>
            </a:r>
            <a:endParaRPr kumimoji="1" lang="en-US" altLang="zh-CN" dirty="0"/>
          </a:p>
          <a:p>
            <a:pPr lvl="1"/>
            <a:r>
              <a:rPr kumimoji="1" lang="zh-CN" altLang="en-US" dirty="0" smtClean="0"/>
              <a:t>没有专门的</a:t>
            </a:r>
            <a:r>
              <a:rPr kumimoji="1" lang="en-US" altLang="zh-CN" dirty="0" smtClean="0"/>
              <a:t>undo</a:t>
            </a:r>
            <a:r>
              <a:rPr kumimoji="1" lang="zh-CN" altLang="en-US" dirty="0" smtClean="0"/>
              <a:t>空间，</a:t>
            </a:r>
            <a:r>
              <a:rPr kumimoji="1" lang="en-US" altLang="zh-CN" dirty="0" smtClean="0"/>
              <a:t>undo</a:t>
            </a:r>
            <a:r>
              <a:rPr kumimoji="1" lang="zh-CN" altLang="en-US" dirty="0" smtClean="0"/>
              <a:t>信息放在原表中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定期</a:t>
            </a:r>
            <a:r>
              <a:rPr kumimoji="1" lang="en-US" altLang="zh-CN" dirty="0" smtClean="0"/>
              <a:t>freeze</a:t>
            </a:r>
            <a:r>
              <a:rPr kumimoji="1" lang="zh-CN" altLang="en-US" dirty="0" smtClean="0"/>
              <a:t>旧元组，并</a:t>
            </a:r>
            <a:r>
              <a:rPr kumimoji="1" lang="en-US" altLang="zh-CN" dirty="0" smtClean="0"/>
              <a:t>vacuum</a:t>
            </a:r>
            <a:r>
              <a:rPr kumimoji="1" lang="zh-CN" altLang="en-US" dirty="0" smtClean="0"/>
              <a:t>死元组。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35048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704"/>
    </mc:Choice>
    <mc:Fallback xmlns="">
      <p:transition spd="slow" advTm="91704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LogManager</a:t>
            </a:r>
            <a:r>
              <a:rPr kumimoji="1" lang="zh-CN" altLang="en-US" dirty="0" smtClean="0"/>
              <a:t>使用总结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wal_level</a:t>
            </a:r>
            <a:r>
              <a:rPr kumimoji="1" lang="zh-CN" altLang="en-US" dirty="0" smtClean="0"/>
              <a:t>重启生效，无特殊原因，设置为</a:t>
            </a:r>
            <a:r>
              <a:rPr kumimoji="1" lang="en-US" altLang="zh-CN" dirty="0" smtClean="0"/>
              <a:t>logical</a:t>
            </a:r>
            <a:r>
              <a:rPr kumimoji="1" lang="zh-CN" altLang="en-US" dirty="0" smtClean="0"/>
              <a:t>；（</a:t>
            </a:r>
            <a:r>
              <a:rPr lang="en-US" altLang="zh-CN" dirty="0" err="1"/>
              <a:t>wal_compression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r>
              <a:rPr lang="en-US" altLang="zh-CN" dirty="0" err="1" smtClean="0"/>
              <a:t>recovery_target_timeline</a:t>
            </a:r>
            <a:r>
              <a:rPr lang="en-US" altLang="zh-CN" dirty="0" smtClean="0"/>
              <a:t>=latest,</a:t>
            </a:r>
            <a:r>
              <a:rPr lang="zh-CN" altLang="en-US" dirty="0" smtClean="0"/>
              <a:t> 避免主</a:t>
            </a:r>
            <a:r>
              <a:rPr lang="en-US" altLang="zh-CN" dirty="0" smtClean="0"/>
              <a:t>promote</a:t>
            </a:r>
            <a:r>
              <a:rPr lang="zh-CN" altLang="en-US" dirty="0" smtClean="0"/>
              <a:t>，从</a:t>
            </a:r>
            <a:r>
              <a:rPr lang="en-US" altLang="zh-CN" dirty="0" smtClean="0"/>
              <a:t>timeline</a:t>
            </a:r>
            <a:r>
              <a:rPr lang="zh-CN" altLang="en-US" dirty="0" smtClean="0"/>
              <a:t>不对</a:t>
            </a:r>
            <a:endParaRPr lang="en-US" altLang="zh-CN" dirty="0" smtClean="0"/>
          </a:p>
          <a:p>
            <a:r>
              <a:rPr lang="zh-CN" altLang="en-US" dirty="0" smtClean="0"/>
              <a:t>拉从库时的</a:t>
            </a:r>
            <a:r>
              <a:rPr lang="en-US" altLang="zh-CN" dirty="0" err="1" smtClean="0"/>
              <a:t>wal_keep_segment</a:t>
            </a:r>
            <a:r>
              <a:rPr lang="zh-CN" altLang="en-US" dirty="0" smtClean="0"/>
              <a:t>过小导致</a:t>
            </a:r>
            <a:r>
              <a:rPr lang="en-US" altLang="zh-CN" dirty="0" err="1" smtClean="0"/>
              <a:t>wal</a:t>
            </a:r>
            <a:r>
              <a:rPr lang="zh-CN" altLang="en-US" dirty="0" smtClean="0"/>
              <a:t>段丢失备份失败</a:t>
            </a:r>
            <a:endParaRPr lang="en-US" altLang="zh-CN" dirty="0" smtClean="0"/>
          </a:p>
          <a:p>
            <a:r>
              <a:rPr lang="en-US" altLang="zh-CN" dirty="0" err="1" smtClean="0"/>
              <a:t>commit_delay</a:t>
            </a:r>
            <a:r>
              <a:rPr lang="zh-CN" altLang="en-US" dirty="0" smtClean="0"/>
              <a:t>默认为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，当不为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，类似组提交，但前提活跃事务大于</a:t>
            </a:r>
            <a:r>
              <a:rPr lang="en-US" altLang="zh-CN" dirty="0" err="1" smtClean="0"/>
              <a:t>commit_siblings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监控</a:t>
            </a:r>
            <a:r>
              <a:rPr lang="en-US" altLang="zh-CN" dirty="0" err="1" smtClean="0"/>
              <a:t>archive_command</a:t>
            </a:r>
            <a:r>
              <a:rPr lang="zh-CN" altLang="en-US" dirty="0" smtClean="0"/>
              <a:t>的状态，若一直失败撑爆磁盘</a:t>
            </a:r>
            <a:endParaRPr lang="en-US" altLang="zh-CN" dirty="0" smtClean="0"/>
          </a:p>
          <a:p>
            <a:r>
              <a:rPr lang="zh-CN" altLang="en-US" dirty="0" smtClean="0"/>
              <a:t>可以设置</a:t>
            </a:r>
            <a:r>
              <a:rPr lang="en-US" altLang="zh-CN" dirty="0" err="1" smtClean="0"/>
              <a:t>replicationslot</a:t>
            </a:r>
            <a:r>
              <a:rPr lang="zh-CN" altLang="en-US" dirty="0" smtClean="0"/>
              <a:t>，保持主从的复制关系；</a:t>
            </a:r>
            <a:endParaRPr lang="en-US" altLang="zh-CN" dirty="0" smtClean="0"/>
          </a:p>
          <a:p>
            <a:r>
              <a:rPr lang="zh-CN" altLang="en-US" dirty="0" smtClean="0"/>
              <a:t>目前逻辑复制还有一些限制，比如只从主节点复制等</a:t>
            </a:r>
            <a:endParaRPr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4081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谢谢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1171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2982</Words>
  <Application>Microsoft Macintosh PowerPoint</Application>
  <PresentationFormat>宽屏</PresentationFormat>
  <Paragraphs>320</Paragraphs>
  <Slides>29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DengXian</vt:lpstr>
      <vt:lpstr>DengXian Light</vt:lpstr>
      <vt:lpstr>Arial</vt:lpstr>
      <vt:lpstr>Office 主题</vt:lpstr>
      <vt:lpstr>工作分享</vt:lpstr>
      <vt:lpstr>近期工作</vt:lpstr>
      <vt:lpstr>事务型存储引擎</vt:lpstr>
      <vt:lpstr>AccessMethod-InnoDB</vt:lpstr>
      <vt:lpstr>AccessMethod——PostgreSQL</vt:lpstr>
      <vt:lpstr>AccessMethod——PostgreSQL</vt:lpstr>
      <vt:lpstr>AccessMethod——PostgreSQL</vt:lpstr>
      <vt:lpstr>AccessMethod——PostgreSQL</vt:lpstr>
      <vt:lpstr>AccessMethod——PostgreSQL</vt:lpstr>
      <vt:lpstr>AccessMethod小结——PostgreSQL</vt:lpstr>
      <vt:lpstr>BufferManager——InnoDB</vt:lpstr>
      <vt:lpstr>BufferManager——PostgreSQL</vt:lpstr>
      <vt:lpstr>BufferManager——PostgreSQL</vt:lpstr>
      <vt:lpstr>BufferManager——PostgreSQL</vt:lpstr>
      <vt:lpstr>BufferManager总结</vt:lpstr>
      <vt:lpstr>LockManager——InnoDB</vt:lpstr>
      <vt:lpstr>LockManager——PostgreSQL</vt:lpstr>
      <vt:lpstr>LockManager——PostgreSQL</vt:lpstr>
      <vt:lpstr>LockManager——PostgreSQL</vt:lpstr>
      <vt:lpstr>LockManager——PostgreSQL</vt:lpstr>
      <vt:lpstr>LockManager——PostgreSQL</vt:lpstr>
      <vt:lpstr>SIReadLock-PG中如何检测序列化异常</vt:lpstr>
      <vt:lpstr>LockManager使用总结</vt:lpstr>
      <vt:lpstr>LogManager——InnoDB</vt:lpstr>
      <vt:lpstr>LogManager——PostgreSQL</vt:lpstr>
      <vt:lpstr>LogManager——PostgreSQL</vt:lpstr>
      <vt:lpstr>LogManager——PostgreSQL</vt:lpstr>
      <vt:lpstr>LogManager使用总结</vt:lpstr>
      <vt:lpstr>谢谢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工作分享</dc:title>
  <dc:creator>Microsoft Office 用户</dc:creator>
  <cp:lastModifiedBy>Microsoft Office 用户</cp:lastModifiedBy>
  <cp:revision>152</cp:revision>
  <dcterms:created xsi:type="dcterms:W3CDTF">2019-05-17T03:41:06Z</dcterms:created>
  <dcterms:modified xsi:type="dcterms:W3CDTF">2019-05-20T09:40:54Z</dcterms:modified>
</cp:coreProperties>
</file>