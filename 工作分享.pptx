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0" r:id="rId4"/>
    <p:sldId id="262" r:id="rId5"/>
    <p:sldId id="258" r:id="rId6"/>
    <p:sldId id="267" r:id="rId7"/>
    <p:sldId id="268" r:id="rId8"/>
    <p:sldId id="269" r:id="rId9"/>
    <p:sldId id="270" r:id="rId10"/>
    <p:sldId id="271" r:id="rId11"/>
    <p:sldId id="287" r:id="rId12"/>
    <p:sldId id="272" r:id="rId13"/>
    <p:sldId id="273" r:id="rId14"/>
    <p:sldId id="274" r:id="rId15"/>
    <p:sldId id="275" r:id="rId16"/>
    <p:sldId id="288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9" r:id="rId25"/>
    <p:sldId id="283" r:id="rId26"/>
    <p:sldId id="284" r:id="rId27"/>
    <p:sldId id="285" r:id="rId28"/>
    <p:sldId id="286" r:id="rId29"/>
    <p:sldId id="290" r:id="rId30"/>
    <p:sldId id="291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46"/>
    <p:restoredTop sz="74769"/>
  </p:normalViewPr>
  <p:slideViewPr>
    <p:cSldViewPr snapToGrid="0" snapToObjects="1">
      <p:cViewPr>
        <p:scale>
          <a:sx n="95" d="100"/>
          <a:sy n="95" d="100"/>
        </p:scale>
        <p:origin x="14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了解不多，这里只能说是</a:t>
            </a:r>
            <a:r>
              <a:rPr kumimoji="1" lang="en-US" altLang="zh-CN" dirty="0" err="1" smtClean="0"/>
              <a:t>tan’tao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7049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左图是</a:t>
            </a:r>
            <a:r>
              <a:rPr lang="en-US" altLang="zh-CN" dirty="0" err="1" smtClean="0"/>
              <a:t>Stonebraker</a:t>
            </a:r>
            <a:r>
              <a:rPr lang="zh-CN" altLang="en-US" dirty="0" smtClean="0"/>
              <a:t>写的一篇论文（），其中将</a:t>
            </a:r>
            <a:r>
              <a:rPr lang="en-US" altLang="zh-CN" dirty="0" smtClean="0"/>
              <a:t>Db</a:t>
            </a:r>
            <a:r>
              <a:rPr lang="zh-CN" altLang="en-US" dirty="0" smtClean="0"/>
              <a:t>的架构分为若干部分，其中事务性存储分为</a:t>
            </a:r>
            <a:r>
              <a:rPr lang="en-US" altLang="zh-CN" dirty="0" smtClean="0"/>
              <a:t>4</a:t>
            </a:r>
            <a:r>
              <a:rPr lang="zh-CN" altLang="en-US" dirty="0" smtClean="0"/>
              <a:t>个方面（）（）（）（）；借此启发，今天从这几个方面初步认识下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的存储引擎。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首先是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就是磁盘中的数据是如何组织的，底层的数据结构决定上层的访问方法；这一部分，分别介绍了在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中，访问的标识，多样的。。。，。。。，。。。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59101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在操作系统中本身就有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，来缓和内外存速度差异；但是数据库产品需要对自己的数据严格的控制，因此往往自己设计自己的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；本部分从三方面对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进行简单介绍。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9541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描述符的数组，数组中标记了各个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块被访问的次数，以及是否正在被使用；首先指针指向一个候选块，如果是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，那么跳过；否则，如果是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，那么就是这个了；否则减一；直到找到一个 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0&amp;&amp;</a:t>
            </a:r>
            <a:r>
              <a:rPr lang="en-US" altLang="zh-CN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的块</a:t>
            </a:r>
            <a:endParaRPr kumimoji="1" lang="zh-CN" altLang="en-US" b="0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9375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另外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of the given table, an SIREAD lock {Tuple_1, {100}} is created.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节省内存使用：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SIREAD lock has three levels: tuple, page, and relation. If the SIREAD locks of all tuples within a single page are created, they are aggregated into a single SIREAD lock for that page, and all SIREAD locks of the associated tuples are released (removed), to reduce memory space. 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example, assume that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and then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 updates Tuple_1. In this case, the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function, invoked by the UPDATE command in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101, detects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with Tuple_1 between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and 101 then creates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{r=100, w=101, {Tuple_1}}.</a:t>
            </a:r>
          </a:p>
          <a:p>
            <a:endParaRPr lang="en-US" altLang="zh-CN" dirty="0" smtClean="0"/>
          </a:p>
          <a:p>
            <a:r>
              <a:rPr lang="en-US" altLang="zh-CN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first-committer-win</a:t>
            </a: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57031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iki.op.ksyun.com/pages/viewpage.action?pageId=100905079" TargetMode="External"/><Relationship Id="rId4" Type="http://schemas.openxmlformats.org/officeDocument/2006/relationships/hyperlink" Target="http://wiki.op.ksyun.com/pages/viewpage.action?pageId=100906861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iki.op.ksyun.com/pages/viewpage.action?pageId=100899848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7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dex-types.html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-memory-structures.html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ev.mysql.com/doc/refman/5.7/en/innodb-locking-transaction-model.html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4" Type="http://schemas.openxmlformats.org/officeDocument/2006/relationships/hyperlink" Target="https://www.postgresql.org/docs/current/static/runtime-config-wal.html#GUC-WAL-WRITER-DELAY" TargetMode="External"/><Relationship Id="rId5" Type="http://schemas.openxmlformats.org/officeDocument/2006/relationships/image" Target="../media/image13.png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的存储模块探讨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之前数据库相关的经验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开始了解并参与数据库的开发</a:t>
            </a:r>
            <a:endParaRPr kumimoji="1" lang="en-US" altLang="zh-CN" dirty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</a:t>
            </a:r>
            <a:endParaRPr kumimoji="1" lang="en-US" altLang="zh-CN" dirty="0" smtClean="0"/>
          </a:p>
          <a:p>
            <a:r>
              <a:rPr kumimoji="1" lang="zh-CN" altLang="en-US" dirty="0" smtClean="0"/>
              <a:t>运维监控的小工具</a:t>
            </a:r>
            <a:endParaRPr kumimoji="1" lang="en-US" altLang="zh-CN" dirty="0" smtClean="0"/>
          </a:p>
          <a:p>
            <a:r>
              <a:rPr kumimoji="1" lang="zh-CN" altLang="en-US" dirty="0" smtClean="0"/>
              <a:t>图书翻译</a:t>
            </a:r>
            <a:r>
              <a:rPr kumimoji="1" lang="en-US" altLang="zh-CN" dirty="0" smtClean="0"/>
              <a:t>——</a:t>
            </a:r>
            <a:r>
              <a:rPr lang="en-US" altLang="zh-CN" dirty="0"/>
              <a:t>PostgreSQL</a:t>
            </a:r>
            <a:r>
              <a:rPr lang="zh-CN" altLang="en-US" dirty="0"/>
              <a:t>指南：内幕</a:t>
            </a:r>
            <a:r>
              <a:rPr lang="zh-CN" altLang="en-US" dirty="0" smtClean="0"/>
              <a:t>探索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00090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近期工作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概述：</a:t>
            </a:r>
            <a:r>
              <a:rPr lang="en-US" altLang="zh-CN" dirty="0">
                <a:hlinkClick r:id="rId2"/>
              </a:rPr>
              <a:t> http://</a:t>
            </a:r>
            <a:r>
              <a:rPr lang="en-US" altLang="zh-CN" dirty="0" smtClean="0">
                <a:hlinkClick r:id="rId2"/>
              </a:rPr>
              <a:t>wiki.op.ksyun.com/pages/viewpage.action?pageId=100899848</a:t>
            </a:r>
            <a:endParaRPr lang="en-US" altLang="zh-CN" dirty="0" smtClean="0"/>
          </a:p>
          <a:p>
            <a:r>
              <a:rPr kumimoji="1" lang="zh-CN" altLang="en-US" dirty="0" smtClean="0"/>
              <a:t>初步了解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：</a:t>
            </a:r>
            <a:r>
              <a:rPr lang="en-US" altLang="zh-CN" dirty="0" smtClean="0">
                <a:hlinkClick r:id="rId3"/>
              </a:rPr>
              <a:t>http</a:t>
            </a:r>
            <a:r>
              <a:rPr lang="en-US" altLang="zh-CN" dirty="0">
                <a:hlinkClick r:id="rId3"/>
              </a:rPr>
              <a:t>://</a:t>
            </a:r>
            <a:r>
              <a:rPr lang="en-US" altLang="zh-CN" dirty="0" smtClean="0">
                <a:hlinkClick r:id="rId3"/>
              </a:rPr>
              <a:t>wiki.op.ksyun.com/pages/viewpage.action?pageId=100905079</a:t>
            </a:r>
            <a:endParaRPr lang="en-US" altLang="zh-CN" dirty="0" smtClean="0"/>
          </a:p>
          <a:p>
            <a:r>
              <a:rPr kumimoji="1" lang="en-US" altLang="zh-CN" dirty="0" smtClean="0"/>
              <a:t>Aurora</a:t>
            </a:r>
            <a:r>
              <a:rPr kumimoji="1" lang="zh-CN" altLang="en-US" dirty="0" smtClean="0"/>
              <a:t>论文总结：</a:t>
            </a:r>
            <a:r>
              <a:rPr lang="en-US" altLang="zh-CN" dirty="0" smtClean="0">
                <a:hlinkClick r:id="rId4"/>
              </a:rPr>
              <a:t>http</a:t>
            </a:r>
            <a:r>
              <a:rPr lang="en-US" altLang="zh-CN" dirty="0">
                <a:hlinkClick r:id="rId4"/>
              </a:rPr>
              <a:t>://</a:t>
            </a:r>
            <a:r>
              <a:rPr lang="en-US" altLang="zh-CN" dirty="0" smtClean="0">
                <a:hlinkClick r:id="rId4"/>
              </a:rPr>
              <a:t>wiki.op.ksyun.com/pages/viewpage.action?pageId=100906861</a:t>
            </a:r>
            <a:endParaRPr lang="en-US" altLang="zh-CN" dirty="0" smtClean="0"/>
          </a:p>
          <a:p>
            <a:r>
              <a:rPr kumimoji="1" lang="zh-CN" altLang="en-US" dirty="0" smtClean="0"/>
              <a:t>其他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733" y="808691"/>
            <a:ext cx="3302000" cy="50927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0133" y="694391"/>
            <a:ext cx="2895600" cy="53213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338" y="0"/>
            <a:ext cx="2580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smtClean="0"/>
              <a:t>PostgreSQL</a:t>
            </a:r>
            <a:r>
              <a:rPr kumimoji="1" lang="zh-CN" altLang="en-US" dirty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的存储模块探讨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437939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存储引擎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  <a:endParaRPr lang="en-US" altLang="zh-CN" dirty="0"/>
          </a:p>
          <a:p>
            <a:pPr lvl="1"/>
            <a:r>
              <a:rPr lang="en-US" altLang="zh-CN" dirty="0" smtClean="0"/>
              <a:t>Organize</a:t>
            </a:r>
            <a:r>
              <a:rPr lang="zh-CN" altLang="en-US" dirty="0" smtClean="0"/>
              <a:t> </a:t>
            </a:r>
            <a:r>
              <a:rPr lang="en-US" altLang="zh-CN" dirty="0" smtClean="0"/>
              <a:t>data</a:t>
            </a:r>
          </a:p>
          <a:p>
            <a:r>
              <a:rPr kumimoji="1" lang="en-US" altLang="zh-CN" dirty="0"/>
              <a:t>Buffer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en-US" altLang="zh-CN" dirty="0" smtClean="0"/>
              <a:t>Staging</a:t>
            </a:r>
            <a:r>
              <a:rPr lang="zh-CN" altLang="en-US" dirty="0" smtClean="0"/>
              <a:t> </a:t>
            </a:r>
            <a:r>
              <a:rPr lang="en-US" altLang="zh-CN" dirty="0" smtClean="0"/>
              <a:t>IO</a:t>
            </a:r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en-US" altLang="zh-CN" dirty="0"/>
              <a:t>concurrency control</a:t>
            </a:r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lang="en-US" altLang="zh-CN" dirty="0" smtClean="0"/>
              <a:t>recovery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270" y="1"/>
            <a:ext cx="79427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一、</a:t>
            </a:r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/>
              <a:t>Method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Organize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>
                <a:solidFill>
                  <a:schemeClr val="accent3"/>
                </a:solidFill>
              </a:rPr>
              <a:t>data</a:t>
            </a:r>
            <a:endParaRPr kumimoji="1" lang="en-US" altLang="zh-CN" dirty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 smtClean="0"/>
              <a:t>访问标识</a:t>
            </a:r>
            <a:endParaRPr kumimoji="1" lang="en-US" altLang="zh-CN" dirty="0" smtClean="0"/>
          </a:p>
          <a:p>
            <a:r>
              <a:rPr kumimoji="1" lang="zh-CN" altLang="en-US" dirty="0" smtClean="0"/>
              <a:t>多样的访问方法</a:t>
            </a:r>
            <a:endParaRPr kumimoji="1" lang="en-US" altLang="zh-CN" dirty="0" smtClean="0"/>
          </a:p>
          <a:p>
            <a:r>
              <a:rPr kumimoji="1" lang="zh-CN" altLang="en-US" dirty="0" smtClean="0"/>
              <a:t>灵活访问</a:t>
            </a:r>
            <a:endParaRPr kumimoji="1" lang="en-US" altLang="zh-CN" dirty="0" smtClean="0"/>
          </a:p>
          <a:p>
            <a:r>
              <a:rPr kumimoji="1" lang="zh-CN" altLang="en-US" dirty="0" smtClean="0"/>
              <a:t>组合访问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>
              <a:solidFill>
                <a:schemeClr val="accent3"/>
              </a:solidFill>
            </a:endParaRPr>
          </a:p>
          <a:p>
            <a:pPr marL="228600" lvl="1">
              <a:spcBef>
                <a:spcPts val="1000"/>
              </a:spcBef>
            </a:pPr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/backend/access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045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11"/>
    </mc:Choice>
    <mc:Fallback xmlns="">
      <p:transition spd="slow" advTm="1261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访问标识</a:t>
            </a:r>
            <a:r>
              <a:rPr kumimoji="1" lang="en-US" altLang="zh-CN" dirty="0"/>
              <a:t>——TID</a:t>
            </a:r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3071813"/>
            <a:ext cx="5394394" cy="3105150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825" y="1484313"/>
            <a:ext cx="8636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多样的访问</a:t>
            </a:r>
            <a:r>
              <a:rPr kumimoji="1" lang="zh-CN" altLang="en-US" dirty="0"/>
              <a:t>方法</a:t>
            </a:r>
            <a:r>
              <a:rPr kumimoji="1" lang="en-US" altLang="zh-CN" dirty="0" smtClean="0"/>
              <a:t>-Index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(only)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740694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灵活访问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/>
              <a:t>CREATE [ UNIQUE ] INDEX [ CONCURRENTLY ] [ [ IF NOT EXISTS ] name ] ON </a:t>
            </a:r>
            <a:r>
              <a:rPr lang="en-US" altLang="zh-CN" dirty="0" err="1"/>
              <a:t>table_name</a:t>
            </a:r>
            <a:r>
              <a:rPr lang="en-US" altLang="zh-CN" dirty="0"/>
              <a:t> [ USING method ] ( { </a:t>
            </a:r>
            <a:r>
              <a:rPr lang="en-US" altLang="zh-CN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dirty="0"/>
              <a:t>expression</a:t>
            </a:r>
            <a:r>
              <a:rPr lang="en-US" altLang="zh-CN" dirty="0"/>
              <a:t> ) } [ COLLATE collation ] [ </a:t>
            </a:r>
            <a:r>
              <a:rPr lang="en-US" altLang="zh-CN" dirty="0" err="1"/>
              <a:t>opclass</a:t>
            </a:r>
            <a:r>
              <a:rPr lang="en-US" altLang="zh-CN" dirty="0"/>
              <a:t> ] [ ASC | DESC ] [ NULLS { FIRST | LAST } ] [, ...] ) [ WITH ( </a:t>
            </a:r>
            <a:r>
              <a:rPr lang="en-US" altLang="zh-CN" dirty="0" err="1"/>
              <a:t>storage_parameter</a:t>
            </a:r>
            <a:r>
              <a:rPr lang="en-US" altLang="zh-CN" dirty="0"/>
              <a:t> = value [, ... ] ) ] [ TABLESPACE </a:t>
            </a:r>
            <a:r>
              <a:rPr lang="en-US" altLang="zh-CN" dirty="0" err="1"/>
              <a:t>tablespace_name</a:t>
            </a:r>
            <a:r>
              <a:rPr lang="en-US" altLang="zh-CN" dirty="0"/>
              <a:t> ] [ </a:t>
            </a:r>
            <a:r>
              <a:rPr lang="en-US" altLang="zh-CN" b="1" dirty="0"/>
              <a:t>WHERE</a:t>
            </a:r>
            <a:r>
              <a:rPr lang="en-US" altLang="zh-CN" dirty="0"/>
              <a:t> predicate ]</a:t>
            </a:r>
            <a:endParaRPr lang="en-US" altLang="zh-CN" u="sng" dirty="0" smtClean="0"/>
          </a:p>
          <a:p>
            <a:r>
              <a:rPr lang="zh-CN" altLang="en-US" u="sng" dirty="0" smtClean="0"/>
              <a:t>表达式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On</a:t>
            </a:r>
            <a:r>
              <a:rPr lang="zh-CN" altLang="en-US" u="sng" dirty="0" smtClean="0"/>
              <a:t> </a:t>
            </a:r>
            <a:r>
              <a:rPr lang="en-US" altLang="zh-CN" u="sng" dirty="0" err="1" smtClean="0"/>
              <a:t>func</a:t>
            </a:r>
            <a:r>
              <a:rPr lang="en-US" altLang="zh-CN" u="sng" dirty="0" smtClean="0"/>
              <a:t>(id)</a:t>
            </a:r>
            <a:endParaRPr lang="en-US" altLang="zh-CN" u="sng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IMMUTABLE 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zh-CN" altLang="en-US" u="sng" dirty="0" smtClean="0"/>
              <a:t>条件索引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Where</a:t>
            </a:r>
            <a:r>
              <a:rPr lang="zh-CN" altLang="en-US" u="sng" dirty="0" smtClean="0"/>
              <a:t> </a:t>
            </a:r>
            <a:endParaRPr lang="en-US" altLang="zh-CN" u="sng" dirty="0" smtClean="0"/>
          </a:p>
          <a:p>
            <a:pPr lvl="1"/>
            <a:r>
              <a:rPr lang="zh-CN" altLang="en-US" b="1" u="sng" dirty="0" smtClean="0">
                <a:solidFill>
                  <a:srgbClr val="FF0000"/>
                </a:solidFill>
              </a:rPr>
              <a:t>小就快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组合访问</a:t>
            </a:r>
            <a:r>
              <a:rPr kumimoji="1" lang="en-US" altLang="zh-CN" dirty="0" smtClean="0"/>
              <a:t>-Bitmap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/>
              <a:t>enable_bitmapscan</a:t>
            </a:r>
            <a:r>
              <a:rPr lang="en-US" altLang="zh-CN" dirty="0"/>
              <a:t>=on</a:t>
            </a:r>
          </a:p>
          <a:p>
            <a:pPr lvl="1"/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收益：同时使用多个独立索引，大大减少外部</a:t>
            </a:r>
            <a:r>
              <a:rPr kumimoji="1" lang="en-US" altLang="zh-CN" dirty="0" smtClean="0"/>
              <a:t>IO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3170238"/>
            <a:ext cx="90424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kumimoji="1" lang="zh-CN" altLang="en-US" dirty="0" smtClean="0"/>
              <a:t>一级聚簇索引（</a:t>
            </a:r>
            <a:r>
              <a:rPr lang="en-US" altLang="zh-CN" dirty="0" err="1"/>
              <a:t>B+Tree</a:t>
            </a:r>
            <a:r>
              <a:rPr kumimoji="1" lang="zh-CN" altLang="en-US" dirty="0"/>
              <a:t>）： 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索引</a:t>
            </a:r>
            <a:r>
              <a:rPr kumimoji="1" lang="zh-CN" altLang="en-US" dirty="0"/>
              <a:t>组织</a:t>
            </a:r>
            <a:r>
              <a:rPr kumimoji="1" lang="zh-CN" altLang="en-US" dirty="0" smtClean="0"/>
              <a:t>表，按照以下三种类型进行组织的</a:t>
            </a:r>
            <a:r>
              <a:rPr kumimoji="1" lang="zh-CN" altLang="en-US" dirty="0" smtClean="0"/>
              <a:t>聚簇索引：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主键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第一</a:t>
            </a:r>
            <a:r>
              <a:rPr kumimoji="1" lang="zh-CN" altLang="en-US" dirty="0"/>
              <a:t>个非空</a:t>
            </a:r>
            <a:r>
              <a:rPr kumimoji="1" lang="en-US" altLang="zh-CN" dirty="0"/>
              <a:t>Unique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包含</a:t>
            </a:r>
            <a:r>
              <a:rPr kumimoji="1" lang="en-US" altLang="zh-CN" dirty="0" err="1" smtClean="0"/>
              <a:t>rowid</a:t>
            </a:r>
            <a:r>
              <a:rPr kumimoji="1" lang="zh-CN" altLang="en-US" dirty="0" smtClean="0"/>
              <a:t>的隐藏聚簇索引：</a:t>
            </a:r>
            <a:r>
              <a:rPr lang="en-US" altLang="zh-CN" b="1" dirty="0"/>
              <a:t> GEN_CLUST_INDEX</a:t>
            </a:r>
            <a:endParaRPr kumimoji="1" lang="en-US" altLang="zh-CN" dirty="0"/>
          </a:p>
          <a:p>
            <a:r>
              <a:rPr kumimoji="1" lang="zh-CN" altLang="en-US" dirty="0" smtClean="0"/>
              <a:t>二级索引（</a:t>
            </a:r>
            <a:r>
              <a:rPr lang="en-US" altLang="zh-CN" dirty="0" err="1"/>
              <a:t>B+Tree</a:t>
            </a:r>
            <a:r>
              <a:rPr kumimoji="1" lang="zh-CN" altLang="en-US" dirty="0" smtClean="0"/>
              <a:t>）：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key</a:t>
            </a:r>
            <a:r>
              <a:rPr kumimoji="1" lang="zh-CN" altLang="en-US" dirty="0" smtClean="0"/>
              <a:t>为聚簇索引的聚簇列，</a:t>
            </a:r>
            <a:r>
              <a:rPr kumimoji="1" lang="en-US" altLang="zh-CN" dirty="0" err="1" smtClean="0"/>
              <a:t>val</a:t>
            </a:r>
            <a:r>
              <a:rPr kumimoji="1" lang="zh-CN" altLang="en-US" dirty="0" smtClean="0"/>
              <a:t>为二级索引的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FullText</a:t>
            </a:r>
            <a:r>
              <a:rPr kumimoji="1" lang="zh-CN" altLang="en-US" dirty="0" smtClean="0"/>
              <a:t>索引（倒排索引）：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r>
              <a:rPr lang="de-DE" altLang="zh-CN" b="1" dirty="0">
                <a:solidFill>
                  <a:schemeClr val="bg2">
                    <a:lumMod val="90000"/>
                  </a:schemeClr>
                </a:solidFill>
              </a:rPr>
              <a:t>14.6.2 Indexes</a:t>
            </a:r>
            <a:r>
              <a:rPr lang="zh-CN" altLang="en-US" b="1" dirty="0">
                <a:solidFill>
                  <a:schemeClr val="bg2">
                    <a:lumMod val="90000"/>
                  </a:schemeClr>
                </a:solidFill>
              </a:rPr>
              <a:t>：</a:t>
            </a:r>
            <a:r>
              <a:rPr lang="en-US" altLang="zh-CN" i="1" dirty="0">
                <a:solidFill>
                  <a:schemeClr val="bg2">
                    <a:lumMod val="90000"/>
                  </a:schemeClr>
                </a:solidFill>
                <a:hlinkClick r:id="rId2"/>
              </a:rPr>
              <a:t>https://dev.mysql.com/doc/refman/5.7/en/innodb-index-types.html</a:t>
            </a:r>
            <a:endParaRPr lang="en-US" altLang="zh-CN" i="1" dirty="0">
              <a:solidFill>
                <a:schemeClr val="bg2">
                  <a:lumMod val="90000"/>
                </a:schemeClr>
              </a:solidFill>
            </a:endParaRP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二、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Staging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 smtClean="0">
                <a:solidFill>
                  <a:schemeClr val="accent3"/>
                </a:solidFill>
              </a:rPr>
              <a:t>IO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en-US" altLang="zh-CN" dirty="0" smtClean="0"/>
          </a:p>
          <a:p>
            <a:r>
              <a:rPr kumimoji="1" lang="zh-CN" altLang="en-US" dirty="0" smtClean="0"/>
              <a:t>页面置换</a:t>
            </a:r>
            <a:endParaRPr kumimoji="1" lang="en-US" altLang="zh-CN" dirty="0"/>
          </a:p>
          <a:p>
            <a:r>
              <a:rPr kumimoji="1" lang="zh-CN" altLang="en-US" dirty="0" smtClean="0"/>
              <a:t>脏页刷写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/backend/storage/buffer</a:t>
            </a: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1283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884"/>
    </mc:Choice>
    <mc:Fallback xmlns="">
      <p:transition spd="slow" advTm="37884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550" y="1690688"/>
            <a:ext cx="77089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页面置换策略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Clock-sweep</a:t>
            </a:r>
            <a:endParaRPr kumimoji="1"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690688"/>
            <a:ext cx="7315200" cy="48514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58038" y="3016251"/>
            <a:ext cx="307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 smtClean="0"/>
              <a:t>找到第一个访问次数是</a:t>
            </a:r>
            <a:r>
              <a:rPr kumimoji="1" lang="en-US" altLang="zh-CN" dirty="0" smtClean="0"/>
              <a:t>0</a:t>
            </a:r>
            <a:r>
              <a:rPr kumimoji="1" lang="zh-CN" altLang="en-US" dirty="0" smtClean="0"/>
              <a:t>的块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3732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376"/>
    </mc:Choice>
    <mc:Fallback xmlns="">
      <p:transition spd="slow" advTm="56376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脏</a:t>
            </a:r>
            <a:r>
              <a:rPr kumimoji="1" lang="zh-CN" altLang="en-US" dirty="0"/>
              <a:t>页刷</a:t>
            </a:r>
            <a:r>
              <a:rPr kumimoji="1" lang="zh-CN" altLang="en-US" dirty="0" smtClean="0"/>
              <a:t>写</a:t>
            </a:r>
            <a:r>
              <a:rPr kumimoji="1" lang="en-US" altLang="zh-CN" dirty="0"/>
              <a:t>-Spread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checkpoint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smtClean="0">
                <a:hlinkClick r:id="rId2"/>
              </a:rPr>
              <a:t>https</a:t>
            </a:r>
            <a:r>
              <a:rPr lang="en-US" altLang="zh-CN" dirty="0">
                <a:hlinkClick r:id="rId2"/>
              </a:rPr>
              <a:t>://</a:t>
            </a:r>
            <a:r>
              <a:rPr lang="en-US" altLang="zh-CN" dirty="0" smtClean="0">
                <a:hlinkClick r:id="rId2"/>
              </a:rPr>
              <a:t>dev.mysql.com/doc/refman/5.7/en/innodb-in-memory-structures.html</a:t>
            </a:r>
            <a:endParaRPr lang="en-US" altLang="zh-CN" dirty="0" smtClean="0"/>
          </a:p>
          <a:p>
            <a:r>
              <a:rPr kumimoji="1" lang="en-US" altLang="zh-CN" dirty="0" err="1" smtClean="0"/>
              <a:t>Bufferpool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以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为单元，组织为一个</a:t>
            </a:r>
            <a:r>
              <a:rPr kumimoji="1" lang="en-US" altLang="zh-CN" dirty="0" smtClean="0"/>
              <a:t>list</a:t>
            </a:r>
            <a:r>
              <a:rPr kumimoji="1" lang="zh-CN" altLang="en-US" dirty="0" smtClean="0"/>
              <a:t>进行管理；按照</a:t>
            </a:r>
            <a:r>
              <a:rPr kumimoji="1" lang="en-US" altLang="zh-CN" dirty="0" smtClean="0"/>
              <a:t>LRU</a:t>
            </a:r>
            <a:r>
              <a:rPr kumimoji="1" lang="zh-CN" altLang="en-US" dirty="0" smtClean="0"/>
              <a:t>算法进行页面淘汰。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ChangeBuffer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二级索引的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不在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中时，暂时将二级索引的变更进行缓存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AdaptiveHashIndex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基于字符串前缀的</a:t>
            </a:r>
            <a:r>
              <a:rPr kumimoji="1" lang="en-US" altLang="zh-CN" dirty="0" err="1" smtClean="0"/>
              <a:t>HashIndex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5.7</a:t>
            </a:r>
            <a:r>
              <a:rPr kumimoji="1" lang="zh-CN" altLang="en-US" dirty="0" smtClean="0"/>
              <a:t>中是分块的）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LogBuffer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日志的缓存，默认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；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三、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concurrency </a:t>
            </a:r>
            <a:r>
              <a:rPr lang="en-US" altLang="zh-CN" dirty="0" smtClean="0">
                <a:solidFill>
                  <a:schemeClr val="accent3"/>
                </a:solidFill>
              </a:rPr>
              <a:t>control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r>
              <a:rPr kumimoji="1" lang="en-US" altLang="zh-CN" dirty="0" smtClean="0"/>
              <a:t>Spinlock</a:t>
            </a:r>
          </a:p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/backend/storage/</a:t>
            </a:r>
            <a:r>
              <a:rPr kumimoji="1" lang="en-US" altLang="zh-CN" dirty="0" err="1" smtClean="0">
                <a:solidFill>
                  <a:schemeClr val="accent3"/>
                </a:solidFill>
              </a:rPr>
              <a:t>lmgr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820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39"/>
    </mc:Choice>
    <mc:Fallback xmlns="">
      <p:transition spd="slow" advTm="16839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Spinlock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1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1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串行化异常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/>
              <a:t>SI</a:t>
            </a:r>
            <a:r>
              <a:rPr kumimoji="1" lang="zh-CN" altLang="en-US" dirty="0"/>
              <a:t> </a:t>
            </a:r>
            <a:r>
              <a:rPr kumimoji="1" lang="en-US" altLang="zh-CN" dirty="0" err="1" smtClean="0"/>
              <a:t>ReadLock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r>
              <a:rPr kumimoji="1" lang="zh-CN" altLang="en-US" dirty="0" smtClean="0"/>
              <a:t>快照隔离下的串行化异常，如图（</a:t>
            </a:r>
            <a:r>
              <a:rPr kumimoji="1" lang="en-US" altLang="zh-CN" dirty="0" smtClean="0"/>
              <a:t>A!=B</a:t>
            </a:r>
            <a:r>
              <a:rPr kumimoji="1" lang="zh-CN" altLang="en-US" dirty="0" smtClean="0"/>
              <a:t>）</a:t>
            </a:r>
            <a:r>
              <a:rPr kumimoji="1" lang="en-US" altLang="zh-CN" dirty="0"/>
              <a:t> write-skew</a:t>
            </a:r>
            <a:r>
              <a:rPr kumimoji="1" lang="en-US" altLang="zh-CN" dirty="0" smtClean="0"/>
              <a:t> </a:t>
            </a:r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方式串行化</a:t>
            </a:r>
            <a:endParaRPr kumimoji="1" lang="en-US" altLang="zh-CN" dirty="0" smtClean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8742947" y="1880015"/>
          <a:ext cx="2466474" cy="2547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8166"/>
                <a:gridCol w="1078308"/>
              </a:tblGrid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  <a:r>
                        <a:rPr lang="zh-CN" altLang="en-US" sz="15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tidx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tidy</a:t>
                      </a:r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A；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B；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B=A;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535392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A=B;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commit;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commit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快照隔离序列化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  <a:p>
            <a:r>
              <a:rPr kumimoji="1" lang="zh-CN" altLang="en-US" dirty="0"/>
              <a:t>快照隔离</a:t>
            </a:r>
            <a:r>
              <a:rPr kumimoji="1" lang="zh-CN" altLang="en-US" dirty="0" smtClean="0"/>
              <a:t>序列化的检测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来自论文</a:t>
            </a:r>
            <a:r>
              <a:rPr lang="en-US" altLang="zh-CN" i="1" u="sng" dirty="0" smtClean="0"/>
              <a:t>Making Snapshot Isolation Serializable</a:t>
            </a:r>
            <a:r>
              <a:rPr lang="zh-CN" altLang="en-US" dirty="0" smtClean="0"/>
              <a:t>的</a:t>
            </a:r>
            <a:r>
              <a:rPr kumimoji="1" lang="zh-CN" altLang="en-US" dirty="0" smtClean="0"/>
              <a:t>重要结论：事务依赖图中，如果</a:t>
            </a:r>
            <a:r>
              <a:rPr kumimoji="1" lang="zh-CN" altLang="en-US" b="1" dirty="0" smtClean="0"/>
              <a:t>有环</a:t>
            </a:r>
            <a:r>
              <a:rPr kumimoji="1" lang="zh-CN" altLang="en-US" dirty="0" smtClean="0"/>
              <a:t>且环中</a:t>
            </a:r>
            <a:r>
              <a:rPr kumimoji="1" lang="zh-CN" altLang="en-US" b="1" dirty="0" smtClean="0"/>
              <a:t>有</a:t>
            </a:r>
            <a:r>
              <a:rPr kumimoji="1" lang="en-US" altLang="zh-CN" b="1" dirty="0" smtClean="0"/>
              <a:t>T1-(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)-&gt;T2-(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)-&gt;T3</a:t>
            </a:r>
            <a:r>
              <a:rPr kumimoji="1" lang="zh-CN" altLang="en-US" dirty="0" smtClean="0"/>
              <a:t>，就可能出现序列化异常。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Pg</a:t>
            </a:r>
            <a:r>
              <a:rPr lang="zh-CN" altLang="en-US" dirty="0" smtClean="0"/>
              <a:t>通过</a:t>
            </a:r>
            <a:r>
              <a:rPr lang="zh-CN" altLang="en-US" b="1" dirty="0" smtClean="0"/>
              <a:t>检测事务之间的读写依赖</a:t>
            </a:r>
            <a:r>
              <a:rPr lang="zh-CN" altLang="en-US" dirty="0" smtClean="0"/>
              <a:t>实现序列化，且出于性能考虑</a:t>
            </a:r>
            <a:r>
              <a:rPr kumimoji="1" lang="zh-CN" altLang="en-US" dirty="0" smtClean="0"/>
              <a:t>只检测一个条件：</a:t>
            </a:r>
            <a:endParaRPr kumimoji="1" lang="en-US" altLang="zh-CN" dirty="0" smtClean="0"/>
          </a:p>
        </p:txBody>
      </p:sp>
      <p:pic>
        <p:nvPicPr>
          <p:cNvPr id="6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CN" dirty="0" smtClean="0">
                <a:hlinkClick r:id="rId3"/>
              </a:rPr>
              <a:t>https</a:t>
            </a:r>
            <a:r>
              <a:rPr lang="en-US" altLang="zh-CN" dirty="0">
                <a:hlinkClick r:id="rId3"/>
              </a:rPr>
              <a:t>://</a:t>
            </a:r>
            <a:r>
              <a:rPr lang="en-US" altLang="zh-CN" dirty="0" smtClean="0">
                <a:hlinkClick r:id="rId3"/>
              </a:rPr>
              <a:t>dev.mysql.com/doc/refman/5.7/en/innodb-locking-transaction-model.html</a:t>
            </a:r>
            <a:endParaRPr lang="en-US" altLang="zh-CN" dirty="0" smtClean="0"/>
          </a:p>
          <a:p>
            <a:r>
              <a:rPr kumimoji="1" lang="zh-CN" altLang="en-US" dirty="0" smtClean="0"/>
              <a:t>共享排他锁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意向锁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记录锁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间隙锁</a:t>
            </a:r>
            <a:endParaRPr kumimoji="1" lang="en-US" altLang="zh-CN" dirty="0" smtClean="0"/>
          </a:p>
          <a:p>
            <a:r>
              <a:rPr kumimoji="1" lang="en-US" altLang="zh-CN" dirty="0" smtClean="0"/>
              <a:t>Next-Key</a:t>
            </a:r>
            <a:r>
              <a:rPr kumimoji="1" lang="zh-CN" altLang="en-US" dirty="0" smtClean="0"/>
              <a:t>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插入意向锁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自增锁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空间索引的谓词锁</a:t>
            </a:r>
            <a:endParaRPr kumimoji="1" lang="en-US" altLang="zh-CN" dirty="0"/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zh-CN" altLang="en-US" dirty="0" smtClean="0"/>
              <a:t>四、</a:t>
            </a:r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 smtClean="0">
                <a:solidFill>
                  <a:schemeClr val="accent3"/>
                </a:solidFill>
              </a:rPr>
              <a:t>recovery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提交策略</a:t>
            </a:r>
            <a:endParaRPr kumimoji="1" lang="en-US" altLang="zh-CN" dirty="0"/>
          </a:p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</a:p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/backend/access/</a:t>
            </a:r>
            <a:r>
              <a:rPr kumimoji="1" lang="en-US" altLang="zh-CN" dirty="0" err="1">
                <a:solidFill>
                  <a:schemeClr val="accent3"/>
                </a:solidFill>
              </a:rPr>
              <a:t>transam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4395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885"/>
    </mc:Choice>
    <mc:Fallback xmlns="">
      <p:transition spd="slow" advTm="52885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提交策略</a:t>
            </a:r>
            <a:r>
              <a:rPr kumimoji="1" lang="en-US" altLang="zh-CN" dirty="0" smtClean="0"/>
              <a:t>——</a:t>
            </a:r>
            <a:r>
              <a:rPr lang="en-US" altLang="zh-CN" dirty="0" err="1"/>
              <a:t>synchronous_commit</a:t>
            </a:r>
            <a:r>
              <a:rPr lang="en-US" altLang="zh-CN" dirty="0"/>
              <a:t/>
            </a:r>
            <a:br>
              <a:rPr lang="en-US" altLang="zh-CN" dirty="0"/>
            </a:b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r>
              <a:rPr lang="en-US" altLang="zh-CN" dirty="0"/>
              <a:t>l</a:t>
            </a:r>
            <a:r>
              <a:rPr lang="en-US" altLang="zh-CN" dirty="0" smtClean="0"/>
              <a:t>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83020"/>
            <a:ext cx="12192000" cy="19418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 smtClean="0"/>
              <a:t>信息量</a:t>
            </a:r>
            <a:endParaRPr kumimoji="1" lang="en-US" altLang="zh-CN" dirty="0" smtClean="0"/>
          </a:p>
          <a:p>
            <a:pPr lvl="1"/>
            <a:r>
              <a:rPr kumimoji="1" lang="en-US" altLang="zh-CN" dirty="0" err="1" smtClean="0"/>
              <a:t>Wal_level</a:t>
            </a:r>
            <a:endParaRPr kumimoji="1" lang="en-US" altLang="zh-CN" dirty="0" smtClean="0"/>
          </a:p>
          <a:p>
            <a:r>
              <a:rPr kumimoji="1" lang="zh-CN" altLang="en-US" dirty="0" smtClean="0"/>
              <a:t>过程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初始检查</a:t>
            </a:r>
            <a:r>
              <a:rPr kumimoji="1" lang="zh-CN" altLang="en-US" dirty="0"/>
              <a:t>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比如检查是不是备机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/>
          </a:p>
          <a:p>
            <a:pPr lvl="2"/>
            <a:r>
              <a:rPr kumimoji="1" lang="zh-CN" altLang="en-US" dirty="0" smtClean="0"/>
              <a:t>这里会判断是不是需要写</a:t>
            </a: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kumimoji="1" lang="zh-CN" altLang="en-US" dirty="0"/>
              <a:t>按照</a:t>
            </a:r>
            <a:r>
              <a:rPr kumimoji="1" lang="en-US" altLang="zh-CN" dirty="0" err="1"/>
              <a:t>rmgr</a:t>
            </a:r>
            <a:r>
              <a:rPr kumimoji="1" lang="zh-CN" altLang="en-US" dirty="0"/>
              <a:t>指定的资源管理器，恢复</a:t>
            </a:r>
            <a:r>
              <a:rPr kumimoji="1" lang="zh-CN" altLang="en-US" b="1" dirty="0"/>
              <a:t>记录</a:t>
            </a:r>
            <a:r>
              <a:rPr kumimoji="1" lang="en-US" altLang="zh-CN" b="1" dirty="0"/>
              <a:t>LSN&gt;</a:t>
            </a:r>
            <a:r>
              <a:rPr kumimoji="1" lang="zh-CN" altLang="en-US" b="1" dirty="0"/>
              <a:t>页面</a:t>
            </a:r>
            <a:r>
              <a:rPr kumimoji="1" lang="en-US" altLang="zh-CN" b="1" dirty="0"/>
              <a:t>LSN</a:t>
            </a:r>
            <a:r>
              <a:rPr kumimoji="1" lang="zh-CN" altLang="en-US" dirty="0"/>
              <a:t>的数据（如果是</a:t>
            </a:r>
            <a:r>
              <a:rPr kumimoji="1" lang="en-US" altLang="zh-CN" dirty="0"/>
              <a:t>full-page</a:t>
            </a:r>
            <a:r>
              <a:rPr kumimoji="1" lang="zh-CN" altLang="en-US" dirty="0"/>
              <a:t> 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，整个覆盖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Db</a:t>
            </a:r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pg_control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pPr lvl="2"/>
            <a:r>
              <a:rPr lang="en-US" altLang="zh-CN" dirty="0" err="1" smtClean="0"/>
              <a:t>backup_label</a:t>
            </a:r>
            <a:endParaRPr lang="en-US" altLang="zh-CN" dirty="0" smtClean="0"/>
          </a:p>
          <a:p>
            <a:r>
              <a:rPr lang="zh-CN" altLang="en-US" dirty="0" smtClean="0"/>
              <a:t>逻辑解析（</a:t>
            </a:r>
            <a:r>
              <a:rPr lang="en-US" altLang="zh-CN" dirty="0" smtClean="0"/>
              <a:t>INSERT</a:t>
            </a:r>
            <a:r>
              <a:rPr lang="zh-CN" altLang="en-US" dirty="0" smtClean="0"/>
              <a:t>、</a:t>
            </a:r>
            <a:r>
              <a:rPr lang="en-US" altLang="zh-CN" dirty="0" smtClean="0"/>
              <a:t>DELETE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UPDATE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</a:p>
          <a:p>
            <a:pPr lvl="1"/>
            <a:r>
              <a:rPr kumimoji="1" lang="zh-CN" altLang="en-US" dirty="0" smtClean="0"/>
              <a:t>保证幂等性的</a:t>
            </a:r>
            <a:r>
              <a:rPr kumimoji="1" lang="en-US" altLang="zh-CN" dirty="0" smtClean="0"/>
              <a:t>physiological</a:t>
            </a:r>
            <a:r>
              <a:rPr kumimoji="1" lang="zh-CN" altLang="en-US" dirty="0" smtClean="0"/>
              <a:t>的日志类型</a:t>
            </a:r>
            <a:endParaRPr kumimoji="1" lang="en-US" altLang="zh-CN" dirty="0"/>
          </a:p>
          <a:p>
            <a:r>
              <a:rPr kumimoji="1" lang="en-US" altLang="zh-CN" dirty="0" smtClean="0"/>
              <a:t>Undo</a:t>
            </a:r>
          </a:p>
          <a:p>
            <a:pPr lvl="1"/>
            <a:r>
              <a:rPr kumimoji="1" lang="zh-CN" altLang="en-US" dirty="0" smtClean="0"/>
              <a:t>按照段的形式进行组织，存放行的旧版本。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不同对象的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放着不同的表空间中。</a:t>
            </a:r>
            <a:endParaRPr kumimoji="1" lang="en-US" altLang="zh-CN" dirty="0"/>
          </a:p>
          <a:p>
            <a:r>
              <a:rPr kumimoji="1" lang="en-US" altLang="zh-CN" dirty="0" err="1" smtClean="0"/>
              <a:t>CrashRecovery</a:t>
            </a:r>
            <a:r>
              <a:rPr kumimoji="1" lang="zh-CN" altLang="en-US" dirty="0"/>
              <a:t>，</a:t>
            </a:r>
            <a:r>
              <a:rPr lang="zh-CN" altLang="en-US" dirty="0" smtClean="0"/>
              <a:t>在</a:t>
            </a:r>
            <a:r>
              <a:rPr lang="en-US" altLang="zh-CN" dirty="0" err="1"/>
              <a:t>InnoDB</a:t>
            </a:r>
            <a:r>
              <a:rPr lang="zh-CN" altLang="en-US" dirty="0"/>
              <a:t>中，分为</a:t>
            </a:r>
            <a:r>
              <a:rPr lang="en-US" altLang="zh-CN" dirty="0"/>
              <a:t>4</a:t>
            </a:r>
            <a:r>
              <a:rPr lang="zh-CN" altLang="en-US" dirty="0"/>
              <a:t>步：</a:t>
            </a:r>
          </a:p>
          <a:p>
            <a:pPr lvl="1"/>
            <a:r>
              <a:rPr lang="en-US" altLang="zh-CN" dirty="0" err="1"/>
              <a:t>dwbuffer</a:t>
            </a:r>
            <a:r>
              <a:rPr lang="zh-CN" altLang="en-US" dirty="0"/>
              <a:t>：首先恢复 </a:t>
            </a:r>
            <a:r>
              <a:rPr lang="en-US" altLang="zh-CN" dirty="0" err="1"/>
              <a:t>Doublewrite</a:t>
            </a:r>
            <a:r>
              <a:rPr lang="en-US" altLang="zh-CN" dirty="0"/>
              <a:t> Buffer</a:t>
            </a:r>
            <a:r>
              <a:rPr lang="zh-CN" altLang="en-US" dirty="0"/>
              <a:t>中的数据</a:t>
            </a:r>
          </a:p>
          <a:p>
            <a:pPr lvl="1"/>
            <a:r>
              <a:rPr lang="en-US" altLang="zh-CN" dirty="0"/>
              <a:t>Scan</a:t>
            </a:r>
            <a:r>
              <a:rPr lang="zh-CN" altLang="en-US" dirty="0"/>
              <a:t>：从磁盘中读取</a:t>
            </a:r>
            <a:r>
              <a:rPr lang="en-US" altLang="zh-CN" dirty="0"/>
              <a:t>redo</a:t>
            </a:r>
            <a:r>
              <a:rPr lang="zh-CN" altLang="en-US" dirty="0"/>
              <a:t>日志记录，将其插入按照</a:t>
            </a:r>
            <a:r>
              <a:rPr lang="en-US" altLang="zh-CN" dirty="0"/>
              <a:t>LSN</a:t>
            </a:r>
            <a:r>
              <a:rPr lang="zh-CN" altLang="en-US" dirty="0"/>
              <a:t>排序的红黑树中。</a:t>
            </a:r>
          </a:p>
          <a:p>
            <a:pPr lvl="1"/>
            <a:r>
              <a:rPr lang="en-US" altLang="zh-CN" dirty="0"/>
              <a:t>Redo</a:t>
            </a:r>
            <a:r>
              <a:rPr lang="zh-CN" altLang="en-US" dirty="0"/>
              <a:t>：将脏页插入到</a:t>
            </a:r>
            <a:r>
              <a:rPr lang="en-US" altLang="zh-CN" dirty="0" err="1"/>
              <a:t>flush_list</a:t>
            </a:r>
            <a:r>
              <a:rPr lang="zh-CN" altLang="en-US" dirty="0"/>
              <a:t>中。</a:t>
            </a:r>
          </a:p>
          <a:p>
            <a:pPr lvl="1"/>
            <a:r>
              <a:rPr lang="en-US" altLang="zh-CN" dirty="0"/>
              <a:t>Undo</a:t>
            </a:r>
            <a:r>
              <a:rPr lang="zh-CN" altLang="en-US" dirty="0"/>
              <a:t>：将未完成的事务，进行回滚。</a:t>
            </a:r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谢谢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117191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2859</Words>
  <Application>Microsoft Macintosh PowerPoint</Application>
  <PresentationFormat>宽屏</PresentationFormat>
  <Paragraphs>352</Paragraphs>
  <Slides>30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4" baseType="lpstr">
      <vt:lpstr>DengXian</vt:lpstr>
      <vt:lpstr>DengXian Light</vt:lpstr>
      <vt:lpstr>Arial</vt:lpstr>
      <vt:lpstr>Office 主题</vt:lpstr>
      <vt:lpstr>工作分享</vt:lpstr>
      <vt:lpstr>之前数据库相关的经验</vt:lpstr>
      <vt:lpstr>近期工作</vt:lpstr>
      <vt:lpstr>PostgreSQL与MySQL/InnoDB的存储模块探讨</vt:lpstr>
      <vt:lpstr>存储引擎</vt:lpstr>
      <vt:lpstr>一、Access Method</vt:lpstr>
      <vt:lpstr>访问标识——TID</vt:lpstr>
      <vt:lpstr>多样的访问方法-Index (only) Scan</vt:lpstr>
      <vt:lpstr>灵活访问</vt:lpstr>
      <vt:lpstr>组合访问-Bitmap Index Scan</vt:lpstr>
      <vt:lpstr>InnoDB的AccessMethod</vt:lpstr>
      <vt:lpstr>二、Buffer Manager</vt:lpstr>
      <vt:lpstr>Buffer结构</vt:lpstr>
      <vt:lpstr>页面置换策略——Clock-sweep</vt:lpstr>
      <vt:lpstr>脏页刷写-Spread checkpoint</vt:lpstr>
      <vt:lpstr>InnoDB的BufferManager</vt:lpstr>
      <vt:lpstr>三、Lock Manager</vt:lpstr>
      <vt:lpstr>Spinlock</vt:lpstr>
      <vt:lpstr>Lightweight lock</vt:lpstr>
      <vt:lpstr>Regular lock</vt:lpstr>
      <vt:lpstr>SI ReadLock-串行化异常</vt:lpstr>
      <vt:lpstr>SIReadLock-快照隔离序列化</vt:lpstr>
      <vt:lpstr>SIReadLock-PG中如何检测序列化异常</vt:lpstr>
      <vt:lpstr>InnoDB的LockManager</vt:lpstr>
      <vt:lpstr>四、Log Manager</vt:lpstr>
      <vt:lpstr>提交策略——synchronous_commit </vt:lpstr>
      <vt:lpstr>写WAL</vt:lpstr>
      <vt:lpstr>读WAL</vt:lpstr>
      <vt:lpstr>InnoDB的LogManager</vt:lpstr>
      <vt:lpstr>谢谢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61</cp:revision>
  <dcterms:created xsi:type="dcterms:W3CDTF">2019-05-17T03:41:06Z</dcterms:created>
  <dcterms:modified xsi:type="dcterms:W3CDTF">2019-05-17T09:27:18Z</dcterms:modified>
</cp:coreProperties>
</file>