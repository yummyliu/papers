
<file path=[Content_Types].xml><?xml version="1.0" encoding="utf-8"?>
<Types xmlns="http://schemas.openxmlformats.org/package/2006/content-types">
  <Default Extension="xml" ContentType="application/xml"/>
  <Default Extension="jpeg" ContentType="image/jpeg"/>
  <Default Extension="png" ContentType="image/png"/>
  <Default Extension="rels" ContentType="application/vnd.openxmlformats-package.relationships+xml"/>
  <Default Extension="emf" ContentType="image/x-em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2.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3.xml" ContentType="application/vnd.openxmlformats-officedocument.presentationml.tags+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86" r:id="rId3"/>
    <p:sldId id="285" r:id="rId4"/>
    <p:sldId id="288" r:id="rId5"/>
    <p:sldId id="289" r:id="rId6"/>
    <p:sldId id="257" r:id="rId7"/>
    <p:sldId id="290" r:id="rId8"/>
    <p:sldId id="277" r:id="rId9"/>
    <p:sldId id="273" r:id="rId10"/>
    <p:sldId id="274" r:id="rId11"/>
    <p:sldId id="260" r:id="rId12"/>
    <p:sldId id="262" r:id="rId13"/>
    <p:sldId id="291" r:id="rId14"/>
    <p:sldId id="263" r:id="rId15"/>
    <p:sldId id="292" r:id="rId16"/>
    <p:sldId id="268" r:id="rId17"/>
    <p:sldId id="281" r:id="rId18"/>
    <p:sldId id="267" r:id="rId19"/>
    <p:sldId id="282" r:id="rId20"/>
    <p:sldId id="293" r:id="rId21"/>
    <p:sldId id="271" r:id="rId22"/>
    <p:sldId id="272"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65"/>
    <p:restoredTop sz="73764"/>
  </p:normalViewPr>
  <p:slideViewPr>
    <p:cSldViewPr snapToGrid="0" snapToObjects="1">
      <p:cViewPr>
        <p:scale>
          <a:sx n="90" d="100"/>
          <a:sy n="90" d="100"/>
        </p:scale>
        <p:origin x="232" y="224"/>
      </p:cViewPr>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FE15F5-6E8A-304E-A626-99BFA75D3031}" type="datetimeFigureOut">
              <a:rPr kumimoji="1" lang="zh-CN" altLang="en-US" smtClean="0"/>
              <a:t>2019/11/9</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A40FC4-4BF0-C949-B638-8140D736F858}" type="slidenum">
              <a:rPr kumimoji="1" lang="zh-CN" altLang="en-US" smtClean="0"/>
              <a:t>‹#›</a:t>
            </a:fld>
            <a:endParaRPr kumimoji="1" lang="zh-CN" altLang="en-US"/>
          </a:p>
        </p:txBody>
      </p:sp>
    </p:spTree>
    <p:extLst>
      <p:ext uri="{BB962C8B-B14F-4D97-AF65-F5344CB8AC3E}">
        <p14:creationId xmlns:p14="http://schemas.microsoft.com/office/powerpoint/2010/main" val="2034630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r>
              <a:rPr kumimoji="1" lang="zh-CN" altLang="en-US" dirty="0" smtClean="0"/>
              <a:t>数据缓冲区是</a:t>
            </a:r>
            <a:r>
              <a:rPr kumimoji="1" lang="en-US" altLang="zh-CN" dirty="0" smtClean="0"/>
              <a:t>Database</a:t>
            </a:r>
            <a:r>
              <a:rPr kumimoji="1" lang="zh-CN" altLang="en-US" dirty="0" smtClean="0"/>
              <a:t>内部的一个数据中间层，不会影响数据的正确性，但是对数据库的性能至关重要；</a:t>
            </a:r>
            <a:endParaRPr kumimoji="1" lang="en-US" altLang="zh-CN" dirty="0" smtClean="0"/>
          </a:p>
          <a:p>
            <a:pPr algn="l"/>
            <a:r>
              <a:rPr kumimoji="1" lang="zh-CN" altLang="en-US" dirty="0" smtClean="0"/>
              <a:t>这里全面讲述一下</a:t>
            </a:r>
            <a:r>
              <a:rPr kumimoji="1" lang="en-US" altLang="zh-CN" dirty="0" smtClean="0"/>
              <a:t>PostgreSQL</a:t>
            </a:r>
            <a:r>
              <a:rPr kumimoji="1" lang="zh-CN" altLang="en-US" dirty="0" smtClean="0"/>
              <a:t>的数缓冲区设计，</a:t>
            </a:r>
          </a:p>
          <a:p>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1</a:t>
            </a:fld>
            <a:endParaRPr kumimoji="1" lang="zh-CN" altLang="en-US"/>
          </a:p>
        </p:txBody>
      </p:sp>
    </p:spTree>
    <p:extLst>
      <p:ext uri="{BB962C8B-B14F-4D97-AF65-F5344CB8AC3E}">
        <p14:creationId xmlns:p14="http://schemas.microsoft.com/office/powerpoint/2010/main" val="1651996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zh-CN" altLang="en-US" dirty="0" smtClean="0"/>
              <a:t>计算机系统充满了各种抽象，但是要自己的抽象接口的行为是对的。</a:t>
            </a:r>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8</a:t>
            </a:fld>
            <a:endParaRPr kumimoji="1" lang="zh-CN" altLang="en-US"/>
          </a:p>
        </p:txBody>
      </p:sp>
    </p:spTree>
    <p:extLst>
      <p:ext uri="{BB962C8B-B14F-4D97-AF65-F5344CB8AC3E}">
        <p14:creationId xmlns:p14="http://schemas.microsoft.com/office/powerpoint/2010/main" val="6554737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9</a:t>
            </a:fld>
            <a:endParaRPr kumimoji="1" lang="zh-CN" altLang="en-US"/>
          </a:p>
        </p:txBody>
      </p:sp>
    </p:spTree>
    <p:extLst>
      <p:ext uri="{BB962C8B-B14F-4D97-AF65-F5344CB8AC3E}">
        <p14:creationId xmlns:p14="http://schemas.microsoft.com/office/powerpoint/2010/main" val="1600916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11</a:t>
            </a:fld>
            <a:endParaRPr kumimoji="1" lang="zh-CN" altLang="en-US"/>
          </a:p>
        </p:txBody>
      </p:sp>
    </p:spTree>
    <p:extLst>
      <p:ext uri="{BB962C8B-B14F-4D97-AF65-F5344CB8AC3E}">
        <p14:creationId xmlns:p14="http://schemas.microsoft.com/office/powerpoint/2010/main" val="8464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zh-CN" altLang="en-US" b="1" dirty="0" smtClean="0"/>
              <a:t>监控</a:t>
            </a:r>
            <a:r>
              <a:rPr kumimoji="1" lang="zh-CN" altLang="en-US" dirty="0" smtClean="0"/>
              <a:t>：除了</a:t>
            </a:r>
            <a:r>
              <a:rPr kumimoji="1" lang="en-US" altLang="zh-CN" dirty="0" err="1" smtClean="0"/>
              <a:t>BufferPool</a:t>
            </a:r>
            <a:r>
              <a:rPr kumimoji="1" lang="zh-CN" altLang="en-US" dirty="0" smtClean="0"/>
              <a:t>，</a:t>
            </a:r>
            <a:r>
              <a:rPr kumimoji="1" lang="en-US" altLang="zh-CN" dirty="0" smtClean="0"/>
              <a:t>Kernel</a:t>
            </a:r>
            <a:r>
              <a:rPr kumimoji="1" lang="zh-CN" altLang="en-US" dirty="0" smtClean="0"/>
              <a:t> </a:t>
            </a:r>
            <a:r>
              <a:rPr kumimoji="1" lang="en-US" altLang="zh-CN" dirty="0" smtClean="0"/>
              <a:t>Buffer</a:t>
            </a:r>
            <a:r>
              <a:rPr kumimoji="1" lang="zh-CN" altLang="en-US" dirty="0" smtClean="0"/>
              <a:t>是否被充满，同样重要</a:t>
            </a:r>
            <a:endParaRPr kumimoji="1" lang="en-US" altLang="zh-CN" dirty="0" smtClean="0"/>
          </a:p>
          <a:p>
            <a:r>
              <a:rPr kumimoji="1" lang="zh-CN" altLang="en-US" b="1" dirty="0" smtClean="0"/>
              <a:t>操作</a:t>
            </a:r>
            <a:r>
              <a:rPr kumimoji="1" lang="zh-CN" altLang="en-US" dirty="0" smtClean="0"/>
              <a:t>：注意</a:t>
            </a:r>
            <a:r>
              <a:rPr kumimoji="1" lang="en-US" altLang="zh-CN" dirty="0" smtClean="0"/>
              <a:t>Vacuum</a:t>
            </a:r>
            <a:r>
              <a:rPr kumimoji="1" lang="zh-CN" altLang="en-US" dirty="0" smtClean="0"/>
              <a:t>操作时 </a:t>
            </a:r>
            <a:r>
              <a:rPr kumimoji="1" lang="en-US" altLang="zh-CN" dirty="0" smtClean="0"/>
              <a:t>Kernel</a:t>
            </a:r>
            <a:r>
              <a:rPr kumimoji="1" lang="zh-CN" altLang="en-US" dirty="0" smtClean="0"/>
              <a:t> </a:t>
            </a:r>
            <a:r>
              <a:rPr kumimoji="1" lang="en-US" altLang="zh-CN" dirty="0" smtClean="0"/>
              <a:t>Buffer</a:t>
            </a:r>
            <a:r>
              <a:rPr kumimoji="1" lang="zh-CN" altLang="en-US" dirty="0" smtClean="0"/>
              <a:t>是否被刷空。</a:t>
            </a:r>
            <a:endParaRPr kumimoji="1" lang="en-US" altLang="zh-CN" dirty="0" smtClean="0"/>
          </a:p>
          <a:p>
            <a:r>
              <a:rPr kumimoji="1" lang="zh-CN" altLang="en-US" b="1" dirty="0" smtClean="0"/>
              <a:t>配置</a:t>
            </a:r>
            <a:r>
              <a:rPr kumimoji="1" lang="zh-CN" altLang="en-US" dirty="0" smtClean="0"/>
              <a:t>：</a:t>
            </a:r>
            <a:endParaRPr kumimoji="1" lang="en-US" altLang="zh-CN" dirty="0" smtClean="0"/>
          </a:p>
          <a:p>
            <a:pPr lvl="1"/>
            <a:r>
              <a:rPr kumimoji="1" lang="en-US" altLang="zh-CN" dirty="0" smtClean="0"/>
              <a:t>PostgreSQL</a:t>
            </a:r>
            <a:r>
              <a:rPr kumimoji="1" lang="zh-CN" altLang="en-US" dirty="0" smtClean="0"/>
              <a:t>参数 </a:t>
            </a:r>
            <a:r>
              <a:rPr kumimoji="1" lang="en-US" altLang="zh-CN" dirty="0" smtClean="0"/>
              <a:t>TODO</a:t>
            </a:r>
          </a:p>
          <a:p>
            <a:pPr lvl="1"/>
            <a:r>
              <a:rPr kumimoji="1" lang="en-US" altLang="zh-CN" dirty="0" smtClean="0"/>
              <a:t>Linux</a:t>
            </a:r>
            <a:r>
              <a:rPr kumimoji="1" lang="zh-CN" altLang="en-US" dirty="0" smtClean="0"/>
              <a:t>参数 </a:t>
            </a:r>
            <a:r>
              <a:rPr kumimoji="1" lang="en-US" altLang="zh-CN" dirty="0" smtClean="0"/>
              <a:t>TODO</a:t>
            </a:r>
          </a:p>
          <a:p>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12</a:t>
            </a:fld>
            <a:endParaRPr kumimoji="1" lang="zh-CN" altLang="en-US"/>
          </a:p>
        </p:txBody>
      </p:sp>
    </p:spTree>
    <p:extLst>
      <p:ext uri="{BB962C8B-B14F-4D97-AF65-F5344CB8AC3E}">
        <p14:creationId xmlns:p14="http://schemas.microsoft.com/office/powerpoint/2010/main" val="8564224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zh-CN" altLang="en-US" dirty="0" smtClean="0"/>
              <a:t>顺序的推进</a:t>
            </a:r>
            <a:r>
              <a:rPr kumimoji="1" lang="en-US" altLang="zh-CN" dirty="0" smtClean="0"/>
              <a:t>CHECKPOINT_LSN</a:t>
            </a:r>
          </a:p>
          <a:p>
            <a:r>
              <a:rPr kumimoji="1" lang="en-US" altLang="zh-CN" dirty="0" smtClean="0"/>
              <a:t>TODO:</a:t>
            </a:r>
            <a:r>
              <a:rPr kumimoji="1" lang="zh-CN" altLang="en-US" dirty="0" smtClean="0"/>
              <a:t>按什么排序</a:t>
            </a:r>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14</a:t>
            </a:fld>
            <a:endParaRPr kumimoji="1" lang="zh-CN" altLang="en-US"/>
          </a:p>
        </p:txBody>
      </p:sp>
    </p:spTree>
    <p:extLst>
      <p:ext uri="{BB962C8B-B14F-4D97-AF65-F5344CB8AC3E}">
        <p14:creationId xmlns:p14="http://schemas.microsoft.com/office/powerpoint/2010/main" val="1399194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en-US" altLang="zh-CN" dirty="0" smtClean="0"/>
              <a:t>TODO</a:t>
            </a:r>
            <a:r>
              <a:rPr kumimoji="1" lang="zh-CN" altLang="en-US" dirty="0" smtClean="0"/>
              <a:t>：每步都是那个进程在操作？</a:t>
            </a:r>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16</a:t>
            </a:fld>
            <a:endParaRPr kumimoji="1" lang="zh-CN" altLang="en-US"/>
          </a:p>
        </p:txBody>
      </p:sp>
    </p:spTree>
    <p:extLst>
      <p:ext uri="{BB962C8B-B14F-4D97-AF65-F5344CB8AC3E}">
        <p14:creationId xmlns:p14="http://schemas.microsoft.com/office/powerpoint/2010/main" val="17951909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幻灯片编号占位符 3"/>
          <p:cNvSpPr>
            <a:spLocks noGrp="1"/>
          </p:cNvSpPr>
          <p:nvPr>
            <p:ph type="sldNum" sz="quarter" idx="10"/>
          </p:nvPr>
        </p:nvSpPr>
        <p:spPr/>
        <p:txBody>
          <a:bodyPr/>
          <a:lstStyle/>
          <a:p>
            <a:fld id="{70A40FC4-4BF0-C949-B638-8140D736F858}" type="slidenum">
              <a:rPr kumimoji="1" lang="zh-CN" altLang="en-US" smtClean="0"/>
              <a:t>21</a:t>
            </a:fld>
            <a:endParaRPr kumimoji="1" lang="zh-CN" altLang="en-US"/>
          </a:p>
        </p:txBody>
      </p:sp>
    </p:spTree>
    <p:extLst>
      <p:ext uri="{BB962C8B-B14F-4D97-AF65-F5344CB8AC3E}">
        <p14:creationId xmlns:p14="http://schemas.microsoft.com/office/powerpoint/2010/main" val="6516002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smtClean="0"/>
              <a:t>单击此处编辑母版标题样式</a:t>
            </a:r>
            <a:endParaRPr kumimoji="1"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smtClean="0"/>
              <a:t>单击此处编辑母版副标题样式</a:t>
            </a:r>
            <a:endParaRPr kumimoji="1" lang="zh-CN" altLang="en-US"/>
          </a:p>
        </p:txBody>
      </p:sp>
      <p:sp>
        <p:nvSpPr>
          <p:cNvPr id="4" name="日期占位符 3"/>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5619588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smtClean="0"/>
              <a:t>单击此处编辑母版标题样式</a:t>
            </a:r>
            <a:endParaRPr kumimoji="1" lang="zh-CN" altLang="en-US"/>
          </a:p>
        </p:txBody>
      </p:sp>
      <p:sp>
        <p:nvSpPr>
          <p:cNvPr id="3" name="内容占位符 2"/>
          <p:cNvSpPr>
            <a:spLocks noGrp="1"/>
          </p:cNvSpPr>
          <p:nvPr>
            <p:ph idx="1"/>
          </p:nvPr>
        </p:nvSpPr>
        <p:spPr/>
        <p:txBody>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日期占位符 3"/>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003114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kumimoji="1" lang="zh-CN" altLang="en-US" smtClean="0"/>
              <a:t>单击此处编辑母版标题样式</a:t>
            </a:r>
            <a:endParaRPr kumimoji="1"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smtClean="0"/>
              <a:t>单击此处编辑母版文本样式</a:t>
            </a:r>
          </a:p>
        </p:txBody>
      </p:sp>
      <p:sp>
        <p:nvSpPr>
          <p:cNvPr id="4" name="日期占位符 3"/>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599865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smtClean="0"/>
              <a:t>单击此处编辑母版标题样式</a:t>
            </a:r>
            <a:endParaRPr kumimoji="1" lang="zh-CN" altLang="en-US"/>
          </a:p>
        </p:txBody>
      </p:sp>
      <p:sp>
        <p:nvSpPr>
          <p:cNvPr id="3" name="内容占位符 2"/>
          <p:cNvSpPr>
            <a:spLocks noGrp="1"/>
          </p:cNvSpPr>
          <p:nvPr>
            <p:ph sz="half" idx="1"/>
          </p:nvPr>
        </p:nvSpPr>
        <p:spPr>
          <a:xfrm>
            <a:off x="838200" y="1825625"/>
            <a:ext cx="5181600" cy="4351338"/>
          </a:xfrm>
        </p:spPr>
        <p:txBody>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内容占位符 3"/>
          <p:cNvSpPr>
            <a:spLocks noGrp="1"/>
          </p:cNvSpPr>
          <p:nvPr>
            <p:ph sz="half" idx="2"/>
          </p:nvPr>
        </p:nvSpPr>
        <p:spPr>
          <a:xfrm>
            <a:off x="6172200" y="1825625"/>
            <a:ext cx="5181600" cy="4351338"/>
          </a:xfrm>
        </p:spPr>
        <p:txBody>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5" name="日期占位符 4"/>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288394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zh-CN" altLang="en-US" smtClean="0"/>
              <a:t>单击此处编辑母版标题样式</a:t>
            </a:r>
            <a:endParaRPr kumimoji="1"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smtClean="0"/>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smtClean="0"/>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7" name="日期占位符 6"/>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幻灯片编号占位符 8"/>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832997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smtClean="0"/>
              <a:t>单击此处编辑母版标题样式</a:t>
            </a:r>
            <a:endParaRPr kumimoji="1" lang="zh-CN" altLang="en-US"/>
          </a:p>
        </p:txBody>
      </p:sp>
      <p:sp>
        <p:nvSpPr>
          <p:cNvPr id="3" name="日期占位符 2"/>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幻灯片编号占位符 4"/>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227466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幻灯片编号占位符 3"/>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294846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smtClean="0"/>
              <a:t>单击此处编辑母版标题样式</a:t>
            </a:r>
            <a:endParaRPr kumimoji="1"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smtClean="0"/>
              <a:t>单击此处编辑母版文本样式</a:t>
            </a:r>
          </a:p>
        </p:txBody>
      </p:sp>
      <p:sp>
        <p:nvSpPr>
          <p:cNvPr id="5" name="日期占位符 4"/>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2032069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smtClean="0"/>
              <a:t>单击此处编辑母版标题样式</a:t>
            </a:r>
            <a:endParaRPr kumimoji="1"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smtClean="0"/>
              <a:t>单击此处编辑母版文本样式</a:t>
            </a:r>
          </a:p>
        </p:txBody>
      </p:sp>
      <p:sp>
        <p:nvSpPr>
          <p:cNvPr id="5" name="日期占位符 4"/>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566774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smtClean="0"/>
              <a:t>单击此处编辑母版标题样式</a:t>
            </a:r>
            <a:endParaRPr kumimoji="1" lang="zh-CN" altLang="en-US"/>
          </a:p>
        </p:txBody>
      </p:sp>
      <p:sp>
        <p:nvSpPr>
          <p:cNvPr id="3" name="竖排文本占位符 2"/>
          <p:cNvSpPr>
            <a:spLocks noGrp="1"/>
          </p:cNvSpPr>
          <p:nvPr>
            <p:ph type="body" orient="vert" idx="1"/>
          </p:nvPr>
        </p:nvSpPr>
        <p:spPr/>
        <p:txBody>
          <a:bodyPr vert="eaVert"/>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日期占位符 3"/>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3333150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zh-CN" altLang="en-US" smtClean="0"/>
              <a:t>单击此处编辑母版标题样式</a:t>
            </a:r>
            <a:endParaRPr kumimoji="1" lang="zh-CN" altLang="en-US"/>
          </a:p>
        </p:txBody>
      </p:sp>
      <p:sp>
        <p:nvSpPr>
          <p:cNvPr id="3" name="竖排文本占位符 2"/>
          <p:cNvSpPr>
            <a:spLocks noGrp="1"/>
          </p:cNvSpPr>
          <p:nvPr>
            <p:ph type="body" orient="vert" idx="1"/>
          </p:nvPr>
        </p:nvSpPr>
        <p:spPr>
          <a:xfrm>
            <a:off x="838200" y="365125"/>
            <a:ext cx="7734300" cy="5811838"/>
          </a:xfrm>
        </p:spPr>
        <p:txBody>
          <a:bodyPr vert="eaVert"/>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日期占位符 3"/>
          <p:cNvSpPr>
            <a:spLocks noGrp="1"/>
          </p:cNvSpPr>
          <p:nvPr>
            <p:ph type="dt" sz="half" idx="10"/>
          </p:nvPr>
        </p:nvSpPr>
        <p:spPr/>
        <p:txBody>
          <a:bodyPr/>
          <a:lstStyle/>
          <a:p>
            <a:fld id="{2606237A-B1B2-7B4A-96C8-8424FC8FC192}" type="datetimeFigureOut">
              <a:rPr kumimoji="1" lang="zh-CN" altLang="en-US" smtClean="0"/>
              <a:t>2019/11/9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389114149"/>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smtClean="0"/>
              <a:t>单击此处编辑母版标题样式</a:t>
            </a:r>
            <a:endParaRPr kumimoji="1"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smtClean="0"/>
              <a:t>单击此处编辑母版文本样式</a:t>
            </a:r>
          </a:p>
          <a:p>
            <a:pPr lvl="1"/>
            <a:r>
              <a:rPr kumimoji="1" lang="zh-CN" altLang="en-US" smtClean="0"/>
              <a:t>二级</a:t>
            </a:r>
          </a:p>
          <a:p>
            <a:pPr lvl="2"/>
            <a:r>
              <a:rPr kumimoji="1" lang="zh-CN" altLang="en-US" smtClean="0"/>
              <a:t>三级</a:t>
            </a:r>
          </a:p>
          <a:p>
            <a:pPr lvl="3"/>
            <a:r>
              <a:rPr kumimoji="1" lang="zh-CN" altLang="en-US" smtClean="0"/>
              <a:t>四级</a:t>
            </a:r>
          </a:p>
          <a:p>
            <a:pPr lvl="4"/>
            <a:r>
              <a:rPr kumimoji="1" lang="zh-CN" altLang="en-US" smtClean="0"/>
              <a:t>五级</a:t>
            </a:r>
            <a:endParaRPr kumimoji="1"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06237A-B1B2-7B4A-96C8-8424FC8FC192}" type="datetimeFigureOut">
              <a:rPr kumimoji="1" lang="zh-CN" altLang="en-US" smtClean="0"/>
              <a:t>2019/11/9</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幻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36EE5B-26A1-FE4B-928C-0FB286A726A6}" type="slidenum">
              <a:rPr kumimoji="1" lang="zh-CN" altLang="en-US" smtClean="0"/>
              <a:t>‹#›</a:t>
            </a:fld>
            <a:endParaRPr kumimoji="1" lang="zh-CN" altLang="en-US"/>
          </a:p>
        </p:txBody>
      </p:sp>
    </p:spTree>
    <p:extLst>
      <p:ext uri="{BB962C8B-B14F-4D97-AF65-F5344CB8AC3E}">
        <p14:creationId xmlns:p14="http://schemas.microsoft.com/office/powerpoint/2010/main" val="1015448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1.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4.xml"/><Relationship Id="rId4" Type="http://schemas.openxmlformats.org/officeDocument/2006/relationships/image" Target="../media/image3.png"/><Relationship Id="rId1" Type="http://schemas.openxmlformats.org/officeDocument/2006/relationships/tags" Target="../tags/tag1.xml"/><Relationship Id="rId2"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6.xml"/><Relationship Id="rId4" Type="http://schemas.openxmlformats.org/officeDocument/2006/relationships/image" Target="../media/image4.emf"/><Relationship Id="rId5" Type="http://schemas.openxmlformats.org/officeDocument/2006/relationships/image" Target="../media/image5.emf"/><Relationship Id="rId1" Type="http://schemas.openxmlformats.org/officeDocument/2006/relationships/tags" Target="../tags/tag2.xml"/><Relationship Id="rId2"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6.emf"/></Relationships>
</file>

<file path=ppt/slides/_rels/slide1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4.xml"/><Relationship Id="rId3" Type="http://schemas.openxmlformats.org/officeDocument/2006/relationships/image" Target="../media/image7.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postgresql.org/docs/10/release-10-7.html" TargetMode="External"/><Relationship Id="rId4" Type="http://schemas.openxmlformats.org/officeDocument/2006/relationships/hyperlink" Target="https://www.postgresql.org/docs/9.6/release-9-6-12.html" TargetMode="External"/><Relationship Id="rId5" Type="http://schemas.openxmlformats.org/officeDocument/2006/relationships/hyperlink" Target="https://www.postgresql.org/docs/9.5/release-9-5-16.html" TargetMode="External"/><Relationship Id="rId6" Type="http://schemas.openxmlformats.org/officeDocument/2006/relationships/hyperlink" Target="https://www.postgresql.org/docs/9.4/release-9-4-21.html" TargetMode="External"/><Relationship Id="rId1" Type="http://schemas.openxmlformats.org/officeDocument/2006/relationships/slideLayout" Target="../slideLayouts/slideLayout2.xml"/><Relationship Id="rId2" Type="http://schemas.openxmlformats.org/officeDocument/2006/relationships/hyperlink" Target="https://www.postgresql.org/docs/11/release-11-2.html" TargetMode="External"/></Relationships>
</file>

<file path=ppt/slides/_rels/slide21.xml.rels><?xml version="1.0" encoding="UTF-8" standalone="yes"?>
<Relationships xmlns="http://schemas.openxmlformats.org/package/2006/relationships"><Relationship Id="rId11" Type="http://schemas.openxmlformats.org/officeDocument/2006/relationships/hyperlink" Target="https://news.ycombinator.com/item?id=11512653" TargetMode="External"/><Relationship Id="rId12" Type="http://schemas.openxmlformats.org/officeDocument/2006/relationships/hyperlink" Target="https://www.postgresql.org/message-id/flat/CAMsr+YHh+5Oq4xziwwoEfhoTZgr07vdGG+hu=1adXx59aTeaoQ@mail.gmail.com" TargetMode="External"/><Relationship Id="rId13" Type="http://schemas.openxmlformats.org/officeDocument/2006/relationships/hyperlink" Target="https://lwn.net/Articles/752063/" TargetMode="External"/><Relationship Id="rId14" Type="http://schemas.openxmlformats.org/officeDocument/2006/relationships/hyperlink" Target="https://wiki.postgresql.org/wiki/Fsync_Errors" TargetMode="External"/><Relationship Id="rId15" Type="http://schemas.openxmlformats.org/officeDocument/2006/relationships/hyperlink" Target="https://www.redhat.com/en/topics/data-storage/file-block-object-storage#:~:text=File%20storage%20organizes%20and%20represents,links%20it%20to%20associated%20metadata." TargetMode="External"/><Relationship Id="rId16" Type="http://schemas.openxmlformats.org/officeDocument/2006/relationships/hyperlink" Target="https://www.percona.com/blog/2019/02/22/postgresql-fsync-failure-fixed-minor-versions-released-feb-14-2019/" TargetMode="External"/><Relationship Id="rId17" Type="http://schemas.openxmlformats.org/officeDocument/2006/relationships/hyperlink" Target="https://fosdem.org/2019/schedule/event/postgresql_fsync/" TargetMode="External"/><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liuyangming.tech/10-2019/INNODB-vs-PgSQL-buffer.html" TargetMode="External"/><Relationship Id="rId4" Type="http://schemas.openxmlformats.org/officeDocument/2006/relationships/hyperlink" Target="https://lwn.net/Articles/457667/" TargetMode="External"/><Relationship Id="rId5" Type="http://schemas.openxmlformats.org/officeDocument/2006/relationships/hyperlink" Target="https://www.postgresql-archive.org/a-question-about-Direct-I-O-and-double-buffering-td2062191.html" TargetMode="External"/><Relationship Id="rId6" Type="http://schemas.openxmlformats.org/officeDocument/2006/relationships/hyperlink" Target="https://billtian.github.io/digoal.blog/2016/09/28/01.html" TargetMode="External"/><Relationship Id="rId7" Type="http://schemas.openxmlformats.org/officeDocument/2006/relationships/hyperlink" Target="http://yoshinorimatsunobu.blogspot.com/2014/03/how-syncfilerange-really-works.html" TargetMode="External"/><Relationship Id="rId8" Type="http://schemas.openxmlformats.org/officeDocument/2006/relationships/hyperlink" Target="https://git.postgresql.org/gitweb/?p=postgresql.git;a=commit;h=428b1d6b29ca599c5700d4bc4f4ce4c5880369bf" TargetMode="External"/><Relationship Id="rId9" Type="http://schemas.openxmlformats.org/officeDocument/2006/relationships/hyperlink" Target="https://git.postgresql.org/gitweb/?p=postgresql.git;a=commitdiff;h=9cd00c457e6a1ebb984167ac556a9961812a683c" TargetMode="External"/><Relationship Id="rId10" Type="http://schemas.openxmlformats.org/officeDocument/2006/relationships/hyperlink" Target="https://www.postgresql.org/docs/10/runtime-config-error-handling.html#GUC-DATA-SYNC-RETR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kumimoji="1" lang="zh-CN" altLang="en-US" dirty="0" smtClean="0"/>
              <a:t>再谈</a:t>
            </a:r>
            <a:r>
              <a:rPr kumimoji="1" lang="en-US" altLang="zh-CN" dirty="0" err="1" smtClean="0"/>
              <a:t>shared_buffer</a:t>
            </a:r>
            <a:endParaRPr kumimoji="1" lang="zh-CN" altLang="en-US" dirty="0"/>
          </a:p>
        </p:txBody>
      </p:sp>
      <p:sp>
        <p:nvSpPr>
          <p:cNvPr id="3" name="副标题 2"/>
          <p:cNvSpPr>
            <a:spLocks noGrp="1"/>
          </p:cNvSpPr>
          <p:nvPr>
            <p:ph type="subTitle" idx="1"/>
          </p:nvPr>
        </p:nvSpPr>
        <p:spPr/>
        <p:txBody>
          <a:bodyPr/>
          <a:lstStyle/>
          <a:p>
            <a:pPr algn="r"/>
            <a:r>
              <a:rPr kumimoji="1" lang="en-US" altLang="zh-CN" dirty="0" smtClean="0">
                <a:solidFill>
                  <a:schemeClr val="bg1">
                    <a:lumMod val="50000"/>
                  </a:schemeClr>
                </a:solidFill>
              </a:rPr>
              <a:t>——</a:t>
            </a:r>
            <a:r>
              <a:rPr kumimoji="1" lang="zh-CN" altLang="en-US" dirty="0" smtClean="0">
                <a:solidFill>
                  <a:schemeClr val="bg1">
                    <a:lumMod val="50000"/>
                  </a:schemeClr>
                </a:solidFill>
              </a:rPr>
              <a:t> 一个小问题的思考总结</a:t>
            </a:r>
            <a:endParaRPr kumimoji="1" lang="en-US" altLang="zh-CN" dirty="0" smtClean="0">
              <a:solidFill>
                <a:schemeClr val="bg1">
                  <a:lumMod val="50000"/>
                </a:schemeClr>
              </a:solidFill>
            </a:endParaRPr>
          </a:p>
          <a:p>
            <a:pPr algn="r"/>
            <a:endParaRPr kumimoji="1" lang="en-US" altLang="zh-CN" dirty="0" smtClean="0"/>
          </a:p>
          <a:p>
            <a:pPr algn="r"/>
            <a:r>
              <a:rPr kumimoji="1" lang="zh-CN" altLang="en-US" dirty="0" smtClean="0"/>
              <a:t>刘阳明</a:t>
            </a:r>
            <a:endParaRPr kumimoji="1" lang="zh-CN" altLang="en-US" dirty="0"/>
          </a:p>
        </p:txBody>
      </p:sp>
    </p:spTree>
    <p:extLst>
      <p:ext uri="{BB962C8B-B14F-4D97-AF65-F5344CB8AC3E}">
        <p14:creationId xmlns:p14="http://schemas.microsoft.com/office/powerpoint/2010/main" val="1546775706"/>
      </p:ext>
    </p:extLst>
  </p:cSld>
  <p:clrMapOvr>
    <a:masterClrMapping/>
  </p:clrMapOvr>
  <mc:AlternateContent xmlns:mc="http://schemas.openxmlformats.org/markup-compatibility/2006">
    <mc:Choice xmlns:p14="http://schemas.microsoft.com/office/powerpoint/2010/main" Requires="p14">
      <p:transition spd="slow" p14:dur="2000" advTm="58083"/>
    </mc:Choice>
    <mc:Fallback>
      <p:transition spd="slow" advTm="58083"/>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err="1"/>
              <a:t>shared_buffers</a:t>
            </a:r>
            <a:r>
              <a:rPr lang="en-US" altLang="zh-CN" dirty="0"/>
              <a:t> </a:t>
            </a:r>
            <a:endParaRPr kumimoji="1" lang="zh-CN" altLang="en-US" dirty="0"/>
          </a:p>
        </p:txBody>
      </p:sp>
      <p:sp>
        <p:nvSpPr>
          <p:cNvPr id="5" name="内容占位符 4"/>
          <p:cNvSpPr>
            <a:spLocks noGrp="1"/>
          </p:cNvSpPr>
          <p:nvPr>
            <p:ph idx="1"/>
          </p:nvPr>
        </p:nvSpPr>
        <p:spPr/>
        <p:txBody>
          <a:bodyPr>
            <a:normAutofit fontScale="77500" lnSpcReduction="20000"/>
          </a:bodyPr>
          <a:lstStyle/>
          <a:p>
            <a:r>
              <a:rPr lang="en-US" altLang="zh-CN" dirty="0" smtClean="0"/>
              <a:t>“Sets the </a:t>
            </a:r>
            <a:r>
              <a:rPr lang="en-US" altLang="zh-CN" dirty="0"/>
              <a:t>amount of memory the database server uses for shared memory buffers. The default is typically 128 megabytes (128MB), but might be less if your kernel settings will not support it (as determined during </a:t>
            </a:r>
            <a:r>
              <a:rPr lang="en-US" altLang="zh-CN" dirty="0" err="1"/>
              <a:t>initdb</a:t>
            </a:r>
            <a:r>
              <a:rPr lang="en-US" altLang="zh-CN" dirty="0"/>
              <a:t>). This setting must be at least 128 kilobytes. (Non-default values of BLCKSZ change the minimum.) However, settings significantly higher than the minimum are usually needed for good performance. This parameter can only be set at server start.</a:t>
            </a:r>
          </a:p>
          <a:p>
            <a:r>
              <a:rPr lang="en-US" altLang="zh-CN" dirty="0"/>
              <a:t>If you have a dedicated database server with 1GB or more of RAM, </a:t>
            </a:r>
            <a:r>
              <a:rPr lang="en-US" altLang="zh-CN" b="1" dirty="0">
                <a:solidFill>
                  <a:schemeClr val="accent1">
                    <a:lumMod val="50000"/>
                  </a:schemeClr>
                </a:solidFill>
              </a:rPr>
              <a:t>a reasonable </a:t>
            </a:r>
            <a:r>
              <a:rPr lang="en-US" altLang="zh-CN" b="1" dirty="0">
                <a:solidFill>
                  <a:srgbClr val="C00000"/>
                </a:solidFill>
              </a:rPr>
              <a:t>starting value </a:t>
            </a:r>
            <a:r>
              <a:rPr lang="en-US" altLang="zh-CN" b="1" dirty="0">
                <a:solidFill>
                  <a:schemeClr val="accent1">
                    <a:lumMod val="50000"/>
                  </a:schemeClr>
                </a:solidFill>
              </a:rPr>
              <a:t>for </a:t>
            </a:r>
            <a:r>
              <a:rPr lang="en-US" altLang="zh-CN" b="1" dirty="0" err="1">
                <a:solidFill>
                  <a:schemeClr val="accent1">
                    <a:lumMod val="50000"/>
                  </a:schemeClr>
                </a:solidFill>
              </a:rPr>
              <a:t>shared_buffers</a:t>
            </a:r>
            <a:r>
              <a:rPr lang="en-US" altLang="zh-CN" b="1" dirty="0">
                <a:solidFill>
                  <a:schemeClr val="accent1">
                    <a:lumMod val="50000"/>
                  </a:schemeClr>
                </a:solidFill>
              </a:rPr>
              <a:t> is </a:t>
            </a:r>
            <a:r>
              <a:rPr lang="en-US" altLang="zh-CN" b="1" dirty="0">
                <a:solidFill>
                  <a:srgbClr val="C00000"/>
                </a:solidFill>
              </a:rPr>
              <a:t>25%</a:t>
            </a:r>
            <a:r>
              <a:rPr lang="en-US" altLang="zh-CN" b="1" dirty="0">
                <a:solidFill>
                  <a:srgbClr val="FF0000"/>
                </a:solidFill>
              </a:rPr>
              <a:t> </a:t>
            </a:r>
            <a:r>
              <a:rPr lang="en-US" altLang="zh-CN" dirty="0"/>
              <a:t>of the memory in your system. There are some workloads where even larger settings for </a:t>
            </a:r>
            <a:r>
              <a:rPr lang="en-US" altLang="zh-CN" dirty="0" err="1"/>
              <a:t>shared_buffers</a:t>
            </a:r>
            <a:r>
              <a:rPr lang="en-US" altLang="zh-CN" dirty="0"/>
              <a:t> are effective, </a:t>
            </a:r>
            <a:r>
              <a:rPr lang="en-US" altLang="zh-CN" sz="3100" dirty="0"/>
              <a:t>but because PostgreSQL also relies on the operating system cache</a:t>
            </a:r>
            <a:r>
              <a:rPr lang="en-US" altLang="zh-CN" dirty="0"/>
              <a:t>, </a:t>
            </a:r>
            <a:r>
              <a:rPr lang="en-US" altLang="zh-CN" b="1" dirty="0">
                <a:solidFill>
                  <a:schemeClr val="accent1">
                    <a:lumMod val="50000"/>
                  </a:schemeClr>
                </a:solidFill>
              </a:rPr>
              <a:t>it is unlikely that an allocation of more than </a:t>
            </a:r>
            <a:r>
              <a:rPr lang="en-US" altLang="zh-CN" b="1" dirty="0">
                <a:solidFill>
                  <a:srgbClr val="C00000"/>
                </a:solidFill>
              </a:rPr>
              <a:t>40%</a:t>
            </a:r>
            <a:r>
              <a:rPr lang="en-US" altLang="zh-CN" b="1" dirty="0">
                <a:solidFill>
                  <a:schemeClr val="accent1">
                    <a:lumMod val="50000"/>
                  </a:schemeClr>
                </a:solidFill>
              </a:rPr>
              <a:t> of RAM to </a:t>
            </a:r>
            <a:r>
              <a:rPr lang="en-US" altLang="zh-CN" b="1" dirty="0" err="1">
                <a:solidFill>
                  <a:schemeClr val="accent1">
                    <a:lumMod val="50000"/>
                  </a:schemeClr>
                </a:solidFill>
              </a:rPr>
              <a:t>shared_buffers</a:t>
            </a:r>
            <a:r>
              <a:rPr lang="en-US" altLang="zh-CN" b="1" dirty="0">
                <a:solidFill>
                  <a:schemeClr val="accent1">
                    <a:lumMod val="50000"/>
                  </a:schemeClr>
                </a:solidFill>
              </a:rPr>
              <a:t> will work better than a smaller amount</a:t>
            </a:r>
            <a:r>
              <a:rPr lang="en-US" altLang="zh-CN" dirty="0"/>
              <a:t>. Larger settings for </a:t>
            </a:r>
            <a:r>
              <a:rPr lang="en-US" altLang="zh-CN" dirty="0" err="1"/>
              <a:t>shared_buffers</a:t>
            </a:r>
            <a:r>
              <a:rPr lang="en-US" altLang="zh-CN" dirty="0"/>
              <a:t> usually require a corresponding increase in </a:t>
            </a:r>
            <a:r>
              <a:rPr lang="en-US" altLang="zh-CN" dirty="0" err="1"/>
              <a:t>max_wal_size</a:t>
            </a:r>
            <a:r>
              <a:rPr lang="en-US" altLang="zh-CN" dirty="0"/>
              <a:t>, in order to spread out the process of writing large quantities of new or changed data over a longer period of time.</a:t>
            </a:r>
          </a:p>
          <a:p>
            <a:r>
              <a:rPr lang="en-US" altLang="zh-CN" dirty="0"/>
              <a:t>On systems with less than 1GB of RAM, a smaller percentage of RAM is appropriate, so as to leave adequate space for the operating system</a:t>
            </a:r>
            <a:r>
              <a:rPr lang="en-US" altLang="zh-CN" dirty="0" smtClean="0"/>
              <a:t>.”</a:t>
            </a:r>
            <a:endParaRPr lang="en-US" altLang="zh-CN" dirty="0"/>
          </a:p>
          <a:p>
            <a:endParaRPr kumimoji="1" lang="zh-CN" altLang="en-US" dirty="0"/>
          </a:p>
        </p:txBody>
      </p:sp>
    </p:spTree>
    <p:extLst>
      <p:ext uri="{BB962C8B-B14F-4D97-AF65-F5344CB8AC3E}">
        <p14:creationId xmlns:p14="http://schemas.microsoft.com/office/powerpoint/2010/main" val="1239041673"/>
      </p:ext>
    </p:extLst>
  </p:cSld>
  <p:clrMapOvr>
    <a:masterClrMapping/>
  </p:clrMapOvr>
  <mc:AlternateContent xmlns:mc="http://schemas.openxmlformats.org/markup-compatibility/2006">
    <mc:Choice xmlns:p14="http://schemas.microsoft.com/office/powerpoint/2010/main" Requires="p14">
      <p:transition spd="slow" p14:dur="2000" advTm="886"/>
    </mc:Choice>
    <mc:Fallback>
      <p:transition spd="slow" advTm="886"/>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kumimoji="1" lang="zh-CN" altLang="en-US" dirty="0" smtClean="0"/>
              <a:t>为什么</a:t>
            </a:r>
            <a:r>
              <a:rPr kumimoji="1" lang="en-US" altLang="zh-CN" dirty="0" smtClean="0"/>
              <a:t>PostgreSQL</a:t>
            </a:r>
            <a:r>
              <a:rPr kumimoji="1" lang="zh-CN" altLang="en-US" dirty="0" smtClean="0"/>
              <a:t>的</a:t>
            </a:r>
            <a:r>
              <a:rPr kumimoji="1" lang="en-US" altLang="zh-CN" dirty="0" err="1" smtClean="0"/>
              <a:t>shared_buffer</a:t>
            </a:r>
            <a:r>
              <a:rPr kumimoji="1" lang="zh-CN" altLang="en-US" dirty="0" smtClean="0"/>
              <a:t>推荐只用</a:t>
            </a:r>
            <a:r>
              <a:rPr kumimoji="1" lang="en-US" altLang="zh-CN" dirty="0" smtClean="0"/>
              <a:t>25%~40%</a:t>
            </a:r>
            <a:r>
              <a:rPr kumimoji="1" lang="zh-CN" altLang="en-US" dirty="0" smtClean="0"/>
              <a:t>的内存？</a:t>
            </a:r>
            <a:endParaRPr kumimoji="1" lang="zh-CN" altLang="en-US" dirty="0"/>
          </a:p>
        </p:txBody>
      </p:sp>
    </p:spTree>
    <p:extLst>
      <p:ext uri="{BB962C8B-B14F-4D97-AF65-F5344CB8AC3E}">
        <p14:creationId xmlns:p14="http://schemas.microsoft.com/office/powerpoint/2010/main" val="1823929011"/>
      </p:ext>
    </p:extLst>
  </p:cSld>
  <p:clrMapOvr>
    <a:masterClrMapping/>
  </p:clrMapOvr>
  <mc:AlternateContent xmlns:mc="http://schemas.openxmlformats.org/markup-compatibility/2006">
    <mc:Choice xmlns:p14="http://schemas.microsoft.com/office/powerpoint/2010/main" Requires="p14">
      <p:transition spd="slow" p14:dur="2000" advTm="755"/>
    </mc:Choice>
    <mc:Fallback>
      <p:transition spd="slow" advTm="755"/>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smtClean="0"/>
              <a:t>Why</a:t>
            </a:r>
            <a:r>
              <a:rPr lang="zh-CN" altLang="en-US" dirty="0" smtClean="0"/>
              <a:t> </a:t>
            </a:r>
            <a:r>
              <a:rPr lang="en-US" altLang="zh-CN" dirty="0" err="1" smtClean="0"/>
              <a:t>shared_buffers</a:t>
            </a:r>
            <a:r>
              <a:rPr lang="en-US" altLang="zh-CN" dirty="0"/>
              <a:t> </a:t>
            </a:r>
            <a:r>
              <a:rPr lang="en-US" altLang="zh-CN" dirty="0" smtClean="0"/>
              <a:t>25%~40%?</a:t>
            </a:r>
            <a:endParaRPr kumimoji="1" lang="zh-CN" altLang="en-US" dirty="0"/>
          </a:p>
        </p:txBody>
      </p:sp>
      <p:sp>
        <p:nvSpPr>
          <p:cNvPr id="5" name="内容占位符 4"/>
          <p:cNvSpPr>
            <a:spLocks noGrp="1"/>
          </p:cNvSpPr>
          <p:nvPr>
            <p:ph idx="1"/>
          </p:nvPr>
        </p:nvSpPr>
        <p:spPr/>
        <p:txBody>
          <a:bodyPr>
            <a:normAutofit/>
          </a:bodyPr>
          <a:lstStyle/>
          <a:p>
            <a:r>
              <a:rPr lang="en-US" altLang="zh-CN" sz="3100" b="1" dirty="0" smtClean="0"/>
              <a:t>“PostgreSQL</a:t>
            </a:r>
            <a:r>
              <a:rPr lang="en-US" altLang="zh-CN" sz="3100" b="1" dirty="0"/>
              <a:t> also relies on the operating system </a:t>
            </a:r>
            <a:r>
              <a:rPr lang="en-US" altLang="zh-CN" sz="3100" b="1" dirty="0" smtClean="0"/>
              <a:t>cache</a:t>
            </a:r>
          </a:p>
          <a:p>
            <a:pPr lvl="1"/>
            <a:endParaRPr lang="en-US" altLang="zh-CN" sz="2700" b="1" dirty="0" smtClean="0"/>
          </a:p>
          <a:p>
            <a:r>
              <a:rPr lang="en-US" altLang="zh-CN" sz="3100" b="1" dirty="0" smtClean="0"/>
              <a:t>“</a:t>
            </a:r>
            <a:r>
              <a:rPr lang="en-US" altLang="zh-CN" b="1" dirty="0" smtClean="0"/>
              <a:t>Larger </a:t>
            </a:r>
            <a:r>
              <a:rPr lang="en-US" altLang="zh-CN" b="1" dirty="0"/>
              <a:t>settings for </a:t>
            </a:r>
            <a:r>
              <a:rPr lang="en-US" altLang="zh-CN" b="1" dirty="0" err="1"/>
              <a:t>shared_buffers</a:t>
            </a:r>
            <a:r>
              <a:rPr lang="en-US" altLang="zh-CN" b="1" dirty="0"/>
              <a:t> usually require a corresponding increase in </a:t>
            </a:r>
            <a:r>
              <a:rPr lang="en-US" altLang="zh-CN" b="1" dirty="0" err="1"/>
              <a:t>max_wal_size</a:t>
            </a:r>
            <a:r>
              <a:rPr lang="en-US" altLang="zh-CN" b="1" dirty="0"/>
              <a:t>, in order to spread out the process of writing large quantities of new or changed data over a longer period of time</a:t>
            </a:r>
            <a:r>
              <a:rPr lang="en-US" altLang="zh-CN" dirty="0" smtClean="0"/>
              <a:t>.”</a:t>
            </a:r>
          </a:p>
          <a:p>
            <a:pPr lvl="1"/>
            <a:endParaRPr lang="en-US" altLang="zh-CN" dirty="0"/>
          </a:p>
        </p:txBody>
      </p:sp>
    </p:spTree>
    <p:extLst>
      <p:ext uri="{BB962C8B-B14F-4D97-AF65-F5344CB8AC3E}">
        <p14:creationId xmlns:p14="http://schemas.microsoft.com/office/powerpoint/2010/main" val="516518086"/>
      </p:ext>
    </p:extLst>
  </p:cSld>
  <p:clrMapOvr>
    <a:masterClrMapping/>
  </p:clrMapOvr>
  <mc:AlternateContent xmlns:mc="http://schemas.openxmlformats.org/markup-compatibility/2006">
    <mc:Choice xmlns:p14="http://schemas.microsoft.com/office/powerpoint/2010/main" Requires="p14">
      <p:transition spd="slow" p14:dur="2000" advTm="985"/>
    </mc:Choice>
    <mc:Fallback>
      <p:transition spd="slow" advTm="985"/>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smtClean="0"/>
              <a:t>Why</a:t>
            </a:r>
            <a:r>
              <a:rPr lang="zh-CN" altLang="en-US" dirty="0" smtClean="0"/>
              <a:t> </a:t>
            </a:r>
            <a:r>
              <a:rPr lang="en-US" altLang="zh-CN" dirty="0" err="1" smtClean="0"/>
              <a:t>shared_buffers</a:t>
            </a:r>
            <a:r>
              <a:rPr lang="en-US" altLang="zh-CN" dirty="0"/>
              <a:t> </a:t>
            </a:r>
            <a:r>
              <a:rPr lang="en-US" altLang="zh-CN" dirty="0" smtClean="0"/>
              <a:t>25%~40%?</a:t>
            </a:r>
            <a:endParaRPr kumimoji="1" lang="zh-CN" altLang="en-US" dirty="0"/>
          </a:p>
        </p:txBody>
      </p:sp>
      <p:sp>
        <p:nvSpPr>
          <p:cNvPr id="5" name="内容占位符 4"/>
          <p:cNvSpPr>
            <a:spLocks noGrp="1"/>
          </p:cNvSpPr>
          <p:nvPr>
            <p:ph idx="1"/>
          </p:nvPr>
        </p:nvSpPr>
        <p:spPr/>
        <p:txBody>
          <a:bodyPr>
            <a:normAutofit/>
          </a:bodyPr>
          <a:lstStyle/>
          <a:p>
            <a:r>
              <a:rPr lang="en-US" altLang="zh-CN" sz="3100" b="1" dirty="0" smtClean="0">
                <a:solidFill>
                  <a:schemeClr val="bg1">
                    <a:lumMod val="50000"/>
                  </a:schemeClr>
                </a:solidFill>
              </a:rPr>
              <a:t>“PostgreSQL</a:t>
            </a:r>
            <a:r>
              <a:rPr lang="en-US" altLang="zh-CN" sz="3100" b="1" dirty="0">
                <a:solidFill>
                  <a:schemeClr val="bg1">
                    <a:lumMod val="50000"/>
                  </a:schemeClr>
                </a:solidFill>
              </a:rPr>
              <a:t> also relies on the operating system </a:t>
            </a:r>
            <a:r>
              <a:rPr lang="en-US" altLang="zh-CN" sz="3100" b="1" dirty="0" smtClean="0">
                <a:solidFill>
                  <a:schemeClr val="bg1">
                    <a:lumMod val="50000"/>
                  </a:schemeClr>
                </a:solidFill>
              </a:rPr>
              <a:t>cache</a:t>
            </a:r>
          </a:p>
          <a:p>
            <a:pPr lvl="1"/>
            <a:r>
              <a:rPr lang="zh-CN" altLang="en-US" sz="2700" dirty="0" smtClean="0"/>
              <a:t>为什么要用</a:t>
            </a:r>
            <a:r>
              <a:rPr lang="en-US" altLang="zh-CN" sz="2700" dirty="0" smtClean="0"/>
              <a:t>Kernel</a:t>
            </a:r>
            <a:r>
              <a:rPr lang="zh-CN" altLang="en-US" sz="2700" dirty="0" smtClean="0"/>
              <a:t> </a:t>
            </a:r>
            <a:r>
              <a:rPr lang="en-US" altLang="zh-CN" sz="2700" dirty="0" smtClean="0"/>
              <a:t>cache</a:t>
            </a:r>
            <a:r>
              <a:rPr lang="zh-CN" altLang="en-US" sz="2700" dirty="0" smtClean="0"/>
              <a:t>？</a:t>
            </a:r>
            <a:endParaRPr lang="en-US" altLang="zh-CN" sz="2700" dirty="0" smtClean="0"/>
          </a:p>
          <a:p>
            <a:pPr lvl="2"/>
            <a:r>
              <a:rPr lang="en-US" altLang="zh-CN" sz="2400" b="1" dirty="0" smtClean="0"/>
              <a:t>Kernel</a:t>
            </a:r>
            <a:r>
              <a:rPr lang="zh-CN" altLang="en-US" sz="2400" b="1" dirty="0" smtClean="0"/>
              <a:t> </a:t>
            </a:r>
            <a:r>
              <a:rPr lang="en-US" altLang="zh-CN" sz="2400" b="1" dirty="0" smtClean="0"/>
              <a:t>cache</a:t>
            </a:r>
            <a:r>
              <a:rPr lang="zh-CN" altLang="en-US" sz="2300" dirty="0" smtClean="0"/>
              <a:t>可以看做多进程架构的应用系统的一种共享数据的方式</a:t>
            </a:r>
            <a:endParaRPr lang="en-US" altLang="zh-CN" sz="2300" dirty="0" smtClean="0"/>
          </a:p>
          <a:p>
            <a:r>
              <a:rPr lang="en-US" altLang="zh-CN" sz="3100" b="1" dirty="0" smtClean="0">
                <a:solidFill>
                  <a:schemeClr val="bg1">
                    <a:lumMod val="50000"/>
                  </a:schemeClr>
                </a:solidFill>
              </a:rPr>
              <a:t>“</a:t>
            </a:r>
            <a:r>
              <a:rPr lang="en-US" altLang="zh-CN" b="1" dirty="0" smtClean="0">
                <a:solidFill>
                  <a:schemeClr val="bg1">
                    <a:lumMod val="50000"/>
                  </a:schemeClr>
                </a:solidFill>
              </a:rPr>
              <a:t>Larger </a:t>
            </a:r>
            <a:r>
              <a:rPr lang="en-US" altLang="zh-CN" b="1" dirty="0">
                <a:solidFill>
                  <a:schemeClr val="bg1">
                    <a:lumMod val="50000"/>
                  </a:schemeClr>
                </a:solidFill>
              </a:rPr>
              <a:t>settings for </a:t>
            </a:r>
            <a:r>
              <a:rPr lang="en-US" altLang="zh-CN" b="1" dirty="0" err="1">
                <a:solidFill>
                  <a:schemeClr val="bg1">
                    <a:lumMod val="50000"/>
                  </a:schemeClr>
                </a:solidFill>
              </a:rPr>
              <a:t>shared_buffers</a:t>
            </a:r>
            <a:r>
              <a:rPr lang="en-US" altLang="zh-CN" b="1" dirty="0">
                <a:solidFill>
                  <a:schemeClr val="bg1">
                    <a:lumMod val="50000"/>
                  </a:schemeClr>
                </a:solidFill>
              </a:rPr>
              <a:t> usually require a corresponding increase in </a:t>
            </a:r>
            <a:r>
              <a:rPr lang="en-US" altLang="zh-CN" b="1" dirty="0" err="1">
                <a:solidFill>
                  <a:schemeClr val="bg1">
                    <a:lumMod val="50000"/>
                  </a:schemeClr>
                </a:solidFill>
              </a:rPr>
              <a:t>max_wal_size</a:t>
            </a:r>
            <a:r>
              <a:rPr lang="en-US" altLang="zh-CN" b="1" dirty="0">
                <a:solidFill>
                  <a:schemeClr val="bg1">
                    <a:lumMod val="50000"/>
                  </a:schemeClr>
                </a:solidFill>
              </a:rPr>
              <a:t>, in order to spread out the process of writing large quantities of new or changed data over a longer period of time</a:t>
            </a:r>
            <a:r>
              <a:rPr lang="en-US" altLang="zh-CN" dirty="0" smtClean="0">
                <a:solidFill>
                  <a:schemeClr val="bg1">
                    <a:lumMod val="50000"/>
                  </a:schemeClr>
                </a:solidFill>
              </a:rPr>
              <a:t>.”</a:t>
            </a:r>
          </a:p>
          <a:p>
            <a:pPr lvl="1"/>
            <a:r>
              <a:rPr lang="zh-CN" altLang="en-US" dirty="0" smtClean="0"/>
              <a:t>为什么少用</a:t>
            </a:r>
            <a:r>
              <a:rPr lang="en-US" altLang="zh-CN" dirty="0" err="1" smtClean="0"/>
              <a:t>shared_buffer</a:t>
            </a:r>
            <a:r>
              <a:rPr lang="zh-CN" altLang="en-US" dirty="0" smtClean="0"/>
              <a:t>？</a:t>
            </a:r>
            <a:endParaRPr lang="en-US" altLang="zh-CN" dirty="0" smtClean="0"/>
          </a:p>
          <a:p>
            <a:pPr lvl="2"/>
            <a:r>
              <a:rPr lang="zh-CN" altLang="en-US" dirty="0" smtClean="0"/>
              <a:t>由于</a:t>
            </a:r>
            <a:r>
              <a:rPr lang="en-US" altLang="zh-CN" dirty="0" smtClean="0"/>
              <a:t>PostgreSQL</a:t>
            </a:r>
            <a:r>
              <a:rPr lang="zh-CN" altLang="en-US" dirty="0" smtClean="0"/>
              <a:t>对数据页采用的是</a:t>
            </a:r>
            <a:r>
              <a:rPr lang="en-US" altLang="zh-CN" dirty="0" smtClean="0"/>
              <a:t>buffer</a:t>
            </a:r>
            <a:r>
              <a:rPr lang="zh-CN" altLang="en-US" dirty="0" smtClean="0"/>
              <a:t> </a:t>
            </a:r>
            <a:r>
              <a:rPr lang="en-US" altLang="zh-CN" dirty="0" smtClean="0"/>
              <a:t>I/O</a:t>
            </a:r>
            <a:r>
              <a:rPr lang="zh-CN" altLang="en-US" dirty="0" smtClean="0"/>
              <a:t>，那么更大的</a:t>
            </a:r>
            <a:r>
              <a:rPr lang="en-US" altLang="zh-CN" dirty="0" err="1" smtClean="0"/>
              <a:t>shared_buffer</a:t>
            </a:r>
            <a:r>
              <a:rPr lang="zh-CN" altLang="en-US" dirty="0" smtClean="0"/>
              <a:t>，意味着</a:t>
            </a:r>
            <a:r>
              <a:rPr lang="en-US" altLang="zh-CN" dirty="0" smtClean="0"/>
              <a:t>CHECKPOINT</a:t>
            </a:r>
            <a:r>
              <a:rPr lang="zh-CN" altLang="en-US" dirty="0" smtClean="0"/>
              <a:t>中更多的数据页</a:t>
            </a:r>
            <a:r>
              <a:rPr lang="en-US" altLang="zh-CN" sz="2400" b="1" i="1" dirty="0" err="1" smtClean="0"/>
              <a:t>writeback</a:t>
            </a:r>
            <a:r>
              <a:rPr lang="zh-CN" altLang="en-US" dirty="0" smtClean="0"/>
              <a:t>和更大的</a:t>
            </a:r>
            <a:r>
              <a:rPr lang="en-US" altLang="zh-CN" dirty="0" err="1" smtClean="0"/>
              <a:t>walsize</a:t>
            </a:r>
            <a:r>
              <a:rPr lang="zh-CN" altLang="en-US" dirty="0" smtClean="0"/>
              <a:t>需要保留。</a:t>
            </a:r>
            <a:endParaRPr lang="en-US" altLang="zh-CN" dirty="0" smtClean="0"/>
          </a:p>
          <a:p>
            <a:pPr lvl="1"/>
            <a:endParaRPr lang="en-US" altLang="zh-CN" dirty="0"/>
          </a:p>
        </p:txBody>
      </p:sp>
    </p:spTree>
    <p:extLst>
      <p:ext uri="{BB962C8B-B14F-4D97-AF65-F5344CB8AC3E}">
        <p14:creationId xmlns:p14="http://schemas.microsoft.com/office/powerpoint/2010/main" val="1342884342"/>
      </p:ext>
    </p:extLst>
  </p:cSld>
  <p:clrMapOvr>
    <a:masterClrMapping/>
  </p:clrMapOvr>
  <mc:AlternateContent xmlns:mc="http://schemas.openxmlformats.org/markup-compatibility/2006">
    <mc:Choice xmlns:p14="http://schemas.microsoft.com/office/powerpoint/2010/main" Requires="p14">
      <p:transition spd="slow" p14:dur="2000" advTm="519"/>
    </mc:Choice>
    <mc:Fallback>
      <p:transition spd="slow" advTm="519"/>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outline</a:t>
            </a:r>
            <a:endParaRPr kumimoji="1" lang="zh-CN" altLang="en-US" dirty="0"/>
          </a:p>
        </p:txBody>
      </p:sp>
      <p:sp>
        <p:nvSpPr>
          <p:cNvPr id="3" name="内容占位符 2"/>
          <p:cNvSpPr>
            <a:spLocks noGrp="1"/>
          </p:cNvSpPr>
          <p:nvPr>
            <p:ph idx="1"/>
          </p:nvPr>
        </p:nvSpPr>
        <p:spPr/>
        <p:txBody>
          <a:bodyPr/>
          <a:lstStyle/>
          <a:p>
            <a:r>
              <a:rPr kumimoji="1" lang="en-US" altLang="zh-CN" dirty="0" smtClean="0"/>
              <a:t>double</a:t>
            </a:r>
            <a:r>
              <a:rPr kumimoji="1" lang="zh-CN" altLang="en-US" dirty="0" smtClean="0"/>
              <a:t> </a:t>
            </a:r>
            <a:r>
              <a:rPr kumimoji="1" lang="en-US" altLang="zh-CN" dirty="0" smtClean="0"/>
              <a:t>buffer</a:t>
            </a:r>
            <a:r>
              <a:rPr kumimoji="1" lang="zh-CN" altLang="en-US" dirty="0" smtClean="0"/>
              <a:t>。</a:t>
            </a:r>
            <a:endParaRPr kumimoji="1" lang="en-US" altLang="zh-CN" dirty="0" smtClean="0"/>
          </a:p>
          <a:p>
            <a:r>
              <a:rPr kumimoji="1" lang="en-US" altLang="zh-CN" dirty="0" smtClean="0"/>
              <a:t>Write back</a:t>
            </a:r>
            <a:endParaRPr kumimoji="1" lang="en-US" altLang="zh-CN" dirty="0" smtClean="0"/>
          </a:p>
        </p:txBody>
      </p:sp>
    </p:spTree>
    <p:extLst>
      <p:ext uri="{BB962C8B-B14F-4D97-AF65-F5344CB8AC3E}">
        <p14:creationId xmlns:p14="http://schemas.microsoft.com/office/powerpoint/2010/main" val="263371279"/>
      </p:ext>
    </p:extLst>
  </p:cSld>
  <p:clrMapOvr>
    <a:masterClrMapping/>
  </p:clrMapOvr>
  <mc:AlternateContent xmlns:mc="http://schemas.openxmlformats.org/markup-compatibility/2006">
    <mc:Choice xmlns:p14="http://schemas.microsoft.com/office/powerpoint/2010/main" Requires="p14">
      <p:transition spd="slow" p14:dur="2000" advTm="1081"/>
    </mc:Choice>
    <mc:Fallback>
      <p:transition spd="slow" advTm="1081"/>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outline</a:t>
            </a:r>
            <a:endParaRPr kumimoji="1" lang="zh-CN" altLang="en-US" dirty="0"/>
          </a:p>
        </p:txBody>
      </p:sp>
      <p:sp>
        <p:nvSpPr>
          <p:cNvPr id="3" name="内容占位符 2"/>
          <p:cNvSpPr>
            <a:spLocks noGrp="1"/>
          </p:cNvSpPr>
          <p:nvPr>
            <p:ph idx="1"/>
          </p:nvPr>
        </p:nvSpPr>
        <p:spPr/>
        <p:txBody>
          <a:bodyPr/>
          <a:lstStyle/>
          <a:p>
            <a:r>
              <a:rPr kumimoji="1" lang="en-US" altLang="zh-CN" dirty="0"/>
              <a:t>double</a:t>
            </a:r>
            <a:r>
              <a:rPr kumimoji="1" lang="zh-CN" altLang="en-US" dirty="0"/>
              <a:t> </a:t>
            </a:r>
            <a:r>
              <a:rPr kumimoji="1" lang="en-US" altLang="zh-CN" dirty="0"/>
              <a:t>buffer</a:t>
            </a:r>
            <a:r>
              <a:rPr kumimoji="1" lang="zh-CN" altLang="en-US" dirty="0"/>
              <a:t>。</a:t>
            </a:r>
            <a:endParaRPr kumimoji="1" lang="en-US" altLang="zh-CN" dirty="0"/>
          </a:p>
          <a:p>
            <a:r>
              <a:rPr kumimoji="1" lang="en-US" altLang="zh-CN" dirty="0">
                <a:solidFill>
                  <a:schemeClr val="bg1">
                    <a:lumMod val="50000"/>
                  </a:schemeClr>
                </a:solidFill>
              </a:rPr>
              <a:t>Write back</a:t>
            </a:r>
          </a:p>
        </p:txBody>
      </p:sp>
    </p:spTree>
    <p:extLst>
      <p:ext uri="{BB962C8B-B14F-4D97-AF65-F5344CB8AC3E}">
        <p14:creationId xmlns:p14="http://schemas.microsoft.com/office/powerpoint/2010/main" val="1905008652"/>
      </p:ext>
    </p:extLst>
  </p:cSld>
  <p:clrMapOvr>
    <a:masterClrMapping/>
  </p:clrMapOvr>
  <mc:AlternateContent xmlns:mc="http://schemas.openxmlformats.org/markup-compatibility/2006">
    <mc:Choice xmlns:p14="http://schemas.microsoft.com/office/powerpoint/2010/main" Requires="p14">
      <p:transition spd="slow" p14:dur="2000" advTm="1512"/>
    </mc:Choice>
    <mc:Fallback>
      <p:transition spd="slow" advTm="1512"/>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Linux</a:t>
            </a:r>
            <a:r>
              <a:rPr kumimoji="1" lang="zh-CN" altLang="en-US" dirty="0" smtClean="0"/>
              <a:t>文件</a:t>
            </a:r>
            <a:r>
              <a:rPr kumimoji="1" lang="en-US" altLang="zh-CN" dirty="0" smtClean="0"/>
              <a:t>I/O</a:t>
            </a:r>
            <a:endParaRPr kumimoji="1" lang="zh-CN" altLang="en-US" dirty="0"/>
          </a:p>
        </p:txBody>
      </p:sp>
      <p:sp>
        <p:nvSpPr>
          <p:cNvPr id="4" name="内容占位符 3"/>
          <p:cNvSpPr>
            <a:spLocks noGrp="1"/>
          </p:cNvSpPr>
          <p:nvPr>
            <p:ph sz="half" idx="2"/>
          </p:nvPr>
        </p:nvSpPr>
        <p:spPr/>
        <p:txBody>
          <a:bodyPr/>
          <a:lstStyle/>
          <a:p>
            <a:r>
              <a:rPr kumimoji="1" lang="en-US" altLang="zh-CN" b="1" dirty="0"/>
              <a:t>o</a:t>
            </a:r>
            <a:r>
              <a:rPr kumimoji="1" lang="en-US" altLang="zh-CN" b="1" dirty="0" smtClean="0"/>
              <a:t>pen()</a:t>
            </a:r>
            <a:r>
              <a:rPr kumimoji="1" lang="zh-CN" altLang="en-US" b="1" dirty="0" smtClean="0"/>
              <a:t>的两个参数</a:t>
            </a:r>
            <a:endParaRPr kumimoji="1" lang="en-US" altLang="zh-CN" b="1" dirty="0" smtClean="0"/>
          </a:p>
          <a:p>
            <a:pPr lvl="1"/>
            <a:r>
              <a:rPr kumimoji="1" lang="en-US" altLang="zh-CN" b="1" dirty="0" smtClean="0"/>
              <a:t>O_DIRECT</a:t>
            </a:r>
          </a:p>
          <a:p>
            <a:pPr lvl="2"/>
            <a:r>
              <a:rPr kumimoji="1" lang="en-US" altLang="zh-CN" b="1" dirty="0"/>
              <a:t>DIRECT</a:t>
            </a:r>
            <a:r>
              <a:rPr kumimoji="1" lang="zh-CN" altLang="en-US" b="1" dirty="0"/>
              <a:t> </a:t>
            </a:r>
            <a:r>
              <a:rPr kumimoji="1" lang="en-US" altLang="zh-CN" b="1" dirty="0" smtClean="0"/>
              <a:t>I/O</a:t>
            </a:r>
            <a:endParaRPr kumimoji="1" lang="en-US" altLang="zh-CN" b="1" dirty="0"/>
          </a:p>
          <a:p>
            <a:pPr lvl="2"/>
            <a:r>
              <a:rPr kumimoji="1" lang="en-US" altLang="zh-CN" b="1" dirty="0"/>
              <a:t>BUFFER</a:t>
            </a:r>
            <a:r>
              <a:rPr kumimoji="1" lang="zh-CN" altLang="en-US" b="1" dirty="0"/>
              <a:t> </a:t>
            </a:r>
            <a:r>
              <a:rPr kumimoji="1" lang="en-US" altLang="zh-CN" b="1" dirty="0" smtClean="0"/>
              <a:t>I/O</a:t>
            </a:r>
          </a:p>
          <a:p>
            <a:pPr lvl="1"/>
            <a:r>
              <a:rPr kumimoji="1" lang="en-US" altLang="zh-CN" b="1" dirty="0" smtClean="0"/>
              <a:t>O_SYNC</a:t>
            </a:r>
          </a:p>
          <a:p>
            <a:pPr lvl="2"/>
            <a:r>
              <a:rPr lang="en-US" altLang="zh-CN" b="1" dirty="0" smtClean="0"/>
              <a:t>Synchronized </a:t>
            </a:r>
            <a:r>
              <a:rPr lang="en-US" altLang="zh-CN" b="1" dirty="0" smtClean="0"/>
              <a:t>I/O</a:t>
            </a:r>
            <a:endParaRPr kumimoji="1" lang="en-US" altLang="zh-CN" b="1" dirty="0" smtClean="0"/>
          </a:p>
        </p:txBody>
      </p:sp>
      <p:pic>
        <p:nvPicPr>
          <p:cNvPr id="7" name="内容占位符 6"/>
          <p:cNvPicPr>
            <a:picLocks noGrp="1" noChangeAspect="1"/>
          </p:cNvPicPr>
          <p:nvPr>
            <p:ph sz="half" idx="1"/>
          </p:nvPr>
        </p:nvPicPr>
        <p:blipFill>
          <a:blip r:embed="rId3"/>
          <a:stretch>
            <a:fillRect/>
          </a:stretch>
        </p:blipFill>
        <p:spPr>
          <a:xfrm>
            <a:off x="838200" y="2028689"/>
            <a:ext cx="5181600" cy="3945209"/>
          </a:xfrm>
          <a:prstGeom prst="rect">
            <a:avLst/>
          </a:prstGeom>
        </p:spPr>
      </p:pic>
    </p:spTree>
    <p:extLst>
      <p:ext uri="{BB962C8B-B14F-4D97-AF65-F5344CB8AC3E}">
        <p14:creationId xmlns:p14="http://schemas.microsoft.com/office/powerpoint/2010/main" val="1848950178"/>
      </p:ext>
    </p:extLst>
  </p:cSld>
  <p:clrMapOvr>
    <a:masterClrMapping/>
  </p:clrMapOvr>
  <mc:AlternateContent xmlns:mc="http://schemas.openxmlformats.org/markup-compatibility/2006">
    <mc:Choice xmlns:p14="http://schemas.microsoft.com/office/powerpoint/2010/main" Requires="p14">
      <p:transition spd="slow" p14:dur="2000" advTm="1039"/>
    </mc:Choice>
    <mc:Fallback>
      <p:transition spd="slow" advTm="1039"/>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PostgreSQL</a:t>
            </a:r>
            <a:r>
              <a:rPr kumimoji="1" lang="zh-CN" altLang="en-US" dirty="0" smtClean="0"/>
              <a:t>的</a:t>
            </a:r>
            <a:r>
              <a:rPr kumimoji="1" lang="en-US" altLang="zh-CN" dirty="0" smtClean="0"/>
              <a:t>double buffer</a:t>
            </a:r>
            <a:endParaRPr kumimoji="1" lang="zh-CN" altLang="en-US" dirty="0"/>
          </a:p>
        </p:txBody>
      </p:sp>
      <p:pic>
        <p:nvPicPr>
          <p:cNvPr id="20" name="内容占位符 19"/>
          <p:cNvPicPr>
            <a:picLocks noGrp="1" noChangeAspect="1"/>
          </p:cNvPicPr>
          <p:nvPr>
            <p:ph idx="1"/>
          </p:nvPr>
        </p:nvPicPr>
        <p:blipFill>
          <a:blip r:embed="rId3"/>
          <a:stretch>
            <a:fillRect/>
          </a:stretch>
        </p:blipFill>
        <p:spPr>
          <a:xfrm>
            <a:off x="1831496" y="1825625"/>
            <a:ext cx="8529008" cy="4351338"/>
          </a:xfrm>
          <a:prstGeom prst="rect">
            <a:avLst/>
          </a:prstGeom>
        </p:spPr>
      </p:pic>
    </p:spTree>
    <p:extLst>
      <p:ext uri="{BB962C8B-B14F-4D97-AF65-F5344CB8AC3E}">
        <p14:creationId xmlns:p14="http://schemas.microsoft.com/office/powerpoint/2010/main" val="1393019265"/>
      </p:ext>
    </p:extLst>
  </p:cSld>
  <p:clrMapOvr>
    <a:masterClrMapping/>
  </p:clrMapOvr>
  <mc:AlternateContent xmlns:mc="http://schemas.openxmlformats.org/markup-compatibility/2006">
    <mc:Choice xmlns:p14="http://schemas.microsoft.com/office/powerpoint/2010/main" Requires="p14">
      <p:transition spd="slow" p14:dur="2000" advTm="136384"/>
    </mc:Choice>
    <mc:Fallback>
      <p:transition spd="slow" advTm="136384"/>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gn="ctr"/>
            <a:r>
              <a:rPr kumimoji="1" lang="en-US" altLang="zh-CN" dirty="0"/>
              <a:t>PostgreSQL</a:t>
            </a:r>
            <a:r>
              <a:rPr kumimoji="1" lang="zh-CN" altLang="en-US" dirty="0"/>
              <a:t>为什么这么设计</a:t>
            </a:r>
            <a:r>
              <a:rPr kumimoji="1" lang="zh-CN" altLang="en-US" dirty="0" smtClean="0"/>
              <a:t>？</a:t>
            </a:r>
            <a:r>
              <a:rPr kumimoji="1" lang="en-US" altLang="zh-CN" dirty="0" smtClean="0"/>
              <a:t/>
            </a:r>
            <a:br>
              <a:rPr kumimoji="1" lang="en-US" altLang="zh-CN" dirty="0" smtClean="0"/>
            </a:br>
            <a:endParaRPr kumimoji="1" lang="zh-CN" altLang="en-US" dirty="0"/>
          </a:p>
        </p:txBody>
      </p:sp>
    </p:spTree>
    <p:extLst>
      <p:ext uri="{BB962C8B-B14F-4D97-AF65-F5344CB8AC3E}">
        <p14:creationId xmlns:p14="http://schemas.microsoft.com/office/powerpoint/2010/main" val="995632508"/>
      </p:ext>
    </p:extLst>
  </p:cSld>
  <p:clrMapOvr>
    <a:masterClrMapping/>
  </p:clrMapOvr>
  <mc:AlternateContent xmlns:mc="http://schemas.openxmlformats.org/markup-compatibility/2006">
    <mc:Choice xmlns:p14="http://schemas.microsoft.com/office/powerpoint/2010/main" Requires="p14">
      <p:transition spd="slow" p14:dur="2000" advTm="17713"/>
    </mc:Choice>
    <mc:Fallback>
      <p:transition spd="slow" advTm="17713"/>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dirty="0" smtClean="0"/>
              <a:t>个人见解</a:t>
            </a:r>
            <a:endParaRPr kumimoji="1" lang="zh-CN" altLang="en-US" dirty="0"/>
          </a:p>
        </p:txBody>
      </p:sp>
      <p:sp>
        <p:nvSpPr>
          <p:cNvPr id="3" name="内容占位符 2"/>
          <p:cNvSpPr>
            <a:spLocks noGrp="1"/>
          </p:cNvSpPr>
          <p:nvPr>
            <p:ph idx="1"/>
          </p:nvPr>
        </p:nvSpPr>
        <p:spPr>
          <a:xfrm>
            <a:off x="838200" y="1457325"/>
            <a:ext cx="3842362" cy="5287502"/>
          </a:xfrm>
        </p:spPr>
        <p:txBody>
          <a:bodyPr>
            <a:normAutofit lnSpcReduction="10000"/>
          </a:bodyPr>
          <a:lstStyle/>
          <a:p>
            <a:r>
              <a:rPr kumimoji="1" lang="zh-CN" altLang="en-US" dirty="0" smtClean="0"/>
              <a:t>诞生</a:t>
            </a:r>
            <a:r>
              <a:rPr kumimoji="1" lang="en-US" altLang="zh-CN" dirty="0" smtClean="0"/>
              <a:t>PostgreSQL</a:t>
            </a:r>
            <a:r>
              <a:rPr kumimoji="1" lang="zh-CN" altLang="en-US" dirty="0" smtClean="0"/>
              <a:t>时的历史原因</a:t>
            </a:r>
            <a:endParaRPr kumimoji="1" lang="en-US" altLang="zh-CN" dirty="0" smtClean="0"/>
          </a:p>
          <a:p>
            <a:pPr lvl="1"/>
            <a:r>
              <a:rPr kumimoji="1" lang="zh-CN" altLang="en-US" dirty="0" smtClean="0"/>
              <a:t>数据库原理的研究性项目，充分利用</a:t>
            </a:r>
            <a:r>
              <a:rPr kumimoji="1" lang="en-US" altLang="zh-CN" dirty="0" err="1" smtClean="0"/>
              <a:t>Os</a:t>
            </a:r>
            <a:r>
              <a:rPr kumimoji="1" lang="zh-CN" altLang="en-US" dirty="0" smtClean="0"/>
              <a:t>机制，可以专注在数据库内核上</a:t>
            </a:r>
            <a:endParaRPr kumimoji="1" lang="en-US" altLang="zh-CN" dirty="0" smtClean="0"/>
          </a:p>
          <a:p>
            <a:pPr lvl="1"/>
            <a:r>
              <a:rPr kumimoji="1" lang="en-US" altLang="zh-CN" dirty="0" smtClean="0"/>
              <a:t>IO</a:t>
            </a:r>
            <a:r>
              <a:rPr kumimoji="1" lang="zh-CN" altLang="en-US" dirty="0" smtClean="0"/>
              <a:t>栈的开发需要一定工作量，研究人员有限</a:t>
            </a:r>
            <a:endParaRPr kumimoji="1" lang="en-US" altLang="zh-CN" dirty="0" smtClean="0"/>
          </a:p>
          <a:p>
            <a:pPr lvl="1"/>
            <a:r>
              <a:rPr kumimoji="1" lang="zh-CN" altLang="en-US" dirty="0" smtClean="0"/>
              <a:t>其实用起来差不了不少</a:t>
            </a:r>
            <a:endParaRPr kumimoji="1" lang="en-US" altLang="zh-CN" dirty="0" smtClean="0"/>
          </a:p>
          <a:p>
            <a:r>
              <a:rPr kumimoji="1" lang="zh-CN" altLang="en-US" dirty="0" smtClean="0"/>
              <a:t>多进程和多线程的并发机制的不同，其对内存的使用方式也会有差别。</a:t>
            </a:r>
            <a:endParaRPr kumimoji="1" lang="zh-CN" altLang="en-US" dirty="0"/>
          </a:p>
        </p:txBody>
      </p:sp>
      <p:pic>
        <p:nvPicPr>
          <p:cNvPr id="5" name="内容占位符 3"/>
          <p:cNvPicPr>
            <a:picLocks noChangeAspect="1"/>
          </p:cNvPicPr>
          <p:nvPr/>
        </p:nvPicPr>
        <p:blipFill>
          <a:blip r:embed="rId4"/>
          <a:stretch>
            <a:fillRect/>
          </a:stretch>
        </p:blipFill>
        <p:spPr>
          <a:xfrm>
            <a:off x="4875824" y="1457325"/>
            <a:ext cx="6282714" cy="5054138"/>
          </a:xfrm>
          <a:prstGeom prst="rect">
            <a:avLst/>
          </a:prstGeom>
        </p:spPr>
      </p:pic>
      <p:sp>
        <p:nvSpPr>
          <p:cNvPr id="6" name="矩形 5"/>
          <p:cNvSpPr/>
          <p:nvPr/>
        </p:nvSpPr>
        <p:spPr>
          <a:xfrm>
            <a:off x="5300664" y="3957638"/>
            <a:ext cx="5857874" cy="757800"/>
          </a:xfrm>
          <a:prstGeom prst="rect">
            <a:avLst/>
          </a:prstGeom>
          <a:noFill/>
          <a:ln w="57150">
            <a:solidFill>
              <a:srgbClr val="C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Tree>
    <p:custDataLst>
      <p:tags r:id="rId1"/>
    </p:custDataLst>
    <p:extLst>
      <p:ext uri="{BB962C8B-B14F-4D97-AF65-F5344CB8AC3E}">
        <p14:creationId xmlns:p14="http://schemas.microsoft.com/office/powerpoint/2010/main" val="1869688028"/>
      </p:ext>
    </p:extLst>
  </p:cSld>
  <p:clrMapOvr>
    <a:masterClrMapping/>
  </p:clrMapOvr>
  <mc:AlternateContent xmlns:mc="http://schemas.openxmlformats.org/markup-compatibility/2006">
    <mc:Choice xmlns:p14="http://schemas.microsoft.com/office/powerpoint/2010/main" Requires="p14">
      <p:transition spd="slow" p14:dur="2000" advTm="229907"/>
    </mc:Choice>
    <mc:Fallback>
      <p:transition spd="slow" advTm="22990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dirty="0" smtClean="0"/>
              <a:t>配置</a:t>
            </a:r>
            <a:r>
              <a:rPr kumimoji="1" lang="en-US" altLang="zh-CN" dirty="0" err="1" smtClean="0"/>
              <a:t>shared_buffer</a:t>
            </a:r>
            <a:r>
              <a:rPr kumimoji="1" lang="zh-CN" altLang="en-US" dirty="0" smtClean="0"/>
              <a:t>时的思考点</a:t>
            </a:r>
            <a:endParaRPr kumimoji="1" lang="zh-CN" altLang="en-US" dirty="0"/>
          </a:p>
        </p:txBody>
      </p:sp>
      <p:sp>
        <p:nvSpPr>
          <p:cNvPr id="3" name="内容占位符 2"/>
          <p:cNvSpPr>
            <a:spLocks noGrp="1"/>
          </p:cNvSpPr>
          <p:nvPr>
            <p:ph idx="1"/>
          </p:nvPr>
        </p:nvSpPr>
        <p:spPr/>
        <p:txBody>
          <a:bodyPr/>
          <a:lstStyle/>
          <a:p>
            <a:r>
              <a:rPr kumimoji="1" lang="en-US" altLang="zh-CN" dirty="0" smtClean="0"/>
              <a:t>Double</a:t>
            </a:r>
            <a:r>
              <a:rPr kumimoji="1" lang="zh-CN" altLang="en-US" dirty="0" smtClean="0"/>
              <a:t> </a:t>
            </a:r>
            <a:r>
              <a:rPr kumimoji="1" lang="en-US" altLang="zh-CN" dirty="0" smtClean="0"/>
              <a:t>buffer</a:t>
            </a:r>
            <a:r>
              <a:rPr kumimoji="1" lang="zh-CN" altLang="en-US" dirty="0" smtClean="0"/>
              <a:t>的存在，数据会在</a:t>
            </a:r>
            <a:r>
              <a:rPr kumimoji="1" lang="en-US" altLang="zh-CN" dirty="0" err="1" smtClean="0"/>
              <a:t>shared_buffer</a:t>
            </a:r>
            <a:r>
              <a:rPr kumimoji="1" lang="zh-CN" altLang="en-US" dirty="0" smtClean="0"/>
              <a:t>和</a:t>
            </a:r>
            <a:r>
              <a:rPr kumimoji="1" lang="en-US" altLang="zh-CN" dirty="0" smtClean="0"/>
              <a:t>page</a:t>
            </a:r>
            <a:r>
              <a:rPr kumimoji="1" lang="zh-CN" altLang="en-US" dirty="0" smtClean="0"/>
              <a:t> </a:t>
            </a:r>
            <a:r>
              <a:rPr kumimoji="1" lang="en-US" altLang="zh-CN" dirty="0" smtClean="0"/>
              <a:t>cache</a:t>
            </a:r>
            <a:r>
              <a:rPr kumimoji="1" lang="zh-CN" altLang="en-US" dirty="0" smtClean="0"/>
              <a:t>中存在两份</a:t>
            </a:r>
            <a:r>
              <a:rPr kumimoji="1" lang="en-US" altLang="zh-CN" dirty="0" smtClean="0"/>
              <a:t>[(25%~40%</a:t>
            </a:r>
            <a:r>
              <a:rPr kumimoji="1" lang="en-US" altLang="zh-CN" dirty="0"/>
              <a:t>)</a:t>
            </a:r>
            <a:r>
              <a:rPr kumimoji="1" lang="zh-CN" altLang="en-US" dirty="0" smtClean="0"/>
              <a:t>* </a:t>
            </a:r>
            <a:r>
              <a:rPr kumimoji="1" lang="en-US" altLang="zh-CN" dirty="0" smtClean="0"/>
              <a:t>2</a:t>
            </a:r>
            <a:r>
              <a:rPr kumimoji="1" lang="zh-CN" altLang="en-US" dirty="0" smtClean="0"/>
              <a:t> </a:t>
            </a:r>
            <a:r>
              <a:rPr kumimoji="1" lang="en-US" altLang="zh-CN" dirty="0" smtClean="0"/>
              <a:t>=</a:t>
            </a:r>
            <a:r>
              <a:rPr kumimoji="1" lang="zh-CN" altLang="en-US" dirty="0" smtClean="0"/>
              <a:t> </a:t>
            </a:r>
            <a:r>
              <a:rPr kumimoji="1" lang="en-US" altLang="zh-CN" dirty="0" smtClean="0"/>
              <a:t>(50%~80%)]</a:t>
            </a:r>
          </a:p>
          <a:p>
            <a:r>
              <a:rPr kumimoji="1" lang="zh-CN" altLang="en-US" dirty="0" smtClean="0"/>
              <a:t>可将</a:t>
            </a:r>
            <a:r>
              <a:rPr kumimoji="1" lang="en-US" altLang="zh-CN" dirty="0" smtClean="0"/>
              <a:t>double</a:t>
            </a:r>
            <a:r>
              <a:rPr kumimoji="1" lang="zh-CN" altLang="en-US" dirty="0" smtClean="0"/>
              <a:t> </a:t>
            </a:r>
            <a:r>
              <a:rPr kumimoji="1" lang="en-US" altLang="zh-CN" dirty="0" smtClean="0"/>
              <a:t>buffer</a:t>
            </a:r>
            <a:r>
              <a:rPr kumimoji="1" lang="zh-CN" altLang="en-US" dirty="0" smtClean="0"/>
              <a:t>看做两级缓存，</a:t>
            </a:r>
            <a:r>
              <a:rPr kumimoji="1" lang="en-US" altLang="zh-CN" dirty="0" err="1" smtClean="0"/>
              <a:t>shared_buffer</a:t>
            </a:r>
            <a:r>
              <a:rPr kumimoji="1" lang="zh-CN" altLang="en-US" dirty="0" smtClean="0"/>
              <a:t>为第一级</a:t>
            </a:r>
            <a:endParaRPr kumimoji="1" lang="en-US" altLang="zh-CN" dirty="0" smtClean="0"/>
          </a:p>
          <a:p>
            <a:r>
              <a:rPr kumimoji="1" lang="zh-CN" altLang="en-US" dirty="0" smtClean="0"/>
              <a:t>根据数据库工作集大小</a:t>
            </a:r>
            <a:r>
              <a:rPr kumimoji="1" lang="en-US" altLang="zh-CN" dirty="0" smtClean="0"/>
              <a:t>(</a:t>
            </a:r>
            <a:r>
              <a:rPr kumimoji="1" lang="en-US" altLang="zh-CN" dirty="0" err="1" smtClean="0"/>
              <a:t>db_work_set_size</a:t>
            </a:r>
            <a:r>
              <a:rPr kumimoji="1" lang="en-US" altLang="zh-CN" dirty="0" smtClean="0"/>
              <a:t>)</a:t>
            </a:r>
            <a:r>
              <a:rPr kumimoji="1" lang="zh-CN" altLang="en-US" dirty="0" smtClean="0"/>
              <a:t> 和 内存的大小进行配置</a:t>
            </a:r>
            <a:endParaRPr kumimoji="1" lang="en-US" altLang="zh-CN" dirty="0" smtClean="0"/>
          </a:p>
          <a:p>
            <a:r>
              <a:rPr kumimoji="1" lang="zh-CN" altLang="en-US" dirty="0" smtClean="0"/>
              <a:t>也要注意给</a:t>
            </a:r>
            <a:r>
              <a:rPr kumimoji="1" lang="en-US" altLang="zh-CN" dirty="0" smtClean="0"/>
              <a:t>backend</a:t>
            </a:r>
            <a:r>
              <a:rPr kumimoji="1" lang="zh-CN" altLang="en-US" dirty="0" smtClean="0"/>
              <a:t> </a:t>
            </a:r>
            <a:r>
              <a:rPr kumimoji="1" lang="en-US" altLang="zh-CN" dirty="0" smtClean="0"/>
              <a:t>worker</a:t>
            </a:r>
            <a:r>
              <a:rPr kumimoji="1" lang="zh-CN" altLang="en-US" dirty="0" smtClean="0"/>
              <a:t>留下</a:t>
            </a:r>
            <a:r>
              <a:rPr kumimoji="1" lang="en-US" altLang="zh-CN" dirty="0" err="1" smtClean="0"/>
              <a:t>work_mem</a:t>
            </a:r>
            <a:r>
              <a:rPr kumimoji="1" lang="zh-CN" altLang="en-US" dirty="0" smtClean="0"/>
              <a:t>的空间；</a:t>
            </a:r>
            <a:endParaRPr kumimoji="1" lang="en-US" altLang="zh-CN" dirty="0" smtClean="0"/>
          </a:p>
          <a:p>
            <a:r>
              <a:rPr kumimoji="1" lang="zh-CN" altLang="en-US" dirty="0" smtClean="0"/>
              <a:t>另外，</a:t>
            </a:r>
            <a:r>
              <a:rPr kumimoji="1" lang="en-US" altLang="zh-CN" dirty="0" err="1" smtClean="0"/>
              <a:t>shared_buffer</a:t>
            </a:r>
            <a:r>
              <a:rPr kumimoji="1" lang="zh-CN" altLang="en-US" dirty="0" smtClean="0"/>
              <a:t>的页在每个</a:t>
            </a:r>
            <a:r>
              <a:rPr kumimoji="1" lang="en-US" altLang="zh-CN" dirty="0" smtClean="0"/>
              <a:t>PostgreSQL</a:t>
            </a:r>
            <a:r>
              <a:rPr kumimoji="1" lang="zh-CN" altLang="en-US" dirty="0"/>
              <a:t> </a:t>
            </a:r>
            <a:r>
              <a:rPr kumimoji="1" lang="en-US" altLang="zh-CN" dirty="0" smtClean="0"/>
              <a:t>backend</a:t>
            </a:r>
            <a:r>
              <a:rPr kumimoji="1" lang="zh-CN" altLang="en-US" dirty="0" smtClean="0"/>
              <a:t> </a:t>
            </a:r>
            <a:r>
              <a:rPr kumimoji="1" lang="en-US" altLang="zh-CN" dirty="0" smtClean="0"/>
              <a:t>worker</a:t>
            </a:r>
            <a:r>
              <a:rPr kumimoji="1" lang="zh-CN" altLang="en-US" dirty="0" smtClean="0"/>
              <a:t>进程中都存在一份页表，考虑</a:t>
            </a:r>
            <a:r>
              <a:rPr kumimoji="1" lang="en-US" altLang="zh-CN" dirty="0" smtClean="0"/>
              <a:t>TLB</a:t>
            </a:r>
            <a:r>
              <a:rPr kumimoji="1" lang="zh-CN" altLang="en-US" dirty="0" smtClean="0"/>
              <a:t> </a:t>
            </a:r>
            <a:r>
              <a:rPr kumimoji="1" lang="en-US" altLang="zh-CN" dirty="0" smtClean="0"/>
              <a:t>miss</a:t>
            </a:r>
            <a:r>
              <a:rPr kumimoji="1" lang="zh-CN" altLang="en-US" dirty="0" smtClean="0"/>
              <a:t>的问题</a:t>
            </a:r>
            <a:endParaRPr kumimoji="1" lang="en-US" altLang="zh-CN" dirty="0" smtClean="0"/>
          </a:p>
        </p:txBody>
      </p:sp>
    </p:spTree>
    <p:extLst>
      <p:ext uri="{BB962C8B-B14F-4D97-AF65-F5344CB8AC3E}">
        <p14:creationId xmlns:p14="http://schemas.microsoft.com/office/powerpoint/2010/main" val="1377947095"/>
      </p:ext>
    </p:extLst>
  </p:cSld>
  <p:clrMapOvr>
    <a:masterClrMapping/>
  </p:clrMapOvr>
  <mc:AlternateContent xmlns:mc="http://schemas.openxmlformats.org/markup-compatibility/2006">
    <mc:Choice xmlns:p14="http://schemas.microsoft.com/office/powerpoint/2010/main" Requires="p14">
      <p:transition spd="slow" p14:dur="2000" advTm="446"/>
    </mc:Choice>
    <mc:Fallback>
      <p:transition spd="slow" advTm="446"/>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outline</a:t>
            </a:r>
            <a:endParaRPr kumimoji="1" lang="zh-CN" altLang="en-US" dirty="0"/>
          </a:p>
        </p:txBody>
      </p:sp>
      <p:sp>
        <p:nvSpPr>
          <p:cNvPr id="3" name="内容占位符 2"/>
          <p:cNvSpPr>
            <a:spLocks noGrp="1"/>
          </p:cNvSpPr>
          <p:nvPr>
            <p:ph idx="1"/>
          </p:nvPr>
        </p:nvSpPr>
        <p:spPr/>
        <p:txBody>
          <a:bodyPr/>
          <a:lstStyle/>
          <a:p>
            <a:r>
              <a:rPr kumimoji="1" lang="en-US" altLang="zh-CN" dirty="0" smtClean="0">
                <a:solidFill>
                  <a:schemeClr val="bg1">
                    <a:lumMod val="75000"/>
                  </a:schemeClr>
                </a:solidFill>
              </a:rPr>
              <a:t>double</a:t>
            </a:r>
            <a:r>
              <a:rPr kumimoji="1" lang="zh-CN" altLang="en-US" dirty="0" smtClean="0">
                <a:solidFill>
                  <a:schemeClr val="bg1">
                    <a:lumMod val="75000"/>
                  </a:schemeClr>
                </a:solidFill>
              </a:rPr>
              <a:t> </a:t>
            </a:r>
            <a:r>
              <a:rPr kumimoji="1" lang="en-US" altLang="zh-CN" dirty="0" smtClean="0">
                <a:solidFill>
                  <a:schemeClr val="bg1">
                    <a:lumMod val="75000"/>
                  </a:schemeClr>
                </a:solidFill>
              </a:rPr>
              <a:t>buffer</a:t>
            </a:r>
            <a:endParaRPr kumimoji="1" lang="en-US" altLang="zh-CN" dirty="0">
              <a:solidFill>
                <a:schemeClr val="bg1">
                  <a:lumMod val="75000"/>
                </a:schemeClr>
              </a:solidFill>
            </a:endParaRPr>
          </a:p>
          <a:p>
            <a:r>
              <a:rPr kumimoji="1" lang="en-US" altLang="zh-CN" dirty="0" smtClean="0"/>
              <a:t>Write</a:t>
            </a:r>
            <a:r>
              <a:rPr kumimoji="1" lang="zh-CN" altLang="en-US" dirty="0" smtClean="0"/>
              <a:t> </a:t>
            </a:r>
            <a:r>
              <a:rPr kumimoji="1" lang="en-US" altLang="zh-CN" dirty="0" smtClean="0"/>
              <a:t>back</a:t>
            </a:r>
            <a:endParaRPr kumimoji="1" lang="en-US" altLang="zh-CN" dirty="0"/>
          </a:p>
        </p:txBody>
      </p:sp>
    </p:spTree>
    <p:extLst>
      <p:ext uri="{BB962C8B-B14F-4D97-AF65-F5344CB8AC3E}">
        <p14:creationId xmlns:p14="http://schemas.microsoft.com/office/powerpoint/2010/main" val="672193868"/>
      </p:ext>
    </p:extLst>
  </p:cSld>
  <p:clrMapOvr>
    <a:masterClrMapping/>
  </p:clrMapOvr>
  <mc:AlternateContent xmlns:mc="http://schemas.openxmlformats.org/markup-compatibility/2006">
    <mc:Choice xmlns:p14="http://schemas.microsoft.com/office/powerpoint/2010/main" Requires="p14">
      <p:transition spd="slow" p14:dur="2000" advTm="2381"/>
    </mc:Choice>
    <mc:Fallback>
      <p:transition spd="slow" advTm="2381"/>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err="1" smtClean="0"/>
              <a:t>Shared_buffer</a:t>
            </a:r>
            <a:r>
              <a:rPr kumimoji="1" lang="zh-CN" altLang="en-US" dirty="0" smtClean="0"/>
              <a:t>的回写，要平滑地且</a:t>
            </a:r>
            <a:r>
              <a:rPr kumimoji="1" lang="zh-CN" altLang="en-US" dirty="0" smtClean="0"/>
              <a:t>顺序地</a:t>
            </a:r>
            <a:endParaRPr kumimoji="1" lang="zh-CN" altLang="en-US" dirty="0"/>
          </a:p>
        </p:txBody>
      </p:sp>
      <p:sp>
        <p:nvSpPr>
          <p:cNvPr id="3" name="内容占位符 2"/>
          <p:cNvSpPr>
            <a:spLocks noGrp="1"/>
          </p:cNvSpPr>
          <p:nvPr>
            <p:ph sz="half" idx="2"/>
          </p:nvPr>
        </p:nvSpPr>
        <p:spPr/>
        <p:txBody>
          <a:bodyPr/>
          <a:lstStyle/>
          <a:p>
            <a:endParaRPr lang="en-US" altLang="zh-CN" dirty="0" smtClean="0"/>
          </a:p>
          <a:p>
            <a:endParaRPr kumimoji="1" lang="zh-CN" altLang="en-US" dirty="0"/>
          </a:p>
        </p:txBody>
      </p:sp>
      <p:pic>
        <p:nvPicPr>
          <p:cNvPr id="18" name="图片 17"/>
          <p:cNvPicPr>
            <a:picLocks noChangeAspect="1"/>
          </p:cNvPicPr>
          <p:nvPr/>
        </p:nvPicPr>
        <p:blipFill>
          <a:blip r:embed="rId4"/>
          <a:stretch>
            <a:fillRect/>
          </a:stretch>
        </p:blipFill>
        <p:spPr>
          <a:xfrm>
            <a:off x="839788" y="1717675"/>
            <a:ext cx="3848100" cy="4445000"/>
          </a:xfrm>
          <a:prstGeom prst="rect">
            <a:avLst/>
          </a:prstGeom>
        </p:spPr>
      </p:pic>
      <p:pic>
        <p:nvPicPr>
          <p:cNvPr id="22" name="内容占位符 21"/>
          <p:cNvPicPr>
            <a:picLocks noGrp="1" noChangeAspect="1"/>
          </p:cNvPicPr>
          <p:nvPr>
            <p:ph sz="quarter" idx="4"/>
          </p:nvPr>
        </p:nvPicPr>
        <p:blipFill>
          <a:blip r:embed="rId5"/>
          <a:stretch>
            <a:fillRect/>
          </a:stretch>
        </p:blipFill>
        <p:spPr>
          <a:xfrm>
            <a:off x="6097588" y="1690687"/>
            <a:ext cx="4696994" cy="4471988"/>
          </a:xfrm>
          <a:prstGeom prst="rect">
            <a:avLst/>
          </a:prstGeom>
        </p:spPr>
      </p:pic>
      <p:sp>
        <p:nvSpPr>
          <p:cNvPr id="5" name="矩形 4"/>
          <p:cNvSpPr/>
          <p:nvPr/>
        </p:nvSpPr>
        <p:spPr>
          <a:xfrm>
            <a:off x="4585239" y="1858744"/>
            <a:ext cx="1903085" cy="646331"/>
          </a:xfrm>
          <a:prstGeom prst="rect">
            <a:avLst/>
          </a:prstGeom>
        </p:spPr>
        <p:txBody>
          <a:bodyPr wrap="none">
            <a:spAutoFit/>
          </a:bodyPr>
          <a:lstStyle/>
          <a:p>
            <a:r>
              <a:rPr kumimoji="1" lang="zh-CN" altLang="en-US" b="1" dirty="0" smtClean="0">
                <a:solidFill>
                  <a:srgbClr val="FF0000"/>
                </a:solidFill>
              </a:rPr>
              <a:t>为什么要平滑？</a:t>
            </a:r>
            <a:endParaRPr kumimoji="1" lang="en-US" altLang="zh-CN" b="1" dirty="0" smtClean="0">
              <a:solidFill>
                <a:srgbClr val="FF0000"/>
              </a:solidFill>
            </a:endParaRPr>
          </a:p>
          <a:p>
            <a:r>
              <a:rPr kumimoji="1" lang="zh-CN" altLang="en-US" b="1" dirty="0" smtClean="0">
                <a:solidFill>
                  <a:srgbClr val="FF0000"/>
                </a:solidFill>
              </a:rPr>
              <a:t>为什么要有顺序</a:t>
            </a:r>
            <a:r>
              <a:rPr kumimoji="1" lang="en-US" altLang="zh-CN" b="1" dirty="0" smtClean="0">
                <a:solidFill>
                  <a:srgbClr val="FF0000"/>
                </a:solidFill>
              </a:rPr>
              <a:t>?</a:t>
            </a:r>
            <a:endParaRPr kumimoji="1" lang="zh-CN" altLang="en-US" b="1" dirty="0">
              <a:solidFill>
                <a:srgbClr val="FF0000"/>
              </a:solidFill>
            </a:endParaRPr>
          </a:p>
        </p:txBody>
      </p:sp>
    </p:spTree>
    <p:custDataLst>
      <p:tags r:id="rId1"/>
    </p:custDataLst>
    <p:extLst>
      <p:ext uri="{BB962C8B-B14F-4D97-AF65-F5344CB8AC3E}">
        <p14:creationId xmlns:p14="http://schemas.microsoft.com/office/powerpoint/2010/main" val="888379898"/>
      </p:ext>
    </p:extLst>
  </p:cSld>
  <p:clrMapOvr>
    <a:masterClrMapping/>
  </p:clrMapOvr>
  <mc:AlternateContent xmlns:mc="http://schemas.openxmlformats.org/markup-compatibility/2006">
    <mc:Choice xmlns:p14="http://schemas.microsoft.com/office/powerpoint/2010/main" Requires="p14">
      <p:transition spd="slow" p14:dur="2000" advTm="1965"/>
    </mc:Choice>
    <mc:Fallback>
      <p:transition spd="slow" advTm="1965"/>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heckerboard(across)">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dirty="0" smtClean="0"/>
              <a:t>两个系统调用和三个参数</a:t>
            </a:r>
            <a:r>
              <a:rPr kumimoji="1" lang="en-US" altLang="zh-CN" dirty="0" smtClean="0"/>
              <a:t>(&gt;9.6)</a:t>
            </a:r>
            <a:endParaRPr kumimoji="1" lang="zh-CN" altLang="en-US" dirty="0"/>
          </a:p>
        </p:txBody>
      </p:sp>
      <p:sp>
        <p:nvSpPr>
          <p:cNvPr id="3" name="内容占位符 2"/>
          <p:cNvSpPr>
            <a:spLocks noGrp="1"/>
          </p:cNvSpPr>
          <p:nvPr>
            <p:ph sz="half" idx="1"/>
          </p:nvPr>
        </p:nvSpPr>
        <p:spPr/>
        <p:txBody>
          <a:bodyPr/>
          <a:lstStyle/>
          <a:p>
            <a:r>
              <a:rPr kumimoji="1" lang="en-US" altLang="zh-CN" dirty="0" err="1" smtClean="0"/>
              <a:t>sync_file_range</a:t>
            </a:r>
            <a:endParaRPr kumimoji="1" lang="en-US" altLang="zh-CN" dirty="0" smtClean="0"/>
          </a:p>
          <a:p>
            <a:r>
              <a:rPr kumimoji="1" lang="en-US" altLang="zh-CN" dirty="0" err="1" smtClean="0"/>
              <a:t>fsync</a:t>
            </a:r>
            <a:endParaRPr kumimoji="1" lang="zh-CN" altLang="en-US" dirty="0"/>
          </a:p>
        </p:txBody>
      </p:sp>
      <p:sp>
        <p:nvSpPr>
          <p:cNvPr id="4" name="内容占位符 3"/>
          <p:cNvSpPr>
            <a:spLocks noGrp="1"/>
          </p:cNvSpPr>
          <p:nvPr>
            <p:ph sz="half" idx="2"/>
          </p:nvPr>
        </p:nvSpPr>
        <p:spPr/>
        <p:txBody>
          <a:bodyPr/>
          <a:lstStyle/>
          <a:p>
            <a:r>
              <a:rPr lang="en-US" altLang="zh-CN" dirty="0" err="1" smtClean="0"/>
              <a:t>checkpoint_flush_after</a:t>
            </a:r>
            <a:endParaRPr lang="en-US" altLang="zh-CN" dirty="0" smtClean="0"/>
          </a:p>
          <a:p>
            <a:r>
              <a:rPr lang="en-US" altLang="zh-CN" dirty="0" err="1" smtClean="0"/>
              <a:t>backend_flush_after</a:t>
            </a:r>
            <a:endParaRPr lang="en-US" altLang="zh-CN" dirty="0" smtClean="0"/>
          </a:p>
          <a:p>
            <a:r>
              <a:rPr lang="en-US" altLang="zh-CN" dirty="0" err="1"/>
              <a:t>bgwriter_flush_after</a:t>
            </a:r>
            <a:endParaRPr kumimoji="1" lang="zh-CN" altLang="en-US" dirty="0"/>
          </a:p>
          <a:p>
            <a:endParaRPr kumimoji="1" lang="zh-CN" altLang="en-US" dirty="0"/>
          </a:p>
        </p:txBody>
      </p:sp>
    </p:spTree>
    <p:extLst>
      <p:ext uri="{BB962C8B-B14F-4D97-AF65-F5344CB8AC3E}">
        <p14:creationId xmlns:p14="http://schemas.microsoft.com/office/powerpoint/2010/main" val="253958437"/>
      </p:ext>
    </p:extLst>
  </p:cSld>
  <p:clrMapOvr>
    <a:masterClrMapping/>
  </p:clrMapOvr>
  <mc:AlternateContent xmlns:mc="http://schemas.openxmlformats.org/markup-compatibility/2006">
    <mc:Choice xmlns:p14="http://schemas.microsoft.com/office/powerpoint/2010/main" Requires="p14">
      <p:transition spd="slow" p14:dur="2000" advTm="62814"/>
    </mc:Choice>
    <mc:Fallback>
      <p:transition spd="slow" advTm="62814"/>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Spread</a:t>
            </a:r>
            <a:r>
              <a:rPr kumimoji="1" lang="zh-CN" altLang="en-US" dirty="0" smtClean="0"/>
              <a:t> </a:t>
            </a:r>
            <a:r>
              <a:rPr kumimoji="1" lang="en-US" altLang="zh-CN" dirty="0" smtClean="0"/>
              <a:t>CHECKPOINT</a:t>
            </a:r>
            <a:endParaRPr kumimoji="1" lang="zh-CN" altLang="en-US" dirty="0"/>
          </a:p>
        </p:txBody>
      </p:sp>
      <p:pic>
        <p:nvPicPr>
          <p:cNvPr id="9" name="内容占位符 8"/>
          <p:cNvPicPr>
            <a:picLocks noGrp="1" noChangeAspect="1"/>
          </p:cNvPicPr>
          <p:nvPr>
            <p:ph sz="half" idx="1"/>
          </p:nvPr>
        </p:nvPicPr>
        <p:blipFill>
          <a:blip r:embed="rId3"/>
          <a:stretch>
            <a:fillRect/>
          </a:stretch>
        </p:blipFill>
        <p:spPr>
          <a:xfrm>
            <a:off x="1857247" y="1690688"/>
            <a:ext cx="8477505" cy="4426307"/>
          </a:xfrm>
          <a:prstGeom prst="rect">
            <a:avLst/>
          </a:prstGeom>
        </p:spPr>
      </p:pic>
    </p:spTree>
    <p:extLst>
      <p:ext uri="{BB962C8B-B14F-4D97-AF65-F5344CB8AC3E}">
        <p14:creationId xmlns:p14="http://schemas.microsoft.com/office/powerpoint/2010/main" val="463440639"/>
      </p:ext>
    </p:extLst>
  </p:cSld>
  <p:clrMapOvr>
    <a:masterClrMapping/>
  </p:clrMapOvr>
  <mc:AlternateContent xmlns:mc="http://schemas.openxmlformats.org/markup-compatibility/2006">
    <mc:Choice xmlns:p14="http://schemas.microsoft.com/office/powerpoint/2010/main" Requires="p14">
      <p:transition spd="slow" p14:dur="2000" advTm="158817"/>
    </mc:Choice>
    <mc:Fallback>
      <p:transition spd="slow" advTm="158817"/>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smtClean="0"/>
              <a:t>Write</a:t>
            </a:r>
            <a:r>
              <a:rPr kumimoji="1" lang="zh-CN" altLang="en-US" dirty="0" smtClean="0"/>
              <a:t> </a:t>
            </a:r>
            <a:r>
              <a:rPr kumimoji="1" lang="en-US" altLang="zh-CN" dirty="0" smtClean="0"/>
              <a:t>back</a:t>
            </a:r>
            <a:endParaRPr kumimoji="1" lang="zh-CN" altLang="en-US" dirty="0"/>
          </a:p>
        </p:txBody>
      </p:sp>
      <p:sp>
        <p:nvSpPr>
          <p:cNvPr id="4" name="内容占位符 3"/>
          <p:cNvSpPr>
            <a:spLocks noGrp="1"/>
          </p:cNvSpPr>
          <p:nvPr>
            <p:ph sz="half" idx="2"/>
          </p:nvPr>
        </p:nvSpPr>
        <p:spPr>
          <a:xfrm>
            <a:off x="6662056" y="1825625"/>
            <a:ext cx="4691743" cy="4351338"/>
          </a:xfrm>
        </p:spPr>
        <p:txBody>
          <a:bodyPr>
            <a:normAutofit/>
          </a:bodyPr>
          <a:lstStyle/>
          <a:p>
            <a:r>
              <a:rPr kumimoji="1" lang="en-US" altLang="zh-CN" b="1" dirty="0"/>
              <a:t>Block</a:t>
            </a:r>
            <a:r>
              <a:rPr kumimoji="1" lang="zh-CN" altLang="en-US" b="1" dirty="0"/>
              <a:t> </a:t>
            </a:r>
            <a:r>
              <a:rPr kumimoji="1" lang="en-US" altLang="zh-CN" b="1" dirty="0" smtClean="0"/>
              <a:t>storage</a:t>
            </a:r>
          </a:p>
          <a:p>
            <a:pPr lvl="1"/>
            <a:r>
              <a:rPr kumimoji="1" lang="en-US" altLang="zh-CN" b="1" dirty="0" smtClean="0"/>
              <a:t>HDD</a:t>
            </a:r>
          </a:p>
          <a:p>
            <a:pPr lvl="1"/>
            <a:r>
              <a:rPr kumimoji="1" lang="en-US" altLang="zh-CN" b="1" dirty="0" smtClean="0"/>
              <a:t>SSD</a:t>
            </a:r>
          </a:p>
          <a:p>
            <a:pPr lvl="1"/>
            <a:r>
              <a:rPr kumimoji="1" lang="en-US" altLang="zh-CN" b="1" dirty="0" err="1" smtClean="0"/>
              <a:t>NVMe</a:t>
            </a:r>
            <a:endParaRPr kumimoji="1" lang="en-US" altLang="zh-CN" b="1" dirty="0" smtClean="0"/>
          </a:p>
          <a:p>
            <a:pPr lvl="1"/>
            <a:r>
              <a:rPr kumimoji="1" lang="en-US" altLang="zh-CN" b="1" dirty="0" smtClean="0"/>
              <a:t>SAN</a:t>
            </a:r>
            <a:endParaRPr kumimoji="1" lang="en-US" altLang="zh-CN" b="1" dirty="0"/>
          </a:p>
          <a:p>
            <a:pPr lvl="1"/>
            <a:r>
              <a:rPr kumimoji="1" lang="en-US" altLang="zh-CN" b="1" dirty="0" smtClean="0"/>
              <a:t>EBS</a:t>
            </a:r>
            <a:endParaRPr kumimoji="1" lang="en-US" altLang="zh-CN" b="1" dirty="0"/>
          </a:p>
          <a:p>
            <a:pPr lvl="1"/>
            <a:r>
              <a:rPr kumimoji="1" lang="en-US" altLang="zh-CN" b="1" dirty="0" smtClean="0"/>
              <a:t>NFS</a:t>
            </a:r>
          </a:p>
          <a:p>
            <a:pPr lvl="1"/>
            <a:endParaRPr kumimoji="1" lang="en-US" altLang="zh-CN" b="1" dirty="0"/>
          </a:p>
          <a:p>
            <a:r>
              <a:rPr kumimoji="1" lang="en-US" altLang="zh-CN" b="1" dirty="0">
                <a:solidFill>
                  <a:schemeClr val="bg1">
                    <a:lumMod val="75000"/>
                  </a:schemeClr>
                </a:solidFill>
              </a:rPr>
              <a:t>File</a:t>
            </a:r>
            <a:r>
              <a:rPr kumimoji="1" lang="zh-CN" altLang="en-US" b="1" dirty="0">
                <a:solidFill>
                  <a:schemeClr val="bg1">
                    <a:lumMod val="75000"/>
                  </a:schemeClr>
                </a:solidFill>
              </a:rPr>
              <a:t> </a:t>
            </a:r>
            <a:r>
              <a:rPr kumimoji="1" lang="en-US" altLang="zh-CN" b="1" dirty="0" smtClean="0">
                <a:solidFill>
                  <a:schemeClr val="bg1">
                    <a:lumMod val="75000"/>
                  </a:schemeClr>
                </a:solidFill>
              </a:rPr>
              <a:t>storage</a:t>
            </a:r>
            <a:endParaRPr kumimoji="1" lang="en-US" altLang="zh-CN" b="1" dirty="0">
              <a:solidFill>
                <a:schemeClr val="bg1">
                  <a:lumMod val="75000"/>
                </a:schemeClr>
              </a:solidFill>
            </a:endParaRPr>
          </a:p>
          <a:p>
            <a:r>
              <a:rPr kumimoji="1" lang="en-US" altLang="zh-CN" b="1" dirty="0">
                <a:solidFill>
                  <a:schemeClr val="bg1">
                    <a:lumMod val="75000"/>
                  </a:schemeClr>
                </a:solidFill>
              </a:rPr>
              <a:t>Object</a:t>
            </a:r>
            <a:r>
              <a:rPr kumimoji="1" lang="zh-CN" altLang="en-US" b="1" dirty="0">
                <a:solidFill>
                  <a:schemeClr val="bg1">
                    <a:lumMod val="75000"/>
                  </a:schemeClr>
                </a:solidFill>
              </a:rPr>
              <a:t> </a:t>
            </a:r>
            <a:r>
              <a:rPr kumimoji="1" lang="en-US" altLang="zh-CN" b="1" dirty="0">
                <a:solidFill>
                  <a:schemeClr val="bg1">
                    <a:lumMod val="75000"/>
                  </a:schemeClr>
                </a:solidFill>
              </a:rPr>
              <a:t>storage</a:t>
            </a:r>
          </a:p>
          <a:p>
            <a:endParaRPr kumimoji="1" lang="zh-CN" altLang="en-US" dirty="0"/>
          </a:p>
        </p:txBody>
      </p:sp>
      <p:pic>
        <p:nvPicPr>
          <p:cNvPr id="10" name="内容占位符 9"/>
          <p:cNvPicPr>
            <a:picLocks noGrp="1" noChangeAspect="1"/>
          </p:cNvPicPr>
          <p:nvPr>
            <p:ph sz="half" idx="1"/>
          </p:nvPr>
        </p:nvPicPr>
        <p:blipFill>
          <a:blip r:embed="rId3"/>
          <a:stretch>
            <a:fillRect/>
          </a:stretch>
        </p:blipFill>
        <p:spPr>
          <a:xfrm>
            <a:off x="838200" y="2031370"/>
            <a:ext cx="5181600" cy="3911272"/>
          </a:xfrm>
          <a:prstGeom prst="rect">
            <a:avLst/>
          </a:prstGeom>
        </p:spPr>
      </p:pic>
      <p:sp>
        <p:nvSpPr>
          <p:cNvPr id="5" name="文本框 4"/>
          <p:cNvSpPr txBox="1"/>
          <p:nvPr/>
        </p:nvSpPr>
        <p:spPr>
          <a:xfrm>
            <a:off x="306870" y="4215606"/>
            <a:ext cx="2262158" cy="369332"/>
          </a:xfrm>
          <a:prstGeom prst="rect">
            <a:avLst/>
          </a:prstGeom>
          <a:noFill/>
        </p:spPr>
        <p:txBody>
          <a:bodyPr wrap="none" rtlCol="0">
            <a:spAutoFit/>
          </a:bodyPr>
          <a:lstStyle/>
          <a:p>
            <a:r>
              <a:rPr kumimoji="1" lang="zh-CN" altLang="en-US" b="1" dirty="0" smtClean="0">
                <a:solidFill>
                  <a:srgbClr val="FF0000"/>
                </a:solidFill>
              </a:rPr>
              <a:t>写回失败了怎么办？</a:t>
            </a:r>
            <a:endParaRPr kumimoji="1" lang="zh-CN" altLang="en-US" b="1" dirty="0">
              <a:solidFill>
                <a:srgbClr val="FF0000"/>
              </a:solidFill>
            </a:endParaRPr>
          </a:p>
        </p:txBody>
      </p:sp>
    </p:spTree>
    <p:custDataLst>
      <p:tags r:id="rId1"/>
    </p:custDataLst>
    <p:extLst>
      <p:ext uri="{BB962C8B-B14F-4D97-AF65-F5344CB8AC3E}">
        <p14:creationId xmlns:p14="http://schemas.microsoft.com/office/powerpoint/2010/main" val="1199800108"/>
      </p:ext>
    </p:extLst>
  </p:cSld>
  <p:clrMapOvr>
    <a:masterClrMapping/>
  </p:clrMapOvr>
  <mc:AlternateContent xmlns:mc="http://schemas.openxmlformats.org/markup-compatibility/2006">
    <mc:Choice xmlns:p14="http://schemas.microsoft.com/office/powerpoint/2010/main" Requires="p14">
      <p:transition spd="slow" p14:dur="2000" advTm="74272"/>
    </mc:Choice>
    <mc:Fallback>
      <p:transition spd="slow" advTm="74272"/>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blinds(horizontal)">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en-US" altLang="zh-CN" dirty="0" err="1" smtClean="0"/>
              <a:t>fsync</a:t>
            </a:r>
            <a:endParaRPr kumimoji="1" lang="zh-CN" altLang="en-US" dirty="0"/>
          </a:p>
        </p:txBody>
      </p:sp>
      <p:sp>
        <p:nvSpPr>
          <p:cNvPr id="4" name="内容占位符 3"/>
          <p:cNvSpPr>
            <a:spLocks noGrp="1"/>
          </p:cNvSpPr>
          <p:nvPr>
            <p:ph sz="half" idx="1"/>
          </p:nvPr>
        </p:nvSpPr>
        <p:spPr/>
        <p:txBody>
          <a:bodyPr/>
          <a:lstStyle/>
          <a:p>
            <a:r>
              <a:rPr kumimoji="1" lang="en-US" altLang="zh-CN" dirty="0" smtClean="0">
                <a:latin typeface="Baoli SC" charset="-122"/>
                <a:ea typeface="Baoli SC" charset="-122"/>
                <a:cs typeface="Baoli SC" charset="-122"/>
              </a:rPr>
              <a:t>PostgreSQL</a:t>
            </a:r>
            <a:r>
              <a:rPr kumimoji="1" lang="zh-CN" altLang="en-US" dirty="0" smtClean="0">
                <a:latin typeface="Baoli SC" charset="-122"/>
                <a:ea typeface="Baoli SC" charset="-122"/>
                <a:cs typeface="Baoli SC" charset="-122"/>
              </a:rPr>
              <a:t>之前对图中的行为假设为</a:t>
            </a:r>
            <a:r>
              <a:rPr kumimoji="1" lang="zh-CN" altLang="en-US" dirty="0" smtClean="0"/>
              <a:t>：</a:t>
            </a:r>
            <a:endParaRPr kumimoji="1" lang="en-US" altLang="zh-CN" dirty="0" smtClean="0"/>
          </a:p>
          <a:p>
            <a:pPr lvl="1"/>
            <a:r>
              <a:rPr lang="en-US" altLang="zh-CN" dirty="0">
                <a:latin typeface="American Typewriter" charset="0"/>
                <a:ea typeface="American Typewriter" charset="0"/>
                <a:cs typeface="American Typewriter" charset="0"/>
              </a:rPr>
              <a:t>"all writes since the last </a:t>
            </a:r>
            <a:r>
              <a:rPr lang="en-US" altLang="zh-CN" u="sng" dirty="0">
                <a:latin typeface="American Typewriter" charset="0"/>
                <a:ea typeface="American Typewriter" charset="0"/>
                <a:cs typeface="American Typewriter" charset="0"/>
              </a:rPr>
              <a:t>SUCCESSFUL</a:t>
            </a:r>
            <a:r>
              <a:rPr lang="en-US" altLang="zh-CN" dirty="0">
                <a:latin typeface="American Typewriter" charset="0"/>
                <a:ea typeface="American Typewriter" charset="0"/>
                <a:cs typeface="American Typewriter" charset="0"/>
              </a:rPr>
              <a:t> </a:t>
            </a:r>
            <a:r>
              <a:rPr lang="en-US" altLang="zh-CN" dirty="0" err="1">
                <a:latin typeface="American Typewriter" charset="0"/>
                <a:ea typeface="American Typewriter" charset="0"/>
                <a:cs typeface="American Typewriter" charset="0"/>
              </a:rPr>
              <a:t>fsync</a:t>
            </a:r>
            <a:r>
              <a:rPr lang="en-US" altLang="zh-CN" dirty="0">
                <a:latin typeface="American Typewriter" charset="0"/>
                <a:ea typeface="American Typewriter" charset="0"/>
                <a:cs typeface="American Typewriter" charset="0"/>
              </a:rPr>
              <a:t> have hit disk</a:t>
            </a:r>
            <a:r>
              <a:rPr lang="en-US" altLang="zh-CN" dirty="0" smtClean="0">
                <a:latin typeface="American Typewriter" charset="0"/>
                <a:ea typeface="American Typewriter" charset="0"/>
                <a:cs typeface="American Typewriter" charset="0"/>
              </a:rPr>
              <a:t>".</a:t>
            </a:r>
          </a:p>
          <a:p>
            <a:r>
              <a:rPr kumimoji="1" lang="zh-CN" altLang="en-US" dirty="0" smtClean="0">
                <a:latin typeface="Baoli SC" charset="-122"/>
                <a:ea typeface="Baoli SC" charset="-122"/>
                <a:cs typeface="Baoli SC" charset="-122"/>
              </a:rPr>
              <a:t>实际上应该理解为：</a:t>
            </a:r>
            <a:endParaRPr kumimoji="1" lang="en-US" altLang="zh-CN" dirty="0" smtClean="0">
              <a:latin typeface="Baoli SC" charset="-122"/>
              <a:ea typeface="Baoli SC" charset="-122"/>
              <a:cs typeface="Baoli SC" charset="-122"/>
            </a:endParaRPr>
          </a:p>
          <a:p>
            <a:pPr lvl="1"/>
            <a:r>
              <a:rPr lang="zh-CN" altLang="en-US" dirty="0">
                <a:latin typeface="American Typewriter" charset="0"/>
                <a:ea typeface="American Typewriter" charset="0"/>
                <a:cs typeface="American Typewriter" charset="0"/>
              </a:rPr>
              <a:t>“</a:t>
            </a:r>
            <a:r>
              <a:rPr lang="en-US" altLang="zh-CN" dirty="0" smtClean="0">
                <a:latin typeface="American Typewriter" charset="0"/>
                <a:ea typeface="American Typewriter" charset="0"/>
                <a:cs typeface="American Typewriter" charset="0"/>
              </a:rPr>
              <a:t>all </a:t>
            </a:r>
            <a:r>
              <a:rPr lang="en-US" altLang="zh-CN" dirty="0">
                <a:latin typeface="American Typewriter" charset="0"/>
                <a:ea typeface="American Typewriter" charset="0"/>
                <a:cs typeface="American Typewriter" charset="0"/>
              </a:rPr>
              <a:t>writes since the last </a:t>
            </a:r>
            <a:r>
              <a:rPr lang="en-US" altLang="zh-CN" dirty="0" smtClean="0">
                <a:latin typeface="American Typewriter" charset="0"/>
                <a:ea typeface="American Typewriter" charset="0"/>
                <a:cs typeface="American Typewriter" charset="0"/>
              </a:rPr>
              <a:t>	</a:t>
            </a:r>
            <a:r>
              <a:rPr lang="en-US" altLang="zh-CN" u="sng" dirty="0" smtClean="0">
                <a:latin typeface="American Typewriter" charset="0"/>
                <a:ea typeface="American Typewriter" charset="0"/>
                <a:cs typeface="American Typewriter" charset="0"/>
              </a:rPr>
              <a:t>			</a:t>
            </a:r>
            <a:r>
              <a:rPr lang="zh-CN" altLang="en-US" dirty="0" smtClean="0">
                <a:latin typeface="American Typewriter" charset="0"/>
                <a:ea typeface="American Typewriter" charset="0"/>
                <a:cs typeface="American Typewriter" charset="0"/>
              </a:rPr>
              <a:t> </a:t>
            </a:r>
            <a:r>
              <a:rPr lang="en-US" altLang="zh-CN" dirty="0" err="1" smtClean="0">
                <a:latin typeface="American Typewriter" charset="0"/>
                <a:ea typeface="American Typewriter" charset="0"/>
                <a:cs typeface="American Typewriter" charset="0"/>
              </a:rPr>
              <a:t>fsync</a:t>
            </a:r>
            <a:r>
              <a:rPr lang="en-US" altLang="zh-CN" dirty="0" smtClean="0">
                <a:latin typeface="American Typewriter" charset="0"/>
                <a:ea typeface="American Typewriter" charset="0"/>
                <a:cs typeface="American Typewriter" charset="0"/>
              </a:rPr>
              <a:t> </a:t>
            </a:r>
            <a:r>
              <a:rPr lang="en-US" altLang="zh-CN" dirty="0">
                <a:latin typeface="American Typewriter" charset="0"/>
                <a:ea typeface="American Typewriter" charset="0"/>
                <a:cs typeface="American Typewriter" charset="0"/>
              </a:rPr>
              <a:t>have hit disk"</a:t>
            </a:r>
            <a:endParaRPr kumimoji="1" lang="zh-CN" altLang="en-US" dirty="0">
              <a:latin typeface="American Typewriter" charset="0"/>
              <a:ea typeface="American Typewriter" charset="0"/>
              <a:cs typeface="American Typewriter" charset="0"/>
            </a:endParaRPr>
          </a:p>
        </p:txBody>
      </p:sp>
      <p:pic>
        <p:nvPicPr>
          <p:cNvPr id="5" name="内容占位符 4"/>
          <p:cNvPicPr>
            <a:picLocks noGrp="1" noChangeAspect="1"/>
          </p:cNvPicPr>
          <p:nvPr>
            <p:ph sz="half" idx="2"/>
          </p:nvPr>
        </p:nvPicPr>
        <p:blipFill>
          <a:blip r:embed="rId2"/>
          <a:stretch>
            <a:fillRect/>
          </a:stretch>
        </p:blipFill>
        <p:spPr>
          <a:xfrm>
            <a:off x="5791607" y="500063"/>
            <a:ext cx="5195481" cy="6121904"/>
          </a:xfrm>
          <a:prstGeom prst="rect">
            <a:avLst/>
          </a:prstGeom>
        </p:spPr>
      </p:pic>
    </p:spTree>
    <p:extLst>
      <p:ext uri="{BB962C8B-B14F-4D97-AF65-F5344CB8AC3E}">
        <p14:creationId xmlns:p14="http://schemas.microsoft.com/office/powerpoint/2010/main" val="59059802"/>
      </p:ext>
    </p:extLst>
  </p:cSld>
  <p:clrMapOvr>
    <a:masterClrMapping/>
  </p:clrMapOvr>
  <mc:AlternateContent xmlns:mc="http://schemas.openxmlformats.org/markup-compatibility/2006">
    <mc:Choice xmlns:p14="http://schemas.microsoft.com/office/powerpoint/2010/main" Requires="p14">
      <p:transition spd="slow" p14:dur="2000" advTm="3882"/>
    </mc:Choice>
    <mc:Fallback>
      <p:transition spd="slow" advTm="3882"/>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dirty="0" smtClean="0"/>
              <a:t>之前为啥没问题？</a:t>
            </a:r>
            <a:endParaRPr kumimoji="1" lang="zh-CN" altLang="en-US" dirty="0"/>
          </a:p>
        </p:txBody>
      </p:sp>
      <p:sp>
        <p:nvSpPr>
          <p:cNvPr id="5" name="内容占位符 4"/>
          <p:cNvSpPr>
            <a:spLocks noGrp="1"/>
          </p:cNvSpPr>
          <p:nvPr>
            <p:ph idx="1"/>
          </p:nvPr>
        </p:nvSpPr>
        <p:spPr/>
        <p:txBody>
          <a:bodyPr/>
          <a:lstStyle/>
          <a:p>
            <a:r>
              <a:rPr kumimoji="1" lang="zh-CN" altLang="en-US" dirty="0" smtClean="0"/>
              <a:t>坏块发生几率很少</a:t>
            </a:r>
            <a:endParaRPr kumimoji="1" lang="en-US" altLang="zh-CN" dirty="0" smtClean="0"/>
          </a:p>
          <a:p>
            <a:r>
              <a:rPr kumimoji="1" lang="zh-CN" altLang="en-US" dirty="0" smtClean="0"/>
              <a:t>底层针对</a:t>
            </a:r>
            <a:endParaRPr kumimoji="1" lang="en-US" altLang="zh-CN" dirty="0" smtClean="0"/>
          </a:p>
          <a:p>
            <a:r>
              <a:rPr kumimoji="1" lang="zh-CN" altLang="en-US" dirty="0" smtClean="0"/>
              <a:t>存储应用做了很多优化。</a:t>
            </a:r>
            <a:endParaRPr kumimoji="1" lang="en-US" altLang="zh-CN" dirty="0" smtClean="0"/>
          </a:p>
          <a:p>
            <a:endParaRPr kumimoji="1" lang="en-US" altLang="zh-CN" dirty="0"/>
          </a:p>
          <a:p>
            <a:r>
              <a:rPr kumimoji="1" lang="en-US" altLang="zh-CN" smtClean="0"/>
              <a:t>TODO</a:t>
            </a:r>
            <a:r>
              <a:rPr kumimoji="1" lang="zh-CN" altLang="en-US" smtClean="0"/>
              <a:t> </a:t>
            </a:r>
            <a:r>
              <a:rPr kumimoji="1" lang="en-US" altLang="zh-CN" smtClean="0"/>
              <a:t>commit</a:t>
            </a:r>
            <a:r>
              <a:rPr kumimoji="1" lang="zh-CN" altLang="en-US" smtClean="0"/>
              <a:t> </a:t>
            </a:r>
            <a:r>
              <a:rPr kumimoji="1" lang="en-US" altLang="zh-CN" smtClean="0"/>
              <a:t>log</a:t>
            </a:r>
            <a:endParaRPr kumimoji="1" lang="zh-CN" altLang="en-US" dirty="0"/>
          </a:p>
        </p:txBody>
      </p:sp>
    </p:spTree>
    <p:extLst>
      <p:ext uri="{BB962C8B-B14F-4D97-AF65-F5344CB8AC3E}">
        <p14:creationId xmlns:p14="http://schemas.microsoft.com/office/powerpoint/2010/main" val="96589992"/>
      </p:ext>
    </p:extLst>
  </p:cSld>
  <p:clrMapOvr>
    <a:masterClrMapping/>
  </p:clrMapOvr>
  <mc:AlternateContent xmlns:mc="http://schemas.openxmlformats.org/markup-compatibility/2006">
    <mc:Choice xmlns:p14="http://schemas.microsoft.com/office/powerpoint/2010/main" Requires="p14">
      <p:transition spd="slow" p14:dur="2000" advTm="32349"/>
    </mc:Choice>
    <mc:Fallback>
      <p:transition spd="slow" advTm="32349"/>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dirty="0" smtClean="0"/>
              <a:t>怎么做</a:t>
            </a:r>
            <a:endParaRPr kumimoji="1" lang="zh-CN" altLang="en-US" dirty="0"/>
          </a:p>
        </p:txBody>
      </p:sp>
      <p:sp>
        <p:nvSpPr>
          <p:cNvPr id="3" name="内容占位符 2"/>
          <p:cNvSpPr>
            <a:spLocks noGrp="1"/>
          </p:cNvSpPr>
          <p:nvPr>
            <p:ph idx="1"/>
          </p:nvPr>
        </p:nvSpPr>
        <p:spPr/>
        <p:txBody>
          <a:bodyPr/>
          <a:lstStyle/>
          <a:p>
            <a:r>
              <a:rPr kumimoji="1" lang="zh-CN" altLang="en-US" dirty="0" smtClean="0"/>
              <a:t>升级小版本</a:t>
            </a:r>
            <a:endParaRPr kumimoji="1" lang="en-US" altLang="zh-CN" dirty="0" smtClean="0"/>
          </a:p>
          <a:p>
            <a:pPr lvl="1"/>
            <a:r>
              <a:rPr lang="is-IS" altLang="zh-CN" dirty="0"/>
              <a:t>PostgreSQL 11 (</a:t>
            </a:r>
            <a:r>
              <a:rPr lang="is-IS" altLang="zh-CN" dirty="0">
                <a:hlinkClick r:id="rId2"/>
              </a:rPr>
              <a:t>11.2</a:t>
            </a:r>
            <a:r>
              <a:rPr lang="is-IS" altLang="zh-CN" dirty="0"/>
              <a:t>)</a:t>
            </a:r>
          </a:p>
          <a:p>
            <a:pPr lvl="1"/>
            <a:r>
              <a:rPr lang="is-IS" altLang="zh-CN" dirty="0"/>
              <a:t>PostgreSQL 10 (</a:t>
            </a:r>
            <a:r>
              <a:rPr lang="is-IS" altLang="zh-CN" dirty="0">
                <a:hlinkClick r:id="rId3"/>
              </a:rPr>
              <a:t>10.7</a:t>
            </a:r>
            <a:r>
              <a:rPr lang="is-IS" altLang="zh-CN" dirty="0"/>
              <a:t>)</a:t>
            </a:r>
          </a:p>
          <a:p>
            <a:pPr lvl="1"/>
            <a:r>
              <a:rPr lang="is-IS" altLang="zh-CN" dirty="0"/>
              <a:t>PostgreSQL 9.6 (</a:t>
            </a:r>
            <a:r>
              <a:rPr lang="is-IS" altLang="zh-CN" dirty="0">
                <a:hlinkClick r:id="rId4"/>
              </a:rPr>
              <a:t>9.6.12</a:t>
            </a:r>
            <a:r>
              <a:rPr lang="is-IS" altLang="zh-CN" dirty="0"/>
              <a:t>)</a:t>
            </a:r>
          </a:p>
          <a:p>
            <a:pPr lvl="1"/>
            <a:r>
              <a:rPr lang="is-IS" altLang="zh-CN" dirty="0"/>
              <a:t>PostgreSQL 9.5 (</a:t>
            </a:r>
            <a:r>
              <a:rPr lang="is-IS" altLang="zh-CN" dirty="0">
                <a:hlinkClick r:id="rId5"/>
              </a:rPr>
              <a:t>9.5.16</a:t>
            </a:r>
            <a:r>
              <a:rPr lang="is-IS" altLang="zh-CN" dirty="0"/>
              <a:t>)</a:t>
            </a:r>
          </a:p>
          <a:p>
            <a:pPr lvl="1"/>
            <a:r>
              <a:rPr lang="is-IS" altLang="zh-CN" dirty="0"/>
              <a:t>PostgreSQL 9.4 (</a:t>
            </a:r>
            <a:r>
              <a:rPr lang="is-IS" altLang="zh-CN" dirty="0">
                <a:hlinkClick r:id="rId6"/>
              </a:rPr>
              <a:t>9.4.21</a:t>
            </a:r>
            <a:r>
              <a:rPr lang="is-IS" altLang="zh-CN" dirty="0" smtClean="0"/>
              <a:t>)</a:t>
            </a:r>
            <a:endParaRPr kumimoji="1" lang="en-US" altLang="zh-CN" dirty="0"/>
          </a:p>
          <a:p>
            <a:r>
              <a:rPr kumimoji="1" lang="zh-CN" altLang="en-US" dirty="0" smtClean="0"/>
              <a:t>一个参数</a:t>
            </a:r>
            <a:endParaRPr kumimoji="1" lang="en-US" altLang="zh-CN" dirty="0" smtClean="0"/>
          </a:p>
          <a:p>
            <a:pPr lvl="1"/>
            <a:r>
              <a:rPr lang="zh-CN" altLang="en-US" dirty="0" smtClean="0"/>
              <a:t>如果你能确保你的</a:t>
            </a:r>
            <a:r>
              <a:rPr lang="en-US" altLang="zh-CN" dirty="0" smtClean="0"/>
              <a:t>OS</a:t>
            </a:r>
            <a:r>
              <a:rPr lang="zh-CN" altLang="en-US" dirty="0" smtClean="0"/>
              <a:t>和存储设备不存在以上问题，那么通过</a:t>
            </a:r>
            <a:r>
              <a:rPr lang="en-US" altLang="zh-CN" dirty="0" err="1" smtClean="0"/>
              <a:t>data_sync_retry</a:t>
            </a:r>
            <a:r>
              <a:rPr lang="zh-CN" altLang="en-US" dirty="0" smtClean="0"/>
              <a:t>跳过强制</a:t>
            </a:r>
            <a:r>
              <a:rPr lang="en-US" altLang="zh-CN" dirty="0" smtClean="0"/>
              <a:t>crash</a:t>
            </a:r>
            <a:r>
              <a:rPr lang="zh-CN" altLang="en-US" dirty="0" smtClean="0"/>
              <a:t>，否则就要</a:t>
            </a:r>
            <a:r>
              <a:rPr lang="en-US" altLang="zh-CN" dirty="0" smtClean="0"/>
              <a:t>crash</a:t>
            </a:r>
            <a:endParaRPr kumimoji="1" lang="en-US" altLang="zh-CN" dirty="0" smtClean="0"/>
          </a:p>
        </p:txBody>
      </p:sp>
    </p:spTree>
    <p:extLst>
      <p:ext uri="{BB962C8B-B14F-4D97-AF65-F5344CB8AC3E}">
        <p14:creationId xmlns:p14="http://schemas.microsoft.com/office/powerpoint/2010/main" val="562304336"/>
      </p:ext>
    </p:extLst>
  </p:cSld>
  <p:clrMapOvr>
    <a:masterClrMapping/>
  </p:clrMapOvr>
  <mc:AlternateContent xmlns:mc="http://schemas.openxmlformats.org/markup-compatibility/2006">
    <mc:Choice xmlns:p14="http://schemas.microsoft.com/office/powerpoint/2010/main" Requires="p14">
      <p:transition spd="slow" p14:dur="2000" advTm="745"/>
    </mc:Choice>
    <mc:Fallback>
      <p:transition spd="slow" advTm="745"/>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Links</a:t>
            </a:r>
            <a:endParaRPr lang="zh-CN" altLang="en-US" dirty="0"/>
          </a:p>
        </p:txBody>
      </p:sp>
      <p:sp>
        <p:nvSpPr>
          <p:cNvPr id="3" name="内容占位符 2"/>
          <p:cNvSpPr>
            <a:spLocks noGrp="1"/>
          </p:cNvSpPr>
          <p:nvPr>
            <p:ph idx="1"/>
          </p:nvPr>
        </p:nvSpPr>
        <p:spPr/>
        <p:txBody>
          <a:bodyPr>
            <a:normAutofit fontScale="55000" lnSpcReduction="20000"/>
          </a:bodyPr>
          <a:lstStyle/>
          <a:p>
            <a:r>
              <a:rPr lang="en-US" altLang="zh-CN" dirty="0" smtClean="0"/>
              <a:t>Double</a:t>
            </a:r>
            <a:r>
              <a:rPr lang="zh-CN" altLang="en-US" dirty="0" smtClean="0"/>
              <a:t> </a:t>
            </a:r>
            <a:r>
              <a:rPr lang="en-US" altLang="zh-CN" dirty="0" smtClean="0"/>
              <a:t>Buffer</a:t>
            </a:r>
          </a:p>
          <a:p>
            <a:pPr lvl="1"/>
            <a:r>
              <a:rPr lang="en-US" altLang="zh-CN" dirty="0" smtClean="0">
                <a:hlinkClick r:id="rId3"/>
              </a:rPr>
              <a:t>http://liuyangming.tech/10-2019/INNODB-vs-PgSQL-buffer.html</a:t>
            </a:r>
            <a:endParaRPr lang="en-US" altLang="zh-CN" dirty="0" smtClean="0"/>
          </a:p>
          <a:p>
            <a:pPr lvl="1"/>
            <a:r>
              <a:rPr lang="en-US" altLang="zh-CN" dirty="0">
                <a:hlinkClick r:id="rId4"/>
              </a:rPr>
              <a:t>https://lwn.net/Articles/457667</a:t>
            </a:r>
            <a:r>
              <a:rPr lang="en-US" altLang="zh-CN" dirty="0" smtClean="0">
                <a:hlinkClick r:id="rId4"/>
              </a:rPr>
              <a:t>/</a:t>
            </a:r>
            <a:endParaRPr lang="en-US" altLang="zh-CN" dirty="0" smtClean="0"/>
          </a:p>
          <a:p>
            <a:pPr lvl="1"/>
            <a:r>
              <a:rPr lang="en-US" altLang="zh-CN" dirty="0">
                <a:hlinkClick r:id="rId5"/>
              </a:rPr>
              <a:t>https://www.postgresql-archive.org/a-question-about-Direct-I-O-and-double-buffering-td2062191.html</a:t>
            </a:r>
            <a:endParaRPr lang="en-US" altLang="zh-CN" dirty="0" smtClean="0"/>
          </a:p>
          <a:p>
            <a:r>
              <a:rPr lang="en-US" altLang="zh-CN" dirty="0" smtClean="0"/>
              <a:t>Checkpoint</a:t>
            </a:r>
          </a:p>
          <a:p>
            <a:pPr lvl="1"/>
            <a:r>
              <a:rPr lang="en-US" altLang="zh-CN" dirty="0">
                <a:hlinkClick r:id="rId6"/>
              </a:rPr>
              <a:t>https://</a:t>
            </a:r>
            <a:r>
              <a:rPr lang="en-US" altLang="zh-CN" dirty="0" smtClean="0">
                <a:hlinkClick r:id="rId6"/>
              </a:rPr>
              <a:t>billtian.github.io/digoal.blog/2016/09/28/01.html</a:t>
            </a:r>
            <a:endParaRPr lang="en-US" altLang="zh-CN" dirty="0" smtClean="0"/>
          </a:p>
          <a:p>
            <a:pPr lvl="1"/>
            <a:r>
              <a:rPr lang="en-US" altLang="zh-CN" dirty="0">
                <a:hlinkClick r:id="rId7"/>
              </a:rPr>
              <a:t>http://</a:t>
            </a:r>
            <a:r>
              <a:rPr lang="en-US" altLang="zh-CN" dirty="0" smtClean="0">
                <a:hlinkClick r:id="rId7"/>
              </a:rPr>
              <a:t>yoshinorimatsunobu.blogspot.com/2014/03/how-syncfilerange-really-works.html</a:t>
            </a:r>
            <a:endParaRPr lang="en-US" altLang="zh-CN" dirty="0" smtClean="0"/>
          </a:p>
          <a:p>
            <a:pPr lvl="1"/>
            <a:r>
              <a:rPr lang="en-US" altLang="zh-CN" dirty="0">
                <a:hlinkClick r:id="rId8"/>
              </a:rPr>
              <a:t>https://git.postgresql.org/gitweb/?</a:t>
            </a:r>
            <a:r>
              <a:rPr lang="en-US" altLang="zh-CN" dirty="0" smtClean="0">
                <a:hlinkClick r:id="rId8"/>
              </a:rPr>
              <a:t>p=postgresql.git;a=commit;h=428b1d6b29ca599c5700d4bc4f4ce4c5880369bf</a:t>
            </a:r>
            <a:endParaRPr lang="en-US" altLang="zh-CN" dirty="0" smtClean="0"/>
          </a:p>
          <a:p>
            <a:pPr lvl="1"/>
            <a:r>
              <a:rPr lang="en-US" altLang="zh-CN" u="sng" dirty="0">
                <a:hlinkClick r:id="rId9"/>
              </a:rPr>
              <a:t>https://git.postgresql.org/gitweb</a:t>
            </a:r>
            <a:r>
              <a:rPr lang="en-US" altLang="zh-CN" u="sng" dirty="0" smtClean="0">
                <a:hlinkClick r:id="rId9"/>
              </a:rPr>
              <a:t>/?p=postgresql.git;a=commitdiff;h=9cd00c457e6a1ebb984167ac556a9961812a683c</a:t>
            </a:r>
            <a:endParaRPr lang="en-US" altLang="zh-CN" u="sng" dirty="0" smtClean="0"/>
          </a:p>
          <a:p>
            <a:pPr lvl="1"/>
            <a:r>
              <a:rPr lang="en-US" altLang="zh-CN" dirty="0">
                <a:hlinkClick r:id="rId7"/>
              </a:rPr>
              <a:t>http://yoshinorimatsunobu.blogspot.com/2014/03/how-syncfilerange-really-works.html</a:t>
            </a:r>
            <a:endParaRPr lang="en-US" altLang="zh-CN" u="sng" dirty="0" smtClean="0"/>
          </a:p>
          <a:p>
            <a:pPr lvl="1"/>
            <a:r>
              <a:rPr lang="en-US" altLang="zh-CN" u="sng" dirty="0">
                <a:hlinkClick r:id="rId10"/>
              </a:rPr>
              <a:t>https://</a:t>
            </a:r>
            <a:r>
              <a:rPr lang="en-US" altLang="zh-CN" u="sng" dirty="0" smtClean="0">
                <a:hlinkClick r:id="rId10"/>
              </a:rPr>
              <a:t>www.postgresql.org/docs/10/runtime-config-error-handling.html#GUC-DATA-SYNC-RETRY</a:t>
            </a:r>
            <a:endParaRPr lang="en-US" altLang="zh-CN" u="sng" dirty="0" smtClean="0"/>
          </a:p>
          <a:p>
            <a:pPr lvl="1"/>
            <a:r>
              <a:rPr lang="en-US" altLang="zh-CN" dirty="0">
                <a:hlinkClick r:id="rId11"/>
              </a:rPr>
              <a:t>https://news.ycombinator.com/item?id=11512653</a:t>
            </a:r>
            <a:endParaRPr lang="en-US" altLang="zh-CN" dirty="0" smtClean="0"/>
          </a:p>
          <a:p>
            <a:r>
              <a:rPr lang="en-US" altLang="zh-CN" dirty="0" err="1" smtClean="0"/>
              <a:t>Fsync</a:t>
            </a:r>
            <a:endParaRPr lang="en-US" altLang="zh-CN" dirty="0" smtClean="0"/>
          </a:p>
          <a:p>
            <a:pPr lvl="1"/>
            <a:r>
              <a:rPr lang="en-US" altLang="zh-CN" dirty="0">
                <a:hlinkClick r:id="rId12"/>
              </a:rPr>
              <a:t>https://www.postgresql.org/message-id/flat/CAMsr%2BYHh%2B5Oq4xziwwoEfhoTZgr07vdGG%2Bhu%3D1adXx59aTeaoQ%40mail.gmail.com</a:t>
            </a:r>
            <a:endParaRPr lang="en-US" altLang="zh-CN" dirty="0" smtClean="0"/>
          </a:p>
          <a:p>
            <a:pPr lvl="1"/>
            <a:r>
              <a:rPr lang="en-US" altLang="zh-CN" dirty="0">
                <a:hlinkClick r:id="rId13"/>
              </a:rPr>
              <a:t>https://lwn.net/Articles/752063</a:t>
            </a:r>
            <a:r>
              <a:rPr lang="en-US" altLang="zh-CN" dirty="0" smtClean="0">
                <a:hlinkClick r:id="rId13"/>
              </a:rPr>
              <a:t>/</a:t>
            </a:r>
            <a:endParaRPr lang="en-US" altLang="zh-CN" dirty="0" smtClean="0"/>
          </a:p>
          <a:p>
            <a:pPr lvl="1"/>
            <a:r>
              <a:rPr lang="en-US" altLang="zh-CN" dirty="0">
                <a:hlinkClick r:id="rId14"/>
              </a:rPr>
              <a:t>https://wiki.postgresql.org/wiki/Fsync_Errors</a:t>
            </a:r>
            <a:endParaRPr lang="en-US" altLang="zh-CN" dirty="0" smtClean="0"/>
          </a:p>
          <a:p>
            <a:pPr lvl="1"/>
            <a:r>
              <a:rPr lang="en-US" altLang="zh-CN" dirty="0">
                <a:hlinkClick r:id="rId15"/>
              </a:rPr>
              <a:t>https://www.redhat.com/en/topics/data-storage/file-block-object-storage#:~:text=File%20storage%20organizes%20and%20represents,links%20it%20to%20associated%20metadata.</a:t>
            </a:r>
            <a:endParaRPr lang="en-US" altLang="zh-CN" dirty="0" smtClean="0"/>
          </a:p>
          <a:p>
            <a:pPr lvl="1"/>
            <a:r>
              <a:rPr lang="en-US" altLang="zh-CN" dirty="0" smtClean="0">
                <a:hlinkClick r:id="rId16"/>
              </a:rPr>
              <a:t>https://</a:t>
            </a:r>
            <a:r>
              <a:rPr lang="en-US" altLang="zh-CN" dirty="0">
                <a:hlinkClick r:id="rId16"/>
              </a:rPr>
              <a:t>www.percona.com/blog/2019/02/22/postgresql-fsync-failure-fixed-minor-versions-released-feb-14-2019</a:t>
            </a:r>
            <a:r>
              <a:rPr lang="en-US" altLang="zh-CN" dirty="0" smtClean="0">
                <a:hlinkClick r:id="rId16"/>
              </a:rPr>
              <a:t>/</a:t>
            </a:r>
            <a:endParaRPr lang="en-US" altLang="zh-CN" dirty="0" smtClean="0"/>
          </a:p>
          <a:p>
            <a:pPr lvl="1"/>
            <a:r>
              <a:rPr lang="en-US" altLang="zh-CN" u="sng" dirty="0">
                <a:hlinkClick r:id="rId17"/>
              </a:rPr>
              <a:t>https://fosdem.org/2019/schedule/event/postgresql_fsync</a:t>
            </a:r>
            <a:r>
              <a:rPr lang="en-US" altLang="zh-CN" u="sng" dirty="0" smtClean="0">
                <a:hlinkClick r:id="rId17"/>
              </a:rPr>
              <a:t>/</a:t>
            </a:r>
            <a:endParaRPr lang="en-US" altLang="zh-CN" u="sng" dirty="0" smtClean="0"/>
          </a:p>
          <a:p>
            <a:pPr lvl="1"/>
            <a:endParaRPr lang="zh-CN" altLang="en-US" dirty="0"/>
          </a:p>
        </p:txBody>
      </p:sp>
    </p:spTree>
    <p:extLst>
      <p:ext uri="{BB962C8B-B14F-4D97-AF65-F5344CB8AC3E}">
        <p14:creationId xmlns:p14="http://schemas.microsoft.com/office/powerpoint/2010/main" val="728422877"/>
      </p:ext>
    </p:extLst>
  </p:cSld>
  <p:clrMapOvr>
    <a:masterClrMapping/>
  </p:clrMapOvr>
  <mc:AlternateContent xmlns:mc="http://schemas.openxmlformats.org/markup-compatibility/2006">
    <mc:Choice xmlns:p14="http://schemas.microsoft.com/office/powerpoint/2010/main" Requires="p14">
      <p:transition spd="slow" p14:dur="2000" advTm="20341"/>
    </mc:Choice>
    <mc:Fallback>
      <p:transition spd="slow" advTm="20341"/>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内容占位符 5"/>
          <p:cNvPicPr>
            <a:picLocks noGrp="1" noChangeAspect="1"/>
          </p:cNvPicPr>
          <p:nvPr>
            <p:ph idx="1"/>
          </p:nvPr>
        </p:nvPicPr>
        <p:blipFill>
          <a:blip r:embed="rId2"/>
          <a:stretch>
            <a:fillRect/>
          </a:stretch>
        </p:blipFill>
        <p:spPr>
          <a:xfrm>
            <a:off x="4049485" y="858513"/>
            <a:ext cx="4252686" cy="5094045"/>
          </a:xfrm>
          <a:prstGeom prst="rect">
            <a:avLst/>
          </a:prstGeom>
        </p:spPr>
      </p:pic>
    </p:spTree>
    <p:extLst>
      <p:ext uri="{BB962C8B-B14F-4D97-AF65-F5344CB8AC3E}">
        <p14:creationId xmlns:p14="http://schemas.microsoft.com/office/powerpoint/2010/main" val="1550735716"/>
      </p:ext>
    </p:extLst>
  </p:cSld>
  <p:clrMapOvr>
    <a:masterClrMapping/>
  </p:clrMapOvr>
  <mc:AlternateContent xmlns:mc="http://schemas.openxmlformats.org/markup-compatibility/2006">
    <mc:Choice xmlns:p14="http://schemas.microsoft.com/office/powerpoint/2010/main" Requires="p14">
      <p:transition spd="slow" p14:dur="2000" advTm="12890"/>
    </mc:Choice>
    <mc:Fallback>
      <p:transition spd="slow" advTm="12890"/>
    </mc:Fallback>
  </mc:AlternateContent>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TIMING" val="|126.7|23.8"/>
</p:tagLst>
</file>

<file path=ppt/tags/tag2.xml><?xml version="1.0" encoding="utf-8"?>
<p:tagLst xmlns:a="http://schemas.openxmlformats.org/drawingml/2006/main" xmlns:r="http://schemas.openxmlformats.org/officeDocument/2006/relationships" xmlns:p="http://schemas.openxmlformats.org/presentationml/2006/main">
  <p:tag name="TIMING" val="|0.9"/>
</p:tagLst>
</file>

<file path=ppt/tags/tag3.xml><?xml version="1.0" encoding="utf-8"?>
<p:tagLst xmlns:a="http://schemas.openxmlformats.org/drawingml/2006/main" xmlns:r="http://schemas.openxmlformats.org/officeDocument/2006/relationships" xmlns:p="http://schemas.openxmlformats.org/presentationml/2006/main">
  <p:tag name="TIMING" val="|68.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engXian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engXian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5621</TotalTime>
  <Words>634</Words>
  <Application>Microsoft Macintosh PowerPoint</Application>
  <PresentationFormat>宽屏</PresentationFormat>
  <Paragraphs>131</Paragraphs>
  <Slides>22</Slides>
  <Notes>8</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22</vt:i4>
      </vt:variant>
    </vt:vector>
  </HeadingPairs>
  <TitlesOfParts>
    <vt:vector size="28" baseType="lpstr">
      <vt:lpstr>American Typewriter</vt:lpstr>
      <vt:lpstr>Baoli SC</vt:lpstr>
      <vt:lpstr>DengXian</vt:lpstr>
      <vt:lpstr>DengXian Light</vt:lpstr>
      <vt:lpstr>Arial</vt:lpstr>
      <vt:lpstr>Office 主题</vt:lpstr>
      <vt:lpstr>再谈shared_buffer</vt:lpstr>
      <vt:lpstr>shared_buffers </vt:lpstr>
      <vt:lpstr>为什么PostgreSQL的shared_buffer推荐只用25%~40%的内存？</vt:lpstr>
      <vt:lpstr>Why shared_buffers 25%~40%?</vt:lpstr>
      <vt:lpstr>Why shared_buffers 25%~40%?</vt:lpstr>
      <vt:lpstr>outline</vt:lpstr>
      <vt:lpstr>outline</vt:lpstr>
      <vt:lpstr>Linux文件I/O</vt:lpstr>
      <vt:lpstr>PostgreSQL的double buffer</vt:lpstr>
      <vt:lpstr>PostgreSQL为什么这么设计？ </vt:lpstr>
      <vt:lpstr>个人见解</vt:lpstr>
      <vt:lpstr>配置shared_buffer时的思考点</vt:lpstr>
      <vt:lpstr>outline</vt:lpstr>
      <vt:lpstr>Shared_buffer的回写，要平滑地且顺序地</vt:lpstr>
      <vt:lpstr>两个系统调用和三个参数(&gt;9.6)</vt:lpstr>
      <vt:lpstr>Spread CHECKPOINT</vt:lpstr>
      <vt:lpstr>Write back</vt:lpstr>
      <vt:lpstr>fsync</vt:lpstr>
      <vt:lpstr>之前为啥没问题？</vt:lpstr>
      <vt:lpstr>怎么做</vt:lpstr>
      <vt:lpstr>Links</vt:lpstr>
      <vt:lpstr>PowerPoint 演示文稿</vt:lpstr>
    </vt:vector>
  </TitlesOfParts>
  <Company/>
  <LinksUpToDate>false</LinksUpToDate>
  <SharedDoc>false</SharedDoc>
  <HyperlinksChanged>false</HyperlinksChanged>
  <AppVersion>15.0041</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Pg缓冲池全解</dc:title>
  <dc:creator>Microsoft Office 用户</dc:creator>
  <cp:lastModifiedBy>Microsoft Office 用户</cp:lastModifiedBy>
  <cp:revision>181</cp:revision>
  <dcterms:created xsi:type="dcterms:W3CDTF">2019-11-03T01:21:27Z</dcterms:created>
  <dcterms:modified xsi:type="dcterms:W3CDTF">2019-11-11T14:40:49Z</dcterms:modified>
</cp:coreProperties>
</file>