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3" r:id="rId4"/>
    <p:sldId id="283" r:id="rId5"/>
    <p:sldId id="277" r:id="rId6"/>
    <p:sldId id="263" r:id="rId7"/>
    <p:sldId id="274" r:id="rId8"/>
    <p:sldId id="260" r:id="rId9"/>
    <p:sldId id="275" r:id="rId10"/>
    <p:sldId id="262" r:id="rId11"/>
    <p:sldId id="279" r:id="rId12"/>
    <p:sldId id="268" r:id="rId13"/>
    <p:sldId id="280" r:id="rId14"/>
    <p:sldId id="281" r:id="rId15"/>
    <p:sldId id="267" r:id="rId16"/>
    <p:sldId id="282" r:id="rId17"/>
    <p:sldId id="271" r:id="rId18"/>
    <p:sldId id="272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90"/>
    <p:restoredTop sz="73789"/>
  </p:normalViewPr>
  <p:slideViewPr>
    <p:cSldViewPr snapToGrid="0" snapToObjects="1">
      <p:cViewPr varScale="1">
        <p:scale>
          <a:sx n="89" d="100"/>
          <a:sy n="89" d="100"/>
        </p:scale>
        <p:origin x="184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E15F5-6E8A-304E-A626-99BFA75D3031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A40FC4-4BF0-C949-B638-8140D736F85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4630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kumimoji="1" lang="zh-CN" altLang="en-US" dirty="0" smtClean="0"/>
              <a:t>数据缓冲区是</a:t>
            </a:r>
            <a:r>
              <a:rPr kumimoji="1" lang="en-US" altLang="zh-CN" dirty="0" smtClean="0"/>
              <a:t>Database</a:t>
            </a:r>
            <a:r>
              <a:rPr kumimoji="1" lang="zh-CN" altLang="en-US" dirty="0" smtClean="0"/>
              <a:t>内部的一个数据中间层，不会影响数据的正确性，但是对数据库的性能至关重要；</a:t>
            </a:r>
            <a:endParaRPr kumimoji="1" lang="en-US" altLang="zh-CN" dirty="0" smtClean="0"/>
          </a:p>
          <a:p>
            <a:pPr algn="l"/>
            <a:r>
              <a:rPr kumimoji="1" lang="zh-CN" altLang="en-US" dirty="0" smtClean="0"/>
              <a:t>这里全面讲述一下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的数缓冲区设计，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A40FC4-4BF0-C949-B638-8140D736F858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19964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计算机系统充满了各种抽象，但是要自己的抽象接口的行为是对的。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A40FC4-4BF0-C949-B638-8140D736F858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554737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A40FC4-4BF0-C949-B638-8140D736F858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4641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A40FC4-4BF0-C949-B638-8140D736F858}" type="slidenum">
              <a:rPr kumimoji="1" lang="zh-CN" altLang="en-US" smtClean="0"/>
              <a:t>17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51600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61958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3114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9865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8394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3299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7466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94846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069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66774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3315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911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6237A-B1B2-7B4A-96C8-8424FC8FC192}" type="datetimeFigureOut">
              <a:rPr kumimoji="1" lang="zh-CN" altLang="en-US" smtClean="0"/>
              <a:t>2019/11/8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36EE5B-26A1-FE4B-928C-0FB286A726A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1544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emf"/><Relationship Id="rId3" Type="http://schemas.openxmlformats.org/officeDocument/2006/relationships/image" Target="../media/image2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emf"/><Relationship Id="rId3" Type="http://schemas.openxmlformats.org/officeDocument/2006/relationships/image" Target="../media/image5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e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e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1" Type="http://schemas.openxmlformats.org/officeDocument/2006/relationships/hyperlink" Target="https://news.ycombinator.com/item?id=11512653" TargetMode="External"/><Relationship Id="rId12" Type="http://schemas.openxmlformats.org/officeDocument/2006/relationships/hyperlink" Target="https://www.postgresql.org/message-id/flat/CAMsr+YHh+5Oq4xziwwoEfhoTZgr07vdGG+hu=1adXx59aTeaoQ@mail.gmail.com" TargetMode="External"/><Relationship Id="rId13" Type="http://schemas.openxmlformats.org/officeDocument/2006/relationships/hyperlink" Target="https://lwn.net/Articles/752063/" TargetMode="External"/><Relationship Id="rId14" Type="http://schemas.openxmlformats.org/officeDocument/2006/relationships/hyperlink" Target="https://wiki.postgresql.org/wiki/Fsync_Errors" TargetMode="External"/><Relationship Id="rId15" Type="http://schemas.openxmlformats.org/officeDocument/2006/relationships/hyperlink" Target="https://www.redhat.com/en/topics/data-storage/file-block-object-storage#:~:text=File%20storage%20organizes%20and%20represents,links%20it%20to%20associated%20metadata." TargetMode="External"/><Relationship Id="rId16" Type="http://schemas.openxmlformats.org/officeDocument/2006/relationships/hyperlink" Target="https://www.percona.com/blog/2019/02/22/postgresql-fsync-failure-fixed-minor-versions-released-feb-14-2019/" TargetMode="External"/><Relationship Id="rId17" Type="http://schemas.openxmlformats.org/officeDocument/2006/relationships/hyperlink" Target="https://fosdem.org/2019/schedule/event/postgresql_fsync/" TargetMode="Externa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liuyangming.tech/10-2019/INNODB-vs-PgSQL-buffer.html" TargetMode="External"/><Relationship Id="rId4" Type="http://schemas.openxmlformats.org/officeDocument/2006/relationships/hyperlink" Target="https://lwn.net/Articles/457667/" TargetMode="External"/><Relationship Id="rId5" Type="http://schemas.openxmlformats.org/officeDocument/2006/relationships/hyperlink" Target="https://www.postgresql-archive.org/a-question-about-Direct-I-O-and-double-buffering-td2062191.html" TargetMode="External"/><Relationship Id="rId6" Type="http://schemas.openxmlformats.org/officeDocument/2006/relationships/hyperlink" Target="https://billtian.github.io/digoal.blog/2016/09/28/01.html" TargetMode="External"/><Relationship Id="rId7" Type="http://schemas.openxmlformats.org/officeDocument/2006/relationships/hyperlink" Target="http://yoshinorimatsunobu.blogspot.com/2014/03/how-syncfilerange-really-works.html" TargetMode="External"/><Relationship Id="rId8" Type="http://schemas.openxmlformats.org/officeDocument/2006/relationships/hyperlink" Target="https://git.postgresql.org/gitweb/?p=postgresql.git;a=commit;h=428b1d6b29ca599c5700d4bc4f4ce4c5880369bf" TargetMode="External"/><Relationship Id="rId9" Type="http://schemas.openxmlformats.org/officeDocument/2006/relationships/hyperlink" Target="https://git.postgresql.org/gitweb/?p=postgresql.git;a=commitdiff;h=9cd00c457e6a1ebb984167ac556a9961812a683c" TargetMode="External"/><Relationship Id="rId10" Type="http://schemas.openxmlformats.org/officeDocument/2006/relationships/hyperlink" Target="https://www.postgresql.org/docs/10/runtime-config-error-handling.html#GUC-DATA-SYNC-RETRY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 smtClean="0"/>
              <a:t>再谈</a:t>
            </a:r>
            <a:r>
              <a:rPr kumimoji="1" lang="en-US" altLang="zh-CN" dirty="0" err="1" smtClean="0"/>
              <a:t>shared_buffer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kumimoji="1" lang="en-US" altLang="zh-CN" dirty="0" smtClean="0">
                <a:solidFill>
                  <a:schemeClr val="bg1">
                    <a:lumMod val="50000"/>
                  </a:schemeClr>
                </a:solidFill>
              </a:rPr>
              <a:t>——</a:t>
            </a:r>
            <a:r>
              <a:rPr kumimoji="1" lang="zh-CN" altLang="en-US" dirty="0" smtClean="0">
                <a:solidFill>
                  <a:schemeClr val="bg1">
                    <a:lumMod val="50000"/>
                  </a:schemeClr>
                </a:solidFill>
              </a:rPr>
              <a:t> 一个小问题的思考总结</a:t>
            </a:r>
            <a:endParaRPr kumimoji="1" lang="en-US" altLang="zh-CN" dirty="0" smtClean="0">
              <a:solidFill>
                <a:schemeClr val="bg1">
                  <a:lumMod val="50000"/>
                </a:schemeClr>
              </a:solidFill>
            </a:endParaRPr>
          </a:p>
          <a:p>
            <a:pPr algn="r"/>
            <a:endParaRPr kumimoji="1" lang="en-US" altLang="zh-CN" dirty="0" smtClean="0"/>
          </a:p>
          <a:p>
            <a:pPr algn="r"/>
            <a:r>
              <a:rPr kumimoji="1" lang="zh-CN" altLang="en-US" dirty="0" smtClean="0"/>
              <a:t>刘</a:t>
            </a:r>
            <a:r>
              <a:rPr kumimoji="1" lang="zh-CN" altLang="en-US" dirty="0" smtClean="0"/>
              <a:t>阳明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467757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541"/>
    </mc:Choice>
    <mc:Fallback>
      <p:transition spd="slow" advTm="654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outline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double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</a:p>
          <a:p>
            <a:r>
              <a:rPr kumimoji="1" lang="en-US" altLang="zh-CN" dirty="0" smtClean="0"/>
              <a:t>checkpoint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633712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endParaRPr kumimoji="1" lang="zh-CN" altLang="en-US" dirty="0"/>
          </a:p>
        </p:txBody>
      </p:sp>
      <p:pic>
        <p:nvPicPr>
          <p:cNvPr id="9" name="内容占位符 8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500188" y="1607554"/>
            <a:ext cx="3786187" cy="5421719"/>
          </a:xfrm>
          <a:prstGeom prst="rect">
            <a:avLst/>
          </a:prstGeom>
        </p:spPr>
      </p:pic>
      <p:pic>
        <p:nvPicPr>
          <p:cNvPr id="12" name="内容占位符 11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229476" y="1678943"/>
            <a:ext cx="3514724" cy="532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019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Why</a:t>
            </a:r>
            <a:r>
              <a:rPr kumimoji="1" lang="zh-CN" altLang="en-US" dirty="0"/>
              <a:t> </a:t>
            </a:r>
            <a:r>
              <a:rPr kumimoji="1" lang="en-US" altLang="zh-CN" dirty="0"/>
              <a:t>PostgreSQL</a:t>
            </a:r>
            <a:r>
              <a:rPr kumimoji="1" lang="zh-CN" altLang="en-US" dirty="0"/>
              <a:t> </a:t>
            </a:r>
            <a:r>
              <a:rPr kumimoji="1" lang="en-US" altLang="zh-CN" dirty="0"/>
              <a:t>25%</a:t>
            </a:r>
            <a:r>
              <a:rPr kumimoji="1" lang="zh-CN" altLang="en-US" dirty="0"/>
              <a:t> </a:t>
            </a:r>
            <a:r>
              <a:rPr kumimoji="1" lang="en-US" altLang="zh-CN" dirty="0"/>
              <a:t>?</a:t>
            </a:r>
            <a:r>
              <a:rPr kumimoji="1" lang="zh-CN" altLang="en-US" dirty="0"/>
              <a:t> </a:t>
            </a:r>
            <a:r>
              <a:rPr kumimoji="1" lang="en-US" altLang="zh-CN" dirty="0"/>
              <a:t>MySQL/</a:t>
            </a:r>
            <a:r>
              <a:rPr kumimoji="1" lang="en-US" altLang="zh-CN" dirty="0" err="1"/>
              <a:t>InnoDB</a:t>
            </a:r>
            <a:r>
              <a:rPr kumimoji="1" lang="zh-CN" altLang="en-US" dirty="0"/>
              <a:t> </a:t>
            </a:r>
            <a:r>
              <a:rPr kumimoji="1" lang="en-US" altLang="zh-CN" dirty="0"/>
              <a:t>80</a:t>
            </a:r>
            <a:r>
              <a:rPr kumimoji="1" lang="en-US" altLang="zh-CN" dirty="0" smtClean="0"/>
              <a:t>%?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6842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Linux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File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I/O</a:t>
            </a:r>
            <a:endParaRPr kumimoji="1"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CN" b="1" dirty="0" smtClean="0"/>
              <a:t>DIRECT</a:t>
            </a:r>
            <a:r>
              <a:rPr kumimoji="1" lang="zh-CN" altLang="en-US" b="1" dirty="0" smtClean="0"/>
              <a:t> </a:t>
            </a:r>
            <a:r>
              <a:rPr kumimoji="1" lang="en-US" altLang="zh-CN" b="1" dirty="0" smtClean="0"/>
              <a:t>I/O</a:t>
            </a:r>
          </a:p>
          <a:p>
            <a:r>
              <a:rPr kumimoji="1" lang="en-US" altLang="zh-CN" b="1" dirty="0" smtClean="0"/>
              <a:t>BUFFER</a:t>
            </a:r>
            <a:r>
              <a:rPr kumimoji="1" lang="zh-CN" altLang="en-US" b="1" dirty="0" smtClean="0"/>
              <a:t> </a:t>
            </a:r>
            <a:r>
              <a:rPr kumimoji="1" lang="en-US" altLang="zh-CN" b="1" dirty="0" smtClean="0"/>
              <a:t>I/O</a:t>
            </a:r>
          </a:p>
          <a:p>
            <a:r>
              <a:rPr lang="en-US" altLang="zh-CN" b="1" dirty="0"/>
              <a:t>Synchronized </a:t>
            </a:r>
            <a:r>
              <a:rPr lang="en-US" altLang="zh-CN" b="1" dirty="0" smtClean="0"/>
              <a:t>I/O</a:t>
            </a:r>
            <a:endParaRPr kumimoji="1" lang="en-US" altLang="zh-CN" b="1" dirty="0" smtClean="0"/>
          </a:p>
        </p:txBody>
      </p:sp>
      <p:pic>
        <p:nvPicPr>
          <p:cNvPr id="9" name="内容占位符 8"/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83620" y="1690688"/>
            <a:ext cx="5988580" cy="426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950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bufferpool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zh-CN" dirty="0" smtClean="0"/>
          </a:p>
          <a:p>
            <a:endParaRPr kumimoji="1" lang="zh-CN" altLang="en-US" dirty="0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88" y="1717675"/>
            <a:ext cx="3848100" cy="4445000"/>
          </a:xfrm>
          <a:prstGeom prst="rect">
            <a:avLst/>
          </a:prstGeom>
        </p:spPr>
      </p:pic>
      <p:pic>
        <p:nvPicPr>
          <p:cNvPr id="22" name="内容占位符 21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097588" y="1690687"/>
            <a:ext cx="4696994" cy="447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379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en-US" altLang="zh-CN" dirty="0"/>
              <a:t>PostgreSQL</a:t>
            </a:r>
            <a:r>
              <a:rPr kumimoji="1" lang="zh-CN" altLang="en-US" dirty="0"/>
              <a:t>为什么这么设计</a:t>
            </a:r>
            <a:r>
              <a:rPr kumimoji="1" lang="zh-CN" altLang="en-US" dirty="0" smtClean="0"/>
              <a:t>？</a:t>
            </a:r>
            <a:r>
              <a:rPr kumimoji="1" lang="en-US" altLang="zh-CN" dirty="0" smtClean="0"/>
              <a:t/>
            </a:r>
            <a:br>
              <a:rPr kumimoji="1" lang="en-US" altLang="zh-CN" dirty="0" smtClean="0"/>
            </a:b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95632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个人见解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诞生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时的历史原因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数据库原理的研究性项目，充分利用</a:t>
            </a:r>
            <a:r>
              <a:rPr kumimoji="1" lang="en-US" altLang="zh-CN" dirty="0" err="1" smtClean="0"/>
              <a:t>Os</a:t>
            </a:r>
            <a:r>
              <a:rPr kumimoji="1" lang="zh-CN" altLang="en-US" dirty="0" smtClean="0"/>
              <a:t>机制，可以专注在数据库内核上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IO</a:t>
            </a:r>
            <a:r>
              <a:rPr kumimoji="1" lang="zh-CN" altLang="en-US" dirty="0" smtClean="0"/>
              <a:t>栈的开发需要一定工作量，研究人员有限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其实用起来差不了不少</a:t>
            </a:r>
            <a:endParaRPr kumimoji="1" lang="en-US" altLang="zh-CN" dirty="0" smtClean="0"/>
          </a:p>
          <a:p>
            <a:r>
              <a:rPr kumimoji="1" lang="zh-CN" altLang="en-US" dirty="0" smtClean="0"/>
              <a:t>多进程和多线程的并发机制的不同，其对内存的使用方式也会有差别。</a:t>
            </a:r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02" y="4169282"/>
            <a:ext cx="6461598" cy="2688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688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xlog.c</a:t>
            </a:r>
            <a:endParaRPr lang="zh-CN" altLang="en-US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17121"/>
            <a:ext cx="5181600" cy="4168345"/>
          </a:xfrm>
        </p:spPr>
      </p:pic>
      <p:sp>
        <p:nvSpPr>
          <p:cNvPr id="7" name="内容占位符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CN" dirty="0" err="1" smtClean="0"/>
              <a:t>Wal</a:t>
            </a:r>
            <a:r>
              <a:rPr kumimoji="1" lang="zh-CN" altLang="en-US" dirty="0" smtClean="0"/>
              <a:t>会使用</a:t>
            </a:r>
            <a:r>
              <a:rPr kumimoji="1" lang="en-US" altLang="zh-CN" dirty="0" smtClean="0"/>
              <a:t>DIRECT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IO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6639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实践经验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监控：除了</a:t>
            </a:r>
            <a:r>
              <a:rPr kumimoji="1" lang="en-US" altLang="zh-CN" dirty="0" err="1" smtClean="0"/>
              <a:t>BufferPool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Kernel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是否被充满，同样重要</a:t>
            </a:r>
            <a:endParaRPr kumimoji="1" lang="en-US" altLang="zh-CN" dirty="0" smtClean="0"/>
          </a:p>
          <a:p>
            <a:r>
              <a:rPr kumimoji="1" lang="zh-CN" altLang="en-US" dirty="0" smtClean="0"/>
              <a:t>操作：注意</a:t>
            </a:r>
            <a:r>
              <a:rPr kumimoji="1" lang="en-US" altLang="zh-CN" dirty="0" smtClean="0"/>
              <a:t>Vacuum</a:t>
            </a:r>
            <a:r>
              <a:rPr kumimoji="1" lang="zh-CN" altLang="en-US" dirty="0" smtClean="0"/>
              <a:t>操作时 </a:t>
            </a:r>
            <a:r>
              <a:rPr kumimoji="1" lang="en-US" altLang="zh-CN" dirty="0" smtClean="0"/>
              <a:t>Kernel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是否被刷空。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779470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outline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d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ouble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buffer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in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PostgreSQL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kumimoji="1" lang="en-US" altLang="zh-CN" dirty="0"/>
              <a:t>c</a:t>
            </a:r>
            <a:r>
              <a:rPr kumimoji="1" lang="en-US" altLang="zh-CN" dirty="0" smtClean="0"/>
              <a:t>heckpoint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PostgreSQL</a:t>
            </a:r>
          </a:p>
          <a:p>
            <a:r>
              <a:rPr kumimoji="1" lang="en-US" altLang="zh-CN" dirty="0" err="1">
                <a:solidFill>
                  <a:schemeClr val="bg1">
                    <a:lumMod val="75000"/>
                  </a:schemeClr>
                </a:solidFill>
              </a:rPr>
              <a:t>fsync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in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PostgreSQL</a:t>
            </a:r>
          </a:p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932687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/>
              <a:t>sync_file_range</a:t>
            </a:r>
            <a:endParaRPr kumimoji="1" lang="zh-CN" altLang="en-US" dirty="0"/>
          </a:p>
        </p:txBody>
      </p:sp>
      <p:pic>
        <p:nvPicPr>
          <p:cNvPr id="9" name="内容占位符 8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857247" y="1690688"/>
            <a:ext cx="8477505" cy="442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440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outline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d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ouble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buffer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in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PostgreSQL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</a:rPr>
              <a:t>c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heckpoint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in</a:t>
            </a:r>
            <a:r>
              <a:rPr kumimoji="1" lang="zh-CN" altLang="en-US" dirty="0" smtClea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dirty="0" smtClean="0">
                <a:solidFill>
                  <a:schemeClr val="bg1">
                    <a:lumMod val="75000"/>
                  </a:schemeClr>
                </a:solidFill>
              </a:rPr>
              <a:t>PostgreSQL</a:t>
            </a:r>
          </a:p>
          <a:p>
            <a:r>
              <a:rPr kumimoji="1" lang="en-US" altLang="zh-CN" dirty="0" err="1"/>
              <a:t>fsync</a:t>
            </a:r>
            <a:r>
              <a:rPr kumimoji="1" lang="zh-CN" altLang="en-US" dirty="0"/>
              <a:t> </a:t>
            </a:r>
            <a:r>
              <a:rPr kumimoji="1" lang="en-US" altLang="zh-CN" dirty="0"/>
              <a:t>in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PostgreSQL</a:t>
            </a:r>
          </a:p>
          <a:p>
            <a:endParaRPr kumimoji="1" lang="en-US" altLang="zh-CN" dirty="0" smtClean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5806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块存储介质</a:t>
            </a:r>
            <a:endParaRPr kumimoji="1"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662056" y="1825625"/>
            <a:ext cx="4691743" cy="4351338"/>
          </a:xfrm>
        </p:spPr>
        <p:txBody>
          <a:bodyPr>
            <a:normAutofit/>
          </a:bodyPr>
          <a:lstStyle/>
          <a:p>
            <a:r>
              <a:rPr kumimoji="1" lang="en-US" altLang="zh-CN" b="1" dirty="0"/>
              <a:t>Block</a:t>
            </a:r>
            <a:r>
              <a:rPr kumimoji="1" lang="zh-CN" altLang="en-US" b="1" dirty="0"/>
              <a:t> </a:t>
            </a:r>
            <a:r>
              <a:rPr kumimoji="1" lang="en-US" altLang="zh-CN" b="1" dirty="0" smtClean="0"/>
              <a:t>storage</a:t>
            </a:r>
          </a:p>
          <a:p>
            <a:pPr lvl="1"/>
            <a:r>
              <a:rPr kumimoji="1" lang="en-US" altLang="zh-CN" b="1" dirty="0" smtClean="0"/>
              <a:t>HDD</a:t>
            </a:r>
          </a:p>
          <a:p>
            <a:pPr lvl="1"/>
            <a:r>
              <a:rPr kumimoji="1" lang="en-US" altLang="zh-CN" b="1" dirty="0" smtClean="0"/>
              <a:t>SSD</a:t>
            </a:r>
          </a:p>
          <a:p>
            <a:pPr lvl="1"/>
            <a:r>
              <a:rPr kumimoji="1" lang="en-US" altLang="zh-CN" b="1" dirty="0" err="1" smtClean="0"/>
              <a:t>NVMe</a:t>
            </a:r>
            <a:endParaRPr kumimoji="1" lang="en-US" altLang="zh-CN" b="1" dirty="0" smtClean="0"/>
          </a:p>
          <a:p>
            <a:pPr lvl="1"/>
            <a:r>
              <a:rPr kumimoji="1" lang="en-US" altLang="zh-CN" b="1" dirty="0" smtClean="0"/>
              <a:t>SAN</a:t>
            </a:r>
            <a:endParaRPr kumimoji="1" lang="en-US" altLang="zh-CN" b="1" dirty="0"/>
          </a:p>
          <a:p>
            <a:pPr lvl="1"/>
            <a:r>
              <a:rPr kumimoji="1" lang="en-US" altLang="zh-CN" b="1" dirty="0" smtClean="0"/>
              <a:t>EBS</a:t>
            </a:r>
            <a:endParaRPr kumimoji="1" lang="en-US" altLang="zh-CN" b="1" dirty="0"/>
          </a:p>
          <a:p>
            <a:pPr lvl="1"/>
            <a:r>
              <a:rPr kumimoji="1" lang="en-US" altLang="zh-CN" b="1" dirty="0" smtClean="0"/>
              <a:t>NFS</a:t>
            </a:r>
          </a:p>
          <a:p>
            <a:pPr lvl="1"/>
            <a:endParaRPr kumimoji="1" lang="en-US" altLang="zh-CN" b="1" dirty="0"/>
          </a:p>
          <a:p>
            <a:r>
              <a:rPr kumimoji="1" lang="en-US" altLang="zh-CN" b="1" dirty="0">
                <a:solidFill>
                  <a:schemeClr val="bg1">
                    <a:lumMod val="75000"/>
                  </a:schemeClr>
                </a:solidFill>
              </a:rPr>
              <a:t>File</a:t>
            </a:r>
            <a:r>
              <a:rPr kumimoji="1" lang="zh-CN" altLang="en-US" b="1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b="1" dirty="0" smtClean="0">
                <a:solidFill>
                  <a:schemeClr val="bg1">
                    <a:lumMod val="75000"/>
                  </a:schemeClr>
                </a:solidFill>
              </a:rPr>
              <a:t>storage</a:t>
            </a:r>
            <a:endParaRPr kumimoji="1" lang="en-US" altLang="zh-CN" b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kumimoji="1" lang="en-US" altLang="zh-CN" b="1" dirty="0">
                <a:solidFill>
                  <a:schemeClr val="bg1">
                    <a:lumMod val="75000"/>
                  </a:schemeClr>
                </a:solidFill>
              </a:rPr>
              <a:t>Object</a:t>
            </a:r>
            <a:r>
              <a:rPr kumimoji="1" lang="zh-CN" altLang="en-US" b="1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kumimoji="1" lang="en-US" altLang="zh-CN" b="1" dirty="0">
                <a:solidFill>
                  <a:schemeClr val="bg1">
                    <a:lumMod val="75000"/>
                  </a:schemeClr>
                </a:solidFill>
              </a:rPr>
              <a:t>storage</a:t>
            </a:r>
          </a:p>
          <a:p>
            <a:endParaRPr kumimoji="1" lang="zh-CN" altLang="en-US" dirty="0"/>
          </a:p>
        </p:txBody>
      </p:sp>
      <p:pic>
        <p:nvPicPr>
          <p:cNvPr id="10" name="内容占位符 9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045658"/>
            <a:ext cx="5181600" cy="3911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800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fsync</a:t>
            </a:r>
            <a:endParaRPr kumimoji="1"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kumimoji="1" lang="en-US" altLang="zh-CN" dirty="0" smtClean="0">
                <a:latin typeface="Baoli SC" charset="-122"/>
                <a:ea typeface="Baoli SC" charset="-122"/>
                <a:cs typeface="Baoli SC" charset="-122"/>
              </a:rPr>
              <a:t>PostgreSQL</a:t>
            </a:r>
            <a:r>
              <a:rPr kumimoji="1" lang="zh-CN" altLang="en-US" dirty="0" smtClean="0">
                <a:latin typeface="Baoli SC" charset="-122"/>
                <a:ea typeface="Baoli SC" charset="-122"/>
                <a:cs typeface="Baoli SC" charset="-122"/>
              </a:rPr>
              <a:t>之前对图中的行为假设为</a:t>
            </a:r>
            <a:r>
              <a:rPr kumimoji="1" lang="zh-CN" altLang="en-US" dirty="0" smtClean="0"/>
              <a:t>：</a:t>
            </a:r>
            <a:endParaRPr kumimoji="1" lang="en-US" altLang="zh-CN" dirty="0" smtClean="0"/>
          </a:p>
          <a:p>
            <a:pPr lvl="1"/>
            <a:r>
              <a:rPr lang="en-US" altLang="zh-CN" dirty="0">
                <a:latin typeface="American Typewriter" charset="0"/>
                <a:ea typeface="American Typewriter" charset="0"/>
                <a:cs typeface="American Typewriter" charset="0"/>
              </a:rPr>
              <a:t>"all writes since the last </a:t>
            </a:r>
            <a:r>
              <a:rPr lang="en-US" altLang="zh-CN" u="sng" dirty="0">
                <a:latin typeface="American Typewriter" charset="0"/>
                <a:ea typeface="American Typewriter" charset="0"/>
                <a:cs typeface="American Typewriter" charset="0"/>
              </a:rPr>
              <a:t>SUCCESSFUL</a:t>
            </a:r>
            <a:r>
              <a:rPr lang="en-US" altLang="zh-CN" dirty="0">
                <a:latin typeface="American Typewriter" charset="0"/>
                <a:ea typeface="American Typewriter" charset="0"/>
                <a:cs typeface="American Typewriter" charset="0"/>
              </a:rPr>
              <a:t> </a:t>
            </a:r>
            <a:r>
              <a:rPr lang="en-US" altLang="zh-CN" dirty="0" err="1">
                <a:latin typeface="American Typewriter" charset="0"/>
                <a:ea typeface="American Typewriter" charset="0"/>
                <a:cs typeface="American Typewriter" charset="0"/>
              </a:rPr>
              <a:t>fsync</a:t>
            </a:r>
            <a:r>
              <a:rPr lang="en-US" altLang="zh-CN" dirty="0">
                <a:latin typeface="American Typewriter" charset="0"/>
                <a:ea typeface="American Typewriter" charset="0"/>
                <a:cs typeface="American Typewriter" charset="0"/>
              </a:rPr>
              <a:t> have hit disk</a:t>
            </a:r>
            <a:r>
              <a:rPr lang="en-US" altLang="zh-CN" dirty="0" smtClean="0">
                <a:latin typeface="American Typewriter" charset="0"/>
                <a:ea typeface="American Typewriter" charset="0"/>
                <a:cs typeface="American Typewriter" charset="0"/>
              </a:rPr>
              <a:t>".</a:t>
            </a:r>
          </a:p>
          <a:p>
            <a:r>
              <a:rPr kumimoji="1" lang="zh-CN" altLang="en-US" dirty="0" smtClean="0">
                <a:latin typeface="Baoli SC" charset="-122"/>
                <a:ea typeface="Baoli SC" charset="-122"/>
                <a:cs typeface="Baoli SC" charset="-122"/>
              </a:rPr>
              <a:t>实际上应该理解为：</a:t>
            </a:r>
            <a:endParaRPr kumimoji="1" lang="en-US" altLang="zh-CN" dirty="0" smtClean="0">
              <a:latin typeface="Baoli SC" charset="-122"/>
              <a:ea typeface="Baoli SC" charset="-122"/>
              <a:cs typeface="Baoli SC" charset="-122"/>
            </a:endParaRPr>
          </a:p>
          <a:p>
            <a:pPr lvl="1"/>
            <a:r>
              <a:rPr lang="zh-CN" altLang="en-US" dirty="0">
                <a:latin typeface="American Typewriter" charset="0"/>
                <a:ea typeface="American Typewriter" charset="0"/>
                <a:cs typeface="American Typewriter" charset="0"/>
              </a:rPr>
              <a:t>“</a:t>
            </a:r>
            <a:r>
              <a:rPr lang="en-US" altLang="zh-CN" dirty="0" smtClean="0">
                <a:latin typeface="American Typewriter" charset="0"/>
                <a:ea typeface="American Typewriter" charset="0"/>
                <a:cs typeface="American Typewriter" charset="0"/>
              </a:rPr>
              <a:t>all </a:t>
            </a:r>
            <a:r>
              <a:rPr lang="en-US" altLang="zh-CN" dirty="0">
                <a:latin typeface="American Typewriter" charset="0"/>
                <a:ea typeface="American Typewriter" charset="0"/>
                <a:cs typeface="American Typewriter" charset="0"/>
              </a:rPr>
              <a:t>writes since the last </a:t>
            </a:r>
            <a:r>
              <a:rPr lang="en-US" altLang="zh-CN" dirty="0" smtClean="0">
                <a:latin typeface="American Typewriter" charset="0"/>
                <a:ea typeface="American Typewriter" charset="0"/>
                <a:cs typeface="American Typewriter" charset="0"/>
              </a:rPr>
              <a:t>	</a:t>
            </a:r>
            <a:r>
              <a:rPr lang="en-US" altLang="zh-CN" u="sng" dirty="0" smtClean="0">
                <a:latin typeface="American Typewriter" charset="0"/>
                <a:ea typeface="American Typewriter" charset="0"/>
                <a:cs typeface="American Typewriter" charset="0"/>
              </a:rPr>
              <a:t>			</a:t>
            </a:r>
            <a:r>
              <a:rPr lang="zh-CN" altLang="en-US" dirty="0" smtClean="0">
                <a:latin typeface="American Typewriter" charset="0"/>
                <a:ea typeface="American Typewriter" charset="0"/>
                <a:cs typeface="American Typewriter" charset="0"/>
              </a:rPr>
              <a:t> </a:t>
            </a:r>
            <a:r>
              <a:rPr lang="en-US" altLang="zh-CN" dirty="0" err="1" smtClean="0">
                <a:latin typeface="American Typewriter" charset="0"/>
                <a:ea typeface="American Typewriter" charset="0"/>
                <a:cs typeface="American Typewriter" charset="0"/>
              </a:rPr>
              <a:t>fsync</a:t>
            </a:r>
            <a:r>
              <a:rPr lang="en-US" altLang="zh-CN" dirty="0" smtClean="0">
                <a:latin typeface="American Typewriter" charset="0"/>
                <a:ea typeface="American Typewriter" charset="0"/>
                <a:cs typeface="American Typewriter" charset="0"/>
              </a:rPr>
              <a:t> </a:t>
            </a:r>
            <a:r>
              <a:rPr lang="en-US" altLang="zh-CN" dirty="0">
                <a:latin typeface="American Typewriter" charset="0"/>
                <a:ea typeface="American Typewriter" charset="0"/>
                <a:cs typeface="American Typewriter" charset="0"/>
              </a:rPr>
              <a:t>have hit disk"</a:t>
            </a:r>
            <a:endParaRPr kumimoji="1" lang="zh-CN" altLang="en-US" dirty="0">
              <a:latin typeface="American Typewriter" charset="0"/>
              <a:ea typeface="American Typewriter" charset="0"/>
              <a:cs typeface="American Typewriter" charset="0"/>
            </a:endParaRPr>
          </a:p>
        </p:txBody>
      </p:sp>
      <p:pic>
        <p:nvPicPr>
          <p:cNvPr id="6" name="内容占位符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53663" y="685800"/>
            <a:ext cx="4833437" cy="592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598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之前为啥没问题？</a:t>
            </a:r>
            <a:endParaRPr kumimoji="1"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6589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Links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CN" dirty="0" smtClean="0"/>
              <a:t>Double</a:t>
            </a:r>
            <a:r>
              <a:rPr lang="zh-CN" altLang="en-US" dirty="0" smtClean="0"/>
              <a:t> </a:t>
            </a:r>
            <a:r>
              <a:rPr lang="en-US" altLang="zh-CN" dirty="0" smtClean="0"/>
              <a:t>Buffer</a:t>
            </a:r>
          </a:p>
          <a:p>
            <a:pPr lvl="1"/>
            <a:r>
              <a:rPr lang="en-US" altLang="zh-CN" dirty="0" smtClean="0">
                <a:hlinkClick r:id="rId3"/>
              </a:rPr>
              <a:t>http://liuyangming.tech/10-2019/INNODB-vs-PgSQL-buffer.html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4"/>
              </a:rPr>
              <a:t>https://lwn.net/Articles/457667</a:t>
            </a:r>
            <a:r>
              <a:rPr lang="en-US" altLang="zh-CN" dirty="0" smtClean="0">
                <a:hlinkClick r:id="rId4"/>
              </a:rPr>
              <a:t>/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5"/>
              </a:rPr>
              <a:t>https://www.postgresql-archive.org/a-question-about-Direct-I-O-and-double-buffering-td2062191.html</a:t>
            </a:r>
            <a:endParaRPr lang="en-US" altLang="zh-CN" dirty="0" smtClean="0"/>
          </a:p>
          <a:p>
            <a:r>
              <a:rPr lang="en-US" altLang="zh-CN" dirty="0" smtClean="0"/>
              <a:t>Checkpoint</a:t>
            </a:r>
          </a:p>
          <a:p>
            <a:pPr lvl="1"/>
            <a:r>
              <a:rPr lang="en-US" altLang="zh-CN" dirty="0">
                <a:hlinkClick r:id="rId6"/>
              </a:rPr>
              <a:t>https://</a:t>
            </a:r>
            <a:r>
              <a:rPr lang="en-US" altLang="zh-CN" dirty="0" smtClean="0">
                <a:hlinkClick r:id="rId6"/>
              </a:rPr>
              <a:t>billtian.github.io/digoal.blog/2016/09/28/01.html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7"/>
              </a:rPr>
              <a:t>http://</a:t>
            </a:r>
            <a:r>
              <a:rPr lang="en-US" altLang="zh-CN" dirty="0" smtClean="0">
                <a:hlinkClick r:id="rId7"/>
              </a:rPr>
              <a:t>yoshinorimatsunobu.blogspot.com/2014/03/how-syncfilerange-really-works.html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8"/>
              </a:rPr>
              <a:t>https://git.postgresql.org/gitweb/?</a:t>
            </a:r>
            <a:r>
              <a:rPr lang="en-US" altLang="zh-CN" dirty="0" smtClean="0">
                <a:hlinkClick r:id="rId8"/>
              </a:rPr>
              <a:t>p=postgresql.git;a=commit;h=428b1d6b29ca599c5700d4bc4f4ce4c5880369bf</a:t>
            </a:r>
            <a:endParaRPr lang="en-US" altLang="zh-CN" dirty="0" smtClean="0"/>
          </a:p>
          <a:p>
            <a:pPr lvl="1"/>
            <a:r>
              <a:rPr lang="en-US" altLang="zh-CN" u="sng" dirty="0">
                <a:hlinkClick r:id="rId9"/>
              </a:rPr>
              <a:t>https://git.postgresql.org/gitweb</a:t>
            </a:r>
            <a:r>
              <a:rPr lang="en-US" altLang="zh-CN" u="sng" dirty="0" smtClean="0">
                <a:hlinkClick r:id="rId9"/>
              </a:rPr>
              <a:t>/?p=postgresql.git;a=commitdiff;h=9cd00c457e6a1ebb984167ac556a9961812a683c</a:t>
            </a:r>
            <a:endParaRPr lang="en-US" altLang="zh-CN" u="sng" dirty="0" smtClean="0"/>
          </a:p>
          <a:p>
            <a:pPr lvl="1"/>
            <a:r>
              <a:rPr lang="en-US" altLang="zh-CN" dirty="0">
                <a:hlinkClick r:id="rId7"/>
              </a:rPr>
              <a:t>http://yoshinorimatsunobu.blogspot.com/2014/03/how-syncfilerange-really-works.html</a:t>
            </a:r>
            <a:endParaRPr lang="en-US" altLang="zh-CN" u="sng" dirty="0" smtClean="0"/>
          </a:p>
          <a:p>
            <a:pPr lvl="1"/>
            <a:r>
              <a:rPr lang="en-US" altLang="zh-CN" u="sng" dirty="0">
                <a:hlinkClick r:id="rId10"/>
              </a:rPr>
              <a:t>https://</a:t>
            </a:r>
            <a:r>
              <a:rPr lang="en-US" altLang="zh-CN" u="sng" dirty="0" smtClean="0">
                <a:hlinkClick r:id="rId10"/>
              </a:rPr>
              <a:t>www.postgresql.org/docs/10/runtime-config-error-handling.html#GUC-DATA-SYNC-RETRY</a:t>
            </a:r>
            <a:endParaRPr lang="en-US" altLang="zh-CN" u="sng" dirty="0" smtClean="0"/>
          </a:p>
          <a:p>
            <a:pPr lvl="1"/>
            <a:r>
              <a:rPr lang="en-US" altLang="zh-CN" dirty="0">
                <a:hlinkClick r:id="rId11"/>
              </a:rPr>
              <a:t>https://news.ycombinator.com/item?id=11512653</a:t>
            </a:r>
            <a:endParaRPr lang="en-US" altLang="zh-CN" dirty="0" smtClean="0"/>
          </a:p>
          <a:p>
            <a:r>
              <a:rPr lang="en-US" altLang="zh-CN" dirty="0" err="1" smtClean="0"/>
              <a:t>Fsync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12"/>
              </a:rPr>
              <a:t>https://www.postgresql.org/message-id/flat/CAMsr%2BYHh%2B5Oq4xziwwoEfhoTZgr07vdGG%2Bhu%3D1adXx59aTeaoQ%40mail.gmail.com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13"/>
              </a:rPr>
              <a:t>https://lwn.net/Articles/752063</a:t>
            </a:r>
            <a:r>
              <a:rPr lang="en-US" altLang="zh-CN" dirty="0" smtClean="0">
                <a:hlinkClick r:id="rId13"/>
              </a:rPr>
              <a:t>/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14"/>
              </a:rPr>
              <a:t>https://wiki.postgresql.org/wiki/Fsync_Errors</a:t>
            </a:r>
            <a:endParaRPr lang="en-US" altLang="zh-CN" dirty="0" smtClean="0"/>
          </a:p>
          <a:p>
            <a:pPr lvl="1"/>
            <a:r>
              <a:rPr lang="en-US" altLang="zh-CN" dirty="0">
                <a:hlinkClick r:id="rId15"/>
              </a:rPr>
              <a:t>https://www.redhat.com/en/topics/data-storage/file-block-object-storage#:~:text=File%20storage%20organizes%20and%20represents,links%20it%20to%20associated%20metadata.</a:t>
            </a:r>
            <a:endParaRPr lang="en-US" altLang="zh-CN" dirty="0" smtClean="0"/>
          </a:p>
          <a:p>
            <a:pPr lvl="1"/>
            <a:r>
              <a:rPr lang="en-US" altLang="zh-CN" dirty="0" smtClean="0">
                <a:hlinkClick r:id="rId16"/>
              </a:rPr>
              <a:t>https://</a:t>
            </a:r>
            <a:r>
              <a:rPr lang="en-US" altLang="zh-CN" dirty="0">
                <a:hlinkClick r:id="rId16"/>
              </a:rPr>
              <a:t>www.percona.com/blog/2019/02/22/postgresql-fsync-failure-fixed-minor-versions-released-feb-14-2019</a:t>
            </a:r>
            <a:r>
              <a:rPr lang="en-US" altLang="zh-CN" dirty="0" smtClean="0">
                <a:hlinkClick r:id="rId16"/>
              </a:rPr>
              <a:t>/</a:t>
            </a:r>
            <a:endParaRPr lang="en-US" altLang="zh-CN" dirty="0" smtClean="0"/>
          </a:p>
          <a:p>
            <a:pPr lvl="1"/>
            <a:r>
              <a:rPr lang="en-US" altLang="zh-CN" u="sng" dirty="0">
                <a:hlinkClick r:id="rId17"/>
              </a:rPr>
              <a:t>https://fosdem.org/2019/schedule/event/postgresql_fsync</a:t>
            </a:r>
            <a:r>
              <a:rPr lang="en-US" altLang="zh-CN" u="sng" dirty="0" smtClean="0">
                <a:hlinkClick r:id="rId17"/>
              </a:rPr>
              <a:t>/</a:t>
            </a:r>
            <a:endParaRPr lang="en-US" altLang="zh-CN" u="sng" dirty="0" smtClean="0"/>
          </a:p>
          <a:p>
            <a:pPr lvl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28422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内容占位符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9485" y="858513"/>
            <a:ext cx="4252686" cy="509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735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1886</TotalTime>
  <Words>340</Words>
  <Application>Microsoft Macintosh PowerPoint</Application>
  <PresentationFormat>宽屏</PresentationFormat>
  <Paragraphs>79</Paragraphs>
  <Slides>18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American Typewriter</vt:lpstr>
      <vt:lpstr>Baoli SC</vt:lpstr>
      <vt:lpstr>DengXian</vt:lpstr>
      <vt:lpstr>DengXian Light</vt:lpstr>
      <vt:lpstr>Arial</vt:lpstr>
      <vt:lpstr>Office 主题</vt:lpstr>
      <vt:lpstr>再谈shared_buffer</vt:lpstr>
      <vt:lpstr>outline</vt:lpstr>
      <vt:lpstr>Buffer pool</vt:lpstr>
      <vt:lpstr>Why PostgreSQL 25% ? MySQL/InnoDB 80%?</vt:lpstr>
      <vt:lpstr>Linux File I/O</vt:lpstr>
      <vt:lpstr>bufferpool</vt:lpstr>
      <vt:lpstr>PostgreSQL为什么这么设计？ </vt:lpstr>
      <vt:lpstr>个人见解</vt:lpstr>
      <vt:lpstr>xlog.c</vt:lpstr>
      <vt:lpstr>实践经验</vt:lpstr>
      <vt:lpstr>outline</vt:lpstr>
      <vt:lpstr>sync_file_range</vt:lpstr>
      <vt:lpstr>outline</vt:lpstr>
      <vt:lpstr>块存储介质</vt:lpstr>
      <vt:lpstr>fsync</vt:lpstr>
      <vt:lpstr>之前为啥没问题？</vt:lpstr>
      <vt:lpstr>Links</vt:lpstr>
      <vt:lpstr>PowerPoint 演示文稿</vt:lpstr>
    </vt:vector>
  </TitlesOfParts>
  <Company/>
  <LinksUpToDate>false</LinksUpToDate>
  <SharedDoc>false</SharedDoc>
  <HyperlinksChanged>false</HyperlinksChanged>
  <AppVersion>15.0027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Pg缓冲池全解</dc:title>
  <dc:creator>Microsoft Office 用户</dc:creator>
  <cp:lastModifiedBy>Microsoft Office 用户</cp:lastModifiedBy>
  <cp:revision>96</cp:revision>
  <dcterms:created xsi:type="dcterms:W3CDTF">2019-11-03T01:21:27Z</dcterms:created>
  <dcterms:modified xsi:type="dcterms:W3CDTF">2019-11-08T12:32:06Z</dcterms:modified>
</cp:coreProperties>
</file>